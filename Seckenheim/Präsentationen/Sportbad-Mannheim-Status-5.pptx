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KjGZLCvVhObK3o+29d0d6fztB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Wasser &amp; Energie</c:v>
                  </c:pt>
                  <c:pt idx="1">
                    <c:v>Personal</c:v>
                  </c:pt>
                  <c:pt idx="2">
                    <c:v>Betriebskosten &amp; Wartung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134012</c:v>
                </c:pt>
                <c:pt idx="1">
                  <c:v>77214</c:v>
                </c:pt>
                <c:pt idx="2">
                  <c:v>23869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517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5173"/>
                </a:solidFill>
                <a:latin typeface="Arial"/>
              </a:rPr>
              <a:t>Bahnenstunden pro Woche (Ziel ~560)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Bahnenstunden/Woche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Aktuell zugesagt</c:v>
                  </c:pt>
                  <c:pt idx="1">
                    <c:v>Noch offen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</c:v>
                </c:pt>
                <c:pt idx="1">
                  <c:v>408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">
  <p:cSld name="M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5173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241280" y="3017520"/>
            <a:ext cx="4023360" cy="4023360"/>
          </a:xfrm>
          <a:prstGeom prst="ellipse">
            <a:avLst/>
          </a:prstGeom>
          <a:solidFill>
            <a:srgbClr val="0C6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2011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DD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ADD0"/>
                </a:solidFill>
                <a:latin typeface="Calibri"/>
                <a:ea typeface="Calibri"/>
                <a:cs typeface="Calibri"/>
                <a:sym typeface="Calibri"/>
              </a:rPr>
              <a:t>SPORTBAD MANNHEIM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2514600"/>
            <a:ext cx="8778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Übernahme &amp; Betrieb des Hallenbads Seckenheim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658368" y="3703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FE6EF"/>
                </a:solidFill>
                <a:latin typeface="Calibri"/>
                <a:ea typeface="Calibri"/>
                <a:cs typeface="Calibri"/>
                <a:sym typeface="Calibri"/>
              </a:rPr>
              <a:t>Statusüberblick – Kernteam-Sitzung am 28.09.2026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58368" y="6126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3D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C3D2"/>
                </a:solidFill>
                <a:latin typeface="Calibri"/>
                <a:ea typeface="Calibri"/>
                <a:cs typeface="Calibri"/>
                <a:sym typeface="Calibri"/>
              </a:rPr>
              <a:t>Arbeitsstand · nicht beschlossen · Zahlen tlw. Schätzungen (gekennzeichnet)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Das Vorhaben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Bürgerinitiative übernimmt das Bad als gemeinnütziger Verein – kostenneutral, ohne städtische Subvention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600200"/>
            <a:ext cx="3291840" cy="1371600"/>
          </a:xfrm>
          <a:prstGeom prst="roundRect">
            <a:avLst>
              <a:gd fmla="val 5333" name="adj"/>
            </a:avLst>
          </a:prstGeom>
          <a:solidFill>
            <a:srgbClr val="EAF3F7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548640" y="1783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5 Bahnen / 25 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48640" y="2468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+ 3-m-Sprungturm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453128" y="1600200"/>
            <a:ext cx="3291840" cy="1371600"/>
          </a:xfrm>
          <a:prstGeom prst="roundRect">
            <a:avLst>
              <a:gd fmla="val 5333" name="adj"/>
            </a:avLst>
          </a:prstGeom>
          <a:solidFill>
            <a:srgbClr val="EAF3F7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4453128" y="1783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~50.000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4453128" y="2468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Besuche pro Jahr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357616" y="1600200"/>
            <a:ext cx="3291840" cy="1371600"/>
          </a:xfrm>
          <a:prstGeom prst="roundRect">
            <a:avLst>
              <a:gd fmla="val 5333" name="adj"/>
            </a:avLst>
          </a:prstGeom>
          <a:solidFill>
            <a:srgbClr val="EAF3F7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8357616" y="1783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01.02.2027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8357616" y="2468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geplante Inbetriebnahme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Ausgangslage: </a:t>
            </a:r>
            <a:r>
              <a:rPr b="0" i="0" lang="en-US" sz="14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Die Stadt hat den Badbetrieb zum 31.07. eingestellt. Die Initiative übernimmt das Bad und betreibt es weiter – als eingetragener, gemeinnütziger Verein.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40080" y="406908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Übernahme zum 01.01.2027, Inbetriebnahme Anfang Februar 2027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Betrieb auf rund 5–7 Jahre angelegt (danach Mensa-Perspektive der Stadt) – daher keine große Sanierung, sondern günstige Instandhaltung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Betrieb ohne Dauersubvention – getragen von Vereinen, Kursen, Mitgliedern und Förderung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Bindung nur bei gesicherter Vorfinanzierung des ersten Jahres (Kernbedingung)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Wo wir stehen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Ampel über die Arbeitsstränge – Stand heute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48640" y="1554480"/>
            <a:ext cx="11091672" cy="713232"/>
          </a:xfrm>
          <a:prstGeom prst="roundRect">
            <a:avLst>
              <a:gd fmla="val 1025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68680" y="1837944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1188720" y="1636776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Bausubstanz &amp; Technik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4480560" y="1636776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Begehungen positiv – Worst-Cases entschärft; Maßnahmen definiert; Deckengutachten sowie Begehung der Stadt Mannheim wg Brandschutz steht aus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2395728"/>
            <a:ext cx="11091672" cy="713232"/>
          </a:xfrm>
          <a:prstGeom prst="roundRect">
            <a:avLst>
              <a:gd fmla="val 1025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68680" y="2679192"/>
            <a:ext cx="146304" cy="14630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 txBox="1"/>
          <p:nvPr/>
        </p:nvSpPr>
        <p:spPr>
          <a:xfrm>
            <a:off x="1188720" y="2478024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Rechtsform &amp; Satzung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4480560" y="2478024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Entwurf steht (v5); anwaltliche Endfassung ausstehend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3236976"/>
            <a:ext cx="11091672" cy="713232"/>
          </a:xfrm>
          <a:prstGeom prst="roundRect">
            <a:avLst>
              <a:gd fmla="val 1025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68680" y="3520440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 txBox="1"/>
          <p:nvPr/>
        </p:nvSpPr>
        <p:spPr>
          <a:xfrm>
            <a:off x="1188720" y="331927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Versicherung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4480560" y="3319272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Kern (Betrieb, Mitglieder, Trainer) über B</a:t>
            </a:r>
            <a:r>
              <a:rPr lang="en-US" sz="12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ad Sportbund</a:t>
            </a: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abzudecken</a:t>
            </a: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; Anfrage wurde heute gestellt und ist in Prüfung; Kurse via Zusatz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4078224"/>
            <a:ext cx="11091672" cy="713232"/>
          </a:xfrm>
          <a:prstGeom prst="roundRect">
            <a:avLst>
              <a:gd fmla="val 1025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68680" y="4361688"/>
            <a:ext cx="146304" cy="146304"/>
          </a:xfrm>
          <a:prstGeom prst="ellipse">
            <a:avLst/>
          </a:prstGeom>
          <a:solidFill>
            <a:srgbClr val="B453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 txBox="1"/>
          <p:nvPr/>
        </p:nvSpPr>
        <p:spPr>
          <a:xfrm>
            <a:off x="1188720" y="41605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Finanzen &amp; Belegung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4480560" y="416052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Vorfinanzierung Jahr 1 und Belegung sind die offenen Kernpunkte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4919472"/>
            <a:ext cx="11091672" cy="713232"/>
          </a:xfrm>
          <a:prstGeom prst="roundRect">
            <a:avLst>
              <a:gd fmla="val 1025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68680" y="5202936"/>
            <a:ext cx="146304" cy="14630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1188720" y="5001768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Organisation &amp; Team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4480560" y="5001768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Verteilung der Aufgaben (Vorstand / Ressorts) stehen im Mittelpunk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5760720"/>
            <a:ext cx="11091672" cy="713232"/>
          </a:xfrm>
          <a:prstGeom prst="roundRect">
            <a:avLst>
              <a:gd fmla="val 1025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68680" y="6044184"/>
            <a:ext cx="146304" cy="14630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1188720" y="5843016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Betrieb &amp; Personal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480560" y="5843016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Modell klar (DLRG-Aufsicht, wo benötigt; Vereine/ Schulen  in Eigenaufsicht; keine Meisterpflicht); </a:t>
            </a:r>
            <a:r>
              <a:rPr lang="en-US" sz="12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Badexperte Patrick Berndt als “Telefonjoker”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Gebäude &amp; Substanz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Drei Fach-Begehungen – die pessimistischen Sorgen sind weitgehend entkräftet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Statik (Späh)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777240" y="233172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Substanz für ein 70er-Gebäude hervorragend; Weiterbetrieb + Sanierung lohnen. Kritischste Punkte Sprungturm &amp; Abhangdecke – handhabbar.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77240" y="4526280"/>
            <a:ext cx="3063240" cy="310896"/>
          </a:xfrm>
          <a:prstGeom prst="roundRect">
            <a:avLst>
              <a:gd fmla="val 50000" name="adj"/>
            </a:avLst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777240" y="45445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Gutachten pro bono, nur Gerüstkosten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261104" y="1554480"/>
            <a:ext cx="3520440" cy="356616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4489704" y="1783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Bädertechnik (Berndt)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489704" y="233172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Bad mehrere Jahre betreibbar, Becken „top“/dicht. Chlor-Messanlage ersetzen; </a:t>
            </a:r>
            <a:r>
              <a:rPr lang="en-US" sz="12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Gspräch mit Gesundheitsamt ergab keine weiteren Auflagen, auch nicht für Warmwasser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489704" y="4526280"/>
            <a:ext cx="3063240" cy="310896"/>
          </a:xfrm>
          <a:prstGeom prst="roundRect">
            <a:avLst>
              <a:gd fmla="val 50000" name="adj"/>
            </a:avLst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4489704" y="45445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begleitet weiter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973568" y="1554480"/>
            <a:ext cx="3520440" cy="356616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8202168" y="1783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Dach &amp; Duschen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8202168" y="233172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Flachdach: kein „Absaufen“, hoher Bereich abdichten. Duschen: nur Köpfe/Knöpfe tauschen.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202168" y="4526280"/>
            <a:ext cx="3063240" cy="310896"/>
          </a:xfrm>
          <a:prstGeom prst="roundRect">
            <a:avLst>
              <a:gd fmla="val 50000" name="adj"/>
            </a:avLst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8202168" y="45445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Dach ~14.000 € · Duschen ~5.000 €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Kernbotschaft: Die größten baulichen Risiken sind durch die Begehungen entschärft – die Hauptrisiken liegen jetzt bei Finanzen und Organisation.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Was der Start kostet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Überschaubar – die geplanten Maßnahmen bleiben im Rahmen der Vorfinanzierung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1572768"/>
            <a:ext cx="6400800" cy="512064"/>
          </a:xfrm>
          <a:prstGeom prst="roundRect">
            <a:avLst>
              <a:gd fmla="val 1428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777240" y="1618488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Deckengutachten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4937760" y="1618488"/>
            <a:ext cx="1783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 bono (0 €)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2176272"/>
            <a:ext cx="6400800" cy="512064"/>
          </a:xfrm>
          <a:prstGeom prst="roundRect">
            <a:avLst>
              <a:gd fmla="val 1428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777240" y="222199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Gerüst (für Gutachten)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4937760" y="2221992"/>
            <a:ext cx="1783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&lt; 1.500 €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" y="2779776"/>
            <a:ext cx="6400800" cy="512064"/>
          </a:xfrm>
          <a:prstGeom prst="roundRect">
            <a:avLst>
              <a:gd fmla="val 1428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777240" y="2825496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Duschen (Köpfe/Knöpfe)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4937760" y="2825496"/>
            <a:ext cx="1783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 5.000 €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3383280"/>
            <a:ext cx="6400800" cy="512064"/>
          </a:xfrm>
          <a:prstGeom prst="roundRect">
            <a:avLst>
              <a:gd fmla="val 1428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777240" y="3429000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Dach, hoher Bereich abdichten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4937760" y="3429000"/>
            <a:ext cx="1783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 </a:t>
            </a: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.000 €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48640" y="3986131"/>
            <a:ext cx="6400800" cy="512100"/>
          </a:xfrm>
          <a:prstGeom prst="roundRect">
            <a:avLst>
              <a:gd fmla="val 14286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777240" y="4031851"/>
            <a:ext cx="4206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Chlorgas-Warnanlage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4937760" y="4031851"/>
            <a:ext cx="1783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 5.000 €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548640" y="53949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Kurzfristige Reparaturen zusammen: Richtwert ~ 3</a:t>
            </a:r>
            <a:r>
              <a:rPr i="1" lang="en-US" sz="120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0.000</a:t>
            </a:r>
            <a:r>
              <a:rPr b="0" i="1" lang="en-US" sz="12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223760" y="1572768"/>
            <a:ext cx="4416552" cy="1600200"/>
          </a:xfrm>
          <a:prstGeom prst="roundRect">
            <a:avLst>
              <a:gd fmla="val 4571" name="adj"/>
            </a:avLst>
          </a:prstGeom>
          <a:solidFill>
            <a:srgbClr val="EAF3F7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7452360" y="175564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Vorfinanzierung 1. Jahr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7452360" y="2121408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~ 50.000 €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7452360" y="2816352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Richtwert – deckt Reparaturen &amp; Gründung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7406640" y="3429000"/>
            <a:ext cx="4206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Die geplanten Maßnahmen bleiben in diesem Rahmen – kein grobes Überschießen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Vereinsgründung kostet wenig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Versicherung über den </a:t>
            </a:r>
            <a:r>
              <a:rPr lang="en-US" sz="12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Bad. SB </a:t>
            </a: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überschaubar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Keine große energetische Sanierung (Betrieb ~5–7 Jahre)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Betriebskosten senken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Kleine, betriebsnahe Maßnahmen mit kurzer Amortisation – keine große Sanierung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1645920"/>
            <a:ext cx="54406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77240" y="2029968"/>
            <a:ext cx="457200" cy="457200"/>
          </a:xfrm>
          <a:prstGeom prst="ellipse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777240" y="206654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444752" y="18288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Wärmetauscher-Optimierung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444752" y="22677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Effizientere Wärmeübertragung – überschaubare Investition (in Gespräch)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181344" y="1645920"/>
            <a:ext cx="54406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409944" y="2029968"/>
            <a:ext cx="457200" cy="457200"/>
          </a:xfrm>
          <a:prstGeom prst="ellipse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6409944" y="206654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7077456" y="18288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Entfeuchtung / Truhengeräte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7077456" y="22677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Weniger Lüften, mehr Luft-Recycling → weniger Wärmeverlust (Angebot erwartet)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3063240"/>
            <a:ext cx="54406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77240" y="3447288"/>
            <a:ext cx="457200" cy="457200"/>
          </a:xfrm>
          <a:prstGeom prst="ellipse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777240" y="34838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444752" y="324612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Frequenzgeregelte Umwälzpumpen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1444752" y="368503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Stromverbrauch senken – Förderung bis 40 % möglich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181344" y="3063240"/>
            <a:ext cx="54406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409944" y="3447288"/>
            <a:ext cx="457200" cy="457200"/>
          </a:xfrm>
          <a:prstGeom prst="ellipse">
            <a:avLst/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6409944" y="34838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7077456" y="324612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Betriebsführung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077456" y="368503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Temperatur-/Laufzeit-Feintuning, Beckenabdeckung außerhalb der Nutzung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Ziel: die laufenden Energiekosten drücken, nicht die Anlage neu bauen. Investitionen nur, wenn sie sich innerhalb der Betriebsjahre rechnen.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Betriebskosten – belegte Ist-Kosten 2025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Aus der Kostenstellenrechnung (Stadt / SVM) – die belastbare Grundlage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7"/>
          <p:cNvGraphicFramePr/>
          <p:nvPr/>
        </p:nvGraphicFramePr>
        <p:xfrm>
          <a:off x="457200" y="1691640"/>
          <a:ext cx="5760720" cy="3017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9" name="Google Shape;159;p7"/>
          <p:cNvSpPr txBox="1"/>
          <p:nvPr/>
        </p:nvSpPr>
        <p:spPr>
          <a:xfrm>
            <a:off x="548640" y="477316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Betriebskosten gesamt (belegt 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548640" y="501091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235.096 €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548640" y="5559552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konservativ (Wartung auf Mehrjahresmittel): ~ 243.000 €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00800" y="1645920"/>
            <a:ext cx="5239512" cy="4023360"/>
          </a:xfrm>
          <a:prstGeom prst="roundRect">
            <a:avLst>
              <a:gd fmla="val 1818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6629400" y="181051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Zusammensetzung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6629400" y="2331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Energie (Gas + Strom)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9692640" y="23317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107.040 €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629400" y="27889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Wasser, Abwasser, Müll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9692640" y="27889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26.972 €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6629400" y="3246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Personal (inkl. Sozial, LSt)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9692640" y="32461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77.214 €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6629400" y="37033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Reparatur &amp; Wartung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9692640" y="37033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9.850 €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629400" y="41605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Analytik, Aufbereitung, Hygiene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9692640" y="41605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10.338 €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629400" y="4617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Versicherung, Verwaltung, Sonst.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9692640" y="46177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3.683 €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7"/>
          <p:cNvCxnSpPr/>
          <p:nvPr/>
        </p:nvCxnSpPr>
        <p:spPr>
          <a:xfrm>
            <a:off x="6629400" y="5074920"/>
            <a:ext cx="4800600" cy="0"/>
          </a:xfrm>
          <a:prstGeom prst="straightConnector1">
            <a:avLst/>
          </a:prstGeom>
          <a:noFill/>
          <a:ln cap="flat" cmpd="sng" w="12700">
            <a:solidFill>
              <a:srgbClr val="C3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7"/>
          <p:cNvSpPr txBox="1"/>
          <p:nvPr/>
        </p:nvSpPr>
        <p:spPr>
          <a:xfrm>
            <a:off x="6629400" y="51937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Gesamt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9692640" y="519379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235.096 €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Kostendeckung ohne Zuschuss 2025: 41 % – die Tarife waren durch die Subventionsauflagen künstlich gedeckelt. Ein subventionsfreier Verein darf kostendeckend kalkulieren – das ist der Kern des Modells.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Mittelbedarf &amp; Einnahmen (1. Jahr)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Was wir brauchen – und was auf Basis der Zusagen reinkommt (Schätzung, gerundet)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8640" y="1554480"/>
            <a:ext cx="5513832" cy="4023360"/>
          </a:xfrm>
          <a:prstGeom prst="roundRect">
            <a:avLst>
              <a:gd fmla="val 1818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Was wir brauchen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777240" y="2331720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Betriebskosten (belegt 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4187952" y="2331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235.096 €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777240" y="269748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Wasser &amp; Energie 134.012 € · Personal 77.214 € · Betrieb/Wartung 23.869 €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777240" y="3291840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Pacht (Verhandlung)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4187952" y="32918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 10.000 €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777240" y="3794760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Investitionsrücklage (Ziel)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4187952" y="37947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 50.000 €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777240" y="4343400"/>
            <a:ext cx="5056632" cy="0"/>
          </a:xfrm>
          <a:prstGeom prst="straightConnector1">
            <a:avLst/>
          </a:prstGeom>
          <a:noFill/>
          <a:ln cap="flat" cmpd="sng" w="12700">
            <a:solidFill>
              <a:srgbClr val="C3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8"/>
          <p:cNvSpPr txBox="1"/>
          <p:nvPr/>
        </p:nvSpPr>
        <p:spPr>
          <a:xfrm>
            <a:off x="777240" y="4480560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Gesamtbedarf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4187952" y="44805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~ 295.000 €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777240" y="50749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Laufender Bedarf ohne Rücklage: ~ 245.000 €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126480" y="1554480"/>
            <a:ext cx="5513832" cy="4023360"/>
          </a:xfrm>
          <a:prstGeom prst="roundRect">
            <a:avLst>
              <a:gd fmla="val 1818" name="adj"/>
            </a:avLst>
          </a:prstGeom>
          <a:solidFill>
            <a:srgbClr val="EAF3F7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Was reinkommt (erwartet)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6355080" y="2331720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Bahnenzeiten  152 h × 44 Wo × 28 €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9765792" y="2331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 187.000 €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6355080" y="26974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auf Basis der aktuell zugesagten 152 Bahnenstunden/Woche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6355080" y="3291840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Stadt / Schulen (ab Jahresende)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9765792" y="32918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+ 17.000 €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>
            <a:off x="6355080" y="3840480"/>
            <a:ext cx="5056632" cy="0"/>
          </a:xfrm>
          <a:prstGeom prst="straightConnector1">
            <a:avLst/>
          </a:prstGeom>
          <a:noFill/>
          <a:ln cap="flat" cmpd="sng" w="12700">
            <a:solidFill>
              <a:srgbClr val="C3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8"/>
          <p:cNvSpPr txBox="1"/>
          <p:nvPr/>
        </p:nvSpPr>
        <p:spPr>
          <a:xfrm>
            <a:off x="6355080" y="3977640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Summe erwartet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9765792" y="3977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~ 204.000 €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6355080" y="452628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Lücke: </a:t>
            </a: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~40.000 € zum laufenden Bedarf (mehr inkl. Rücklage) – über weitere Belegung, Kurse, Mitglieder &amp; Förderung zu schließen.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Kostenbasis: belegte Ist-Kosten 2025. Konservativ gerechnet (~243.000 € Betriebskosten): Gesamtbedarf ~303.000 €, laufende Lücke ~50.000 €. Schulstunden nicht doppelt zählen.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Belegung &amp; Einnahmen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Core + Upside – bottom-up nach Nutzergruppen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9"/>
          <p:cNvGraphicFramePr/>
          <p:nvPr/>
        </p:nvGraphicFramePr>
        <p:xfrm>
          <a:off x="548640" y="1600200"/>
          <a:ext cx="5577840" cy="35661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20" name="Google Shape;220;p9"/>
          <p:cNvSpPr txBox="1"/>
          <p:nvPr/>
        </p:nvSpPr>
        <p:spPr>
          <a:xfrm>
            <a:off x="6400800" y="1691640"/>
            <a:ext cx="5212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~152 von ~560 Bahnenstunden/Woche zugesagt (≈ 187.000 €/Jahr bei 28 €)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Benötigt werden ~300.000 € – Lücke über Schulen, Kurse, Privatschulen &amp; Mitglieder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Kommunizierter Preis 28 €/Bahnenstunde (Tendenz Richtung 30 €)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400800" y="3794760"/>
            <a:ext cx="5239512" cy="1371600"/>
          </a:xfrm>
          <a:prstGeom prst="roundRect">
            <a:avLst>
              <a:gd fmla="val 5333" name="adj"/>
            </a:avLst>
          </a:prstGeom>
          <a:solidFill>
            <a:srgbClr val="EAF3F7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6629400" y="395020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Neu: Schulen (FB Bildung)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6629400" y="4315968"/>
            <a:ext cx="4800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Ab Schuljahr 2027/28: 17.000 €/Jahr für 5 Bahnenstunden/Woche (morgens), wenn Commitment bis 31.12.2026. Nebenzeit – guter Upside-Beitrag.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Rechtsform &amp; Satzung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Gemeinnütziger eingetragener Verein – Entwurf gemeinsam erarbeitet (v5)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155448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Zwei Mitgliederklassen + Kurzzeit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777240" y="20299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Ordentliche (stimmberechtigt) und Fördermitglieder; Kurzzeitmitgliedschaft für Kurse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181344" y="155448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6409944" y="16642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Kinderschutz verankert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6409944" y="20299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Führungszeugnis (§ 72a SGB VIII), Schutzkonzept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48640" y="265176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777240" y="276148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Beitrag inflationssicher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777240" y="312724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Jährliche Anpassung an den Verbraucherpreisindex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181344" y="265176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6409944" y="276148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Haftung begrenzt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6409944" y="312724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§ 31a/31b BGB (3.300 €) + Freistellung Ehrenamtlicher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48640" y="37490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777240" y="385876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Vermögensbindung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777240" y="422452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Stadt Mannheim als Anfallberechtigte (nach Mannheimer Vorbild)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181344" y="37490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6409944" y="385876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Nur natürliche Personen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6409944" y="422452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Keine Mitbestimmung anderer Vereine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Status: Entwurf steht und ist inhaltlich rund. Anwaltliche Endfassung (Pflichtklauseln §§ 2/3/17 wörtlich, Platzhalter) steht noch aus – Anwalt hat sich zuletzt nicht gemeldet.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Versicherung (BSB / ARAG)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Sammelvertrag über den Badischen Sportbund – Umfang und Lücken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48640" y="1554480"/>
            <a:ext cx="5486400" cy="36576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109728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E8B57"/>
                </a:solidFill>
                <a:latin typeface="Cambria"/>
                <a:ea typeface="Cambria"/>
                <a:cs typeface="Cambria"/>
                <a:sym typeface="Cambria"/>
              </a:rPr>
              <a:t>Gedeckt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914400" y="224028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Betrieb der Schwimmanlage inkl. Verkehrssicherung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Haftpflicht 10 Mio € pauschal je Ereignis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Ordentliche und Fördermitglieder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Übungsleiter/Trainer – auch als Nichtmitglied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✓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Beauftragte Helfer und Beschäftigte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172200" y="1554480"/>
            <a:ext cx="5468112" cy="36576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E4C9C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6446520" y="1828800"/>
            <a:ext cx="146304" cy="146304"/>
          </a:xfrm>
          <a:prstGeom prst="ellipse">
            <a:avLst/>
          </a:prstGeom>
          <a:solidFill>
            <a:srgbClr val="B453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672084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4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B4534B"/>
                </a:solidFill>
                <a:latin typeface="Cambria"/>
                <a:ea typeface="Cambria"/>
                <a:cs typeface="Cambria"/>
                <a:sym typeface="Cambria"/>
              </a:rPr>
              <a:t>Offen / Zusatz nötig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6537960" y="224028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Kursteilnehmer &amp; Kurzzeitmitglieder: NICHT automatisch versichert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→ günstige ARAG-Nichtmitglieder-Zusatzversicherung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Vorstandshaftung: nur Grunddeckung → D&amp;O-Zusatz prüfen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Unfalldeckung ist nur Grundschutz (niedrige Summen)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Korrektur ggü. früherer Annahme: Kursteilnehmer sind über die reine Mitgliedschaft NICHT gedeckt – dafür braucht es den Zusatz. Stand Merkblatt 01/2024, mit BSB-Büro gegenprüfen.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Betrieb &amp; Personal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Schlank aufgestellt – mit klarer Aufsichts- und Trainingslogik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48640" y="1554480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777240" y="16824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Keine Meisterpflicht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Ohne öffentlichen Badebetrieb genügt eingewiesenes Personal + Fachmann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181344" y="1554480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6409944" y="16824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Aufsicht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6409944" y="2057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DLRG-Kooperation für den Trainingsbetrieb; keine ständige Fachkraft nötig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48640" y="2724912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777240" y="285292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Wasserqualität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777240" y="32278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Eingewiesene Personen für tägliche Proben (durch Berndt geschult)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181344" y="2724912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6409944" y="285292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Gruppentraining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6409944" y="32278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Mitgliedschaft + anwesender Trainer mit DRSA Silber + Führungszeugnis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548640" y="3895344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777240" y="4023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Bereitschaftsdienst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777240" y="4398264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Rufbereitschaft für Proben, Aufschließen, Alarm – aufzubauen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181344" y="3895344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6409944" y="4023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Gesundheitsamt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6409944" y="4398264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Zentraler Ansprechpartner; Konzept vorab abstimmen (Berndt klärt)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A5173"/>
                </a:solidFill>
                <a:latin typeface="Cambria"/>
                <a:ea typeface="Cambria"/>
                <a:cs typeface="Cambria"/>
                <a:sym typeface="Cambria"/>
              </a:rPr>
              <a:t>Organisation – Leervorlage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566928" y="1024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Zum gemeinsamen Ausfüllen in der Sitzung · Technik ggf. als zusätzlicher Vorstandsposten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orgpng-1.png" id="298" name="Google Shape;2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880" y="1325880"/>
            <a:ext cx="7242048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5173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Nächste Schritte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640080" y="1325880"/>
            <a:ext cx="64008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AF3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Anwalt: Satzung finalisieren (nachfassen)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AF3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Berndt ↔ Gesundheitsamt – Rückmeldung diese Woche erwartet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AF3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Musterpachtvertrag der Stadt prüfen (Basis der Vertragsgespräche)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AF3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Vereinsgründung anstoßen; Prefunding für Gutachter + Gründung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AF3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Stadt: Zustimmung zur Anfallberechtigung klären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AF3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Ressorts besetzen &amp; Bereitschaftsdienst aufsetzen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EAF3F7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Belegung: weitere LOIs; Schulen bis 31.12. bestätigen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7315200" y="1325880"/>
            <a:ext cx="4297680" cy="4480560"/>
          </a:xfrm>
          <a:prstGeom prst="roundRect">
            <a:avLst>
              <a:gd fmla="val 1702" name="adj"/>
            </a:avLst>
          </a:prstGeom>
          <a:solidFill>
            <a:srgbClr val="0C3F55"/>
          </a:solidFill>
          <a:ln>
            <a:noFill/>
          </a:ln>
          <a:effectLst>
            <a:outerShdw blurRad="76200" rotWithShape="0" algn="bl" dir="5400000" dist="25400">
              <a:srgbClr val="9AA7AE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7543800" y="1463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DD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2ADD0"/>
                </a:solidFill>
                <a:latin typeface="Cambria"/>
                <a:ea typeface="Cambria"/>
                <a:cs typeface="Cambria"/>
                <a:sym typeface="Cambria"/>
              </a:rPr>
              <a:t>Fahrplan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7589520" y="1929384"/>
            <a:ext cx="146304" cy="146304"/>
          </a:xfrm>
          <a:prstGeom prst="ellipse">
            <a:avLst/>
          </a:prstGeom>
          <a:solidFill>
            <a:srgbClr val="22AD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7863840" y="1828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31.07.2026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7863840" y="213055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9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9D6"/>
                </a:solidFill>
                <a:latin typeface="Calibri"/>
                <a:ea typeface="Calibri"/>
                <a:cs typeface="Calibri"/>
                <a:sym typeface="Calibri"/>
              </a:rPr>
              <a:t>Badbetrieb der Stadt eingestellt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7589520" y="2587752"/>
            <a:ext cx="146304" cy="146304"/>
          </a:xfrm>
          <a:prstGeom prst="ellipse">
            <a:avLst/>
          </a:prstGeom>
          <a:solidFill>
            <a:srgbClr val="22AD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7863840" y="24871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Anfang Okt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7863840" y="2788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9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9D6"/>
                </a:solidFill>
                <a:latin typeface="Calibri"/>
                <a:ea typeface="Calibri"/>
                <a:cs typeface="Calibri"/>
                <a:sym typeface="Calibri"/>
              </a:rPr>
              <a:t>Stadt-Rundgang (Brandschutz u. a.)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7589520" y="3246120"/>
            <a:ext cx="146304" cy="146304"/>
          </a:xfrm>
          <a:prstGeom prst="ellipse">
            <a:avLst/>
          </a:prstGeom>
          <a:solidFill>
            <a:srgbClr val="22AD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7863840" y="314553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Okt–Dez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7863840" y="34472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9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9D6"/>
                </a:solidFill>
                <a:latin typeface="Calibri"/>
                <a:ea typeface="Calibri"/>
                <a:cs typeface="Calibri"/>
                <a:sym typeface="Calibri"/>
              </a:rPr>
              <a:t>Funding-Fenster &amp; Vereinsgründung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7589520" y="3904488"/>
            <a:ext cx="146304" cy="146304"/>
          </a:xfrm>
          <a:prstGeom prst="ellipse">
            <a:avLst/>
          </a:prstGeom>
          <a:solidFill>
            <a:srgbClr val="22AD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7863840" y="38039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bis 31.12.2026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7863840" y="410565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9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9D6"/>
                </a:solidFill>
                <a:latin typeface="Calibri"/>
                <a:ea typeface="Calibri"/>
                <a:cs typeface="Calibri"/>
                <a:sym typeface="Calibri"/>
              </a:rPr>
              <a:t>Schul-Commitment (FB Bildung)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7589520" y="4562856"/>
            <a:ext cx="146304" cy="146304"/>
          </a:xfrm>
          <a:prstGeom prst="ellipse">
            <a:avLst/>
          </a:prstGeom>
          <a:solidFill>
            <a:srgbClr val="22AD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7863840" y="44622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01.01.2027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7863840" y="476402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9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9D6"/>
                </a:solidFill>
                <a:latin typeface="Calibri"/>
                <a:ea typeface="Calibri"/>
                <a:cs typeface="Calibri"/>
                <a:sym typeface="Calibri"/>
              </a:rPr>
              <a:t>Übernahme durch den Verein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7589520" y="5221224"/>
            <a:ext cx="146304" cy="146304"/>
          </a:xfrm>
          <a:prstGeom prst="ellipse">
            <a:avLst/>
          </a:prstGeom>
          <a:solidFill>
            <a:srgbClr val="22AD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7863840" y="5120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01.02.2027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7863840" y="54223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9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9D6"/>
                </a:solidFill>
                <a:latin typeface="Calibri"/>
                <a:ea typeface="Calibri"/>
                <a:cs typeface="Calibri"/>
                <a:sym typeface="Calibri"/>
              </a:rPr>
              <a:t>Inbetriebnahme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2026-09-22T13:12:43Z</dcterms:created>
  <dc:creator>PptxGenJS</dc:creator>
</cp:coreProperties>
</file>