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DO7x/YZyJZ3WB6TBVtCbji9BX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988BFA-BC0C-49D6-9D9D-FE3516AEA57C}">
  <a:tblStyle styleId="{6C988BFA-BC0C-49D6-9D9D-FE3516AEA57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01b6f6578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g3f01b6f6578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g3f01b6f6578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bc90a2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0bc90a2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f0bc90a2f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0bc90a2ff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0bc90a2ff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f0bc90a2ff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02aab02c1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f02aab02c1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f02aab02c1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0bc90a2ff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0bc90a2ff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f0bc90a2ff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0bc90a2f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f0bc90a2f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f0bc90a2ff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0bc90a2ff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0bc90a2ff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f0bc90a2ff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0bc90a2ff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0bc90a2ff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f0bc90a2ff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34cdd2f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f34cdd2f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g3f34cdd2f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E6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noFill/>
          <a:ln cap="flat" cmpd="sng" w="19050">
            <a:solidFill>
              <a:srgbClr val="5E9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7BB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332720" y="0"/>
            <a:ext cx="1828800" cy="1828800"/>
          </a:xfrm>
          <a:prstGeom prst="ellipse">
            <a:avLst/>
          </a:prstGeom>
          <a:solidFill>
            <a:srgbClr val="5E9A9B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B7A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B7A8"/>
                </a:solidFill>
                <a:latin typeface="Calibri"/>
                <a:ea typeface="Calibri"/>
                <a:cs typeface="Calibri"/>
                <a:sym typeface="Calibri"/>
              </a:rPr>
              <a:t>SACHSTAND · INTERNE RUNDE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Hallenbad Seckenheim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8B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B8B2"/>
                </a:solidFill>
                <a:latin typeface="Calibri"/>
                <a:ea typeface="Calibri"/>
                <a:cs typeface="Calibri"/>
                <a:sym typeface="Calibri"/>
              </a:rPr>
              <a:t>Juni 2026 · vertraulich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AUSGANGSLAGE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Hintergrund und Ziel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75" y="1737350"/>
            <a:ext cx="10504200" cy="3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2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Die Stadt Mannheim beabsichtigt, den Betrieb des Hallenbads Seckenheim zum 31. Juli einzustellen.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600"/>
              <a:buFont typeface="Calibri"/>
              <a:buNone/>
            </a:pPr>
            <a:r>
              <a:rPr b="1" i="0" lang="en-US" sz="2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Bisherige Betriebsweise:</a:t>
            </a:r>
            <a:r>
              <a:rPr b="0" i="0" lang="en-US" sz="2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 Überlassung an den SV Mannheim; Vermietung zu städtischen Konditionen der Überlassung an Vereine (z.B. Miete von 5 €/h und Bahn für lokale Schwimmvereine). In Gegenleistung Ausgleich der jährlichen Unterdeckung</a:t>
            </a:r>
            <a:endParaRPr b="0" i="0" sz="230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600"/>
              <a:buFont typeface="Calibri"/>
              <a:buNone/>
            </a:pPr>
            <a:r>
              <a:t/>
            </a:r>
            <a:endParaRPr b="0" i="0" sz="230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600"/>
              <a:buFont typeface="Calibri"/>
              <a:buNone/>
            </a:pPr>
            <a:r>
              <a:rPr b="1" i="0" lang="en-US" sz="2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Angestrebtes zukünftiges Konzept:</a:t>
            </a:r>
            <a:r>
              <a:rPr b="0" i="0" lang="en-US" sz="2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 Kostendeckende Fortführung des Badbebtriebs mit Überschuß für Reparaturen über eine gemeinnützige Trägerschaft (gUG/gGmbH)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1b6f6578_0_1"/>
          <p:cNvSpPr/>
          <p:nvPr/>
        </p:nvSpPr>
        <p:spPr>
          <a:xfrm>
            <a:off x="640080" y="281217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DATENGRUNDLAGE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01b6f6578_0_1"/>
          <p:cNvSpPr/>
          <p:nvPr/>
        </p:nvSpPr>
        <p:spPr>
          <a:xfrm>
            <a:off x="640080" y="555537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Betriebskosten Seckenheim: Kostenstellenauszug 2025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01b6f6578_0_1"/>
          <p:cNvSpPr/>
          <p:nvPr/>
        </p:nvSpPr>
        <p:spPr>
          <a:xfrm>
            <a:off x="640042" y="1620808"/>
            <a:ext cx="5257800" cy="4116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01b6f6578_0_1"/>
          <p:cNvSpPr/>
          <p:nvPr/>
        </p:nvSpPr>
        <p:spPr>
          <a:xfrm>
            <a:off x="777203" y="1620808"/>
            <a:ext cx="370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Ausgaben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f01b6f6578_0_1"/>
          <p:cNvSpPr/>
          <p:nvPr/>
        </p:nvSpPr>
        <p:spPr>
          <a:xfrm>
            <a:off x="4434803" y="1620808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f01b6f6578_0_1"/>
          <p:cNvSpPr/>
          <p:nvPr/>
        </p:nvSpPr>
        <p:spPr>
          <a:xfrm>
            <a:off x="640042" y="2032288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01b6f6578_0_1"/>
          <p:cNvSpPr/>
          <p:nvPr/>
        </p:nvSpPr>
        <p:spPr>
          <a:xfrm>
            <a:off x="777203" y="2032288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Gas (Wärme)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01b6f6578_0_1"/>
          <p:cNvSpPr/>
          <p:nvPr/>
        </p:nvSpPr>
        <p:spPr>
          <a:xfrm>
            <a:off x="4434803" y="2032288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87.342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f01b6f6578_0_1"/>
          <p:cNvSpPr/>
          <p:nvPr/>
        </p:nvSpPr>
        <p:spPr>
          <a:xfrm>
            <a:off x="640042" y="2361472"/>
            <a:ext cx="5257800" cy="3291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01b6f6578_0_1"/>
          <p:cNvSpPr/>
          <p:nvPr/>
        </p:nvSpPr>
        <p:spPr>
          <a:xfrm>
            <a:off x="777203" y="2361472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Personal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f01b6f6578_0_1"/>
          <p:cNvSpPr/>
          <p:nvPr/>
        </p:nvSpPr>
        <p:spPr>
          <a:xfrm>
            <a:off x="4434803" y="2361472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77.214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01b6f6578_0_1"/>
          <p:cNvSpPr/>
          <p:nvPr/>
        </p:nvSpPr>
        <p:spPr>
          <a:xfrm>
            <a:off x="640042" y="2690656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01b6f6578_0_1"/>
          <p:cNvSpPr/>
          <p:nvPr/>
        </p:nvSpPr>
        <p:spPr>
          <a:xfrm>
            <a:off x="777199" y="2690649"/>
            <a:ext cx="442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Betriebskosten (übrige, z.B. Wass</a:t>
            </a:r>
            <a:r>
              <a:rPr lang="en-US" sz="1150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erproben, Chlorflaschenservice, …</a:t>
            </a: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f01b6f6578_0_1"/>
          <p:cNvSpPr/>
          <p:nvPr/>
        </p:nvSpPr>
        <p:spPr>
          <a:xfrm>
            <a:off x="4626945" y="2690656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14.019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01b6f6578_0_1"/>
          <p:cNvSpPr/>
          <p:nvPr/>
        </p:nvSpPr>
        <p:spPr>
          <a:xfrm>
            <a:off x="640042" y="3019840"/>
            <a:ext cx="5257800" cy="3291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01b6f6578_0_1"/>
          <p:cNvSpPr/>
          <p:nvPr/>
        </p:nvSpPr>
        <p:spPr>
          <a:xfrm>
            <a:off x="777203" y="3019840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Strom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01b6f6578_0_1"/>
          <p:cNvSpPr/>
          <p:nvPr/>
        </p:nvSpPr>
        <p:spPr>
          <a:xfrm>
            <a:off x="4434803" y="3019840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19.699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f01b6f6578_0_1"/>
          <p:cNvSpPr/>
          <p:nvPr/>
        </p:nvSpPr>
        <p:spPr>
          <a:xfrm>
            <a:off x="640042" y="3349024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f01b6f6578_0_1"/>
          <p:cNvSpPr/>
          <p:nvPr/>
        </p:nvSpPr>
        <p:spPr>
          <a:xfrm>
            <a:off x="777203" y="3349024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Wasser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01b6f6578_0_1"/>
          <p:cNvSpPr/>
          <p:nvPr/>
        </p:nvSpPr>
        <p:spPr>
          <a:xfrm>
            <a:off x="4434803" y="3349024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13.245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f01b6f6578_0_1"/>
          <p:cNvSpPr/>
          <p:nvPr/>
        </p:nvSpPr>
        <p:spPr>
          <a:xfrm>
            <a:off x="640042" y="3678208"/>
            <a:ext cx="5257800" cy="3291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01b6f6578_0_1"/>
          <p:cNvSpPr/>
          <p:nvPr/>
        </p:nvSpPr>
        <p:spPr>
          <a:xfrm>
            <a:off x="777203" y="3678208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Entwässerung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01b6f6578_0_1"/>
          <p:cNvSpPr/>
          <p:nvPr/>
        </p:nvSpPr>
        <p:spPr>
          <a:xfrm>
            <a:off x="4434803" y="3678208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12.399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01b6f6578_0_1"/>
          <p:cNvSpPr/>
          <p:nvPr/>
        </p:nvSpPr>
        <p:spPr>
          <a:xfrm>
            <a:off x="640042" y="4007392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01b6f6578_0_1"/>
          <p:cNvSpPr/>
          <p:nvPr/>
        </p:nvSpPr>
        <p:spPr>
          <a:xfrm>
            <a:off x="777203" y="4007392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Reparatur / Wartung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01b6f6578_0_1"/>
          <p:cNvSpPr/>
          <p:nvPr/>
        </p:nvSpPr>
        <p:spPr>
          <a:xfrm>
            <a:off x="4434803" y="4007392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9.850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01b6f6578_0_1"/>
          <p:cNvSpPr/>
          <p:nvPr/>
        </p:nvSpPr>
        <p:spPr>
          <a:xfrm>
            <a:off x="640042" y="4336576"/>
            <a:ext cx="5257800" cy="3291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f01b6f6578_0_1"/>
          <p:cNvSpPr/>
          <p:nvPr/>
        </p:nvSpPr>
        <p:spPr>
          <a:xfrm>
            <a:off x="777203" y="4336576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Müll / Entsorgung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01b6f6578_0_1"/>
          <p:cNvSpPr/>
          <p:nvPr/>
        </p:nvSpPr>
        <p:spPr>
          <a:xfrm>
            <a:off x="4434803" y="4336576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1.328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01b6f6578_0_1"/>
          <p:cNvSpPr/>
          <p:nvPr/>
        </p:nvSpPr>
        <p:spPr>
          <a:xfrm>
            <a:off x="640042" y="4665760"/>
            <a:ext cx="5257800" cy="329100"/>
          </a:xfrm>
          <a:prstGeom prst="rect">
            <a:avLst/>
          </a:prstGeom>
          <a:solidFill>
            <a:srgbClr val="EEF4F3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01b6f6578_0_1"/>
          <p:cNvSpPr/>
          <p:nvPr/>
        </p:nvSpPr>
        <p:spPr>
          <a:xfrm>
            <a:off x="777203" y="4665760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Summe Ausgaben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01b6f6578_0_1"/>
          <p:cNvSpPr/>
          <p:nvPr/>
        </p:nvSpPr>
        <p:spPr>
          <a:xfrm>
            <a:off x="4434803" y="4665760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235.096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01b6f6578_0_1"/>
          <p:cNvSpPr/>
          <p:nvPr/>
        </p:nvSpPr>
        <p:spPr>
          <a:xfrm>
            <a:off x="6263602" y="1620808"/>
            <a:ext cx="5257800" cy="4116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f01b6f6578_0_1"/>
          <p:cNvSpPr/>
          <p:nvPr/>
        </p:nvSpPr>
        <p:spPr>
          <a:xfrm>
            <a:off x="6400763" y="1620808"/>
            <a:ext cx="370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Einnahmen 2025 (operativ)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f01b6f6578_0_1"/>
          <p:cNvSpPr/>
          <p:nvPr/>
        </p:nvSpPr>
        <p:spPr>
          <a:xfrm>
            <a:off x="10058363" y="1620808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01b6f6578_0_1"/>
          <p:cNvSpPr/>
          <p:nvPr/>
        </p:nvSpPr>
        <p:spPr>
          <a:xfrm>
            <a:off x="6263602" y="2032288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01b6f6578_0_1"/>
          <p:cNvSpPr/>
          <p:nvPr/>
        </p:nvSpPr>
        <p:spPr>
          <a:xfrm>
            <a:off x="6400763" y="2032288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Schulen (öffentlich + privat)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01b6f6578_0_1"/>
          <p:cNvSpPr/>
          <p:nvPr/>
        </p:nvSpPr>
        <p:spPr>
          <a:xfrm>
            <a:off x="10058363" y="2032288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40.691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f01b6f6578_0_1"/>
          <p:cNvSpPr/>
          <p:nvPr/>
        </p:nvSpPr>
        <p:spPr>
          <a:xfrm>
            <a:off x="6263602" y="2361472"/>
            <a:ext cx="5257800" cy="3291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f01b6f6578_0_1"/>
          <p:cNvSpPr/>
          <p:nvPr/>
        </p:nvSpPr>
        <p:spPr>
          <a:xfrm>
            <a:off x="6400763" y="2361472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Externe Vereine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01b6f6578_0_1"/>
          <p:cNvSpPr/>
          <p:nvPr/>
        </p:nvSpPr>
        <p:spPr>
          <a:xfrm>
            <a:off x="10058363" y="2361472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33.512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01b6f6578_0_1"/>
          <p:cNvSpPr/>
          <p:nvPr/>
        </p:nvSpPr>
        <p:spPr>
          <a:xfrm>
            <a:off x="6263602" y="2690656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01b6f6578_0_1"/>
          <p:cNvSpPr/>
          <p:nvPr/>
        </p:nvSpPr>
        <p:spPr>
          <a:xfrm>
            <a:off x="6400763" y="2690656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SVM-Verrechnung u. Eintritt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f01b6f6578_0_1"/>
          <p:cNvSpPr/>
          <p:nvPr/>
        </p:nvSpPr>
        <p:spPr>
          <a:xfrm>
            <a:off x="10058363" y="2690656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22.150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01b6f6578_0_1"/>
          <p:cNvSpPr/>
          <p:nvPr/>
        </p:nvSpPr>
        <p:spPr>
          <a:xfrm>
            <a:off x="6263602" y="3019840"/>
            <a:ext cx="5257800" cy="329100"/>
          </a:xfrm>
          <a:prstGeom prst="rect">
            <a:avLst/>
          </a:prstGeom>
          <a:solidFill>
            <a:srgbClr val="EEF4F3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01b6f6578_0_1"/>
          <p:cNvSpPr/>
          <p:nvPr/>
        </p:nvSpPr>
        <p:spPr>
          <a:xfrm>
            <a:off x="6400763" y="3019840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Summe operative Einnahmen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01b6f6578_0_1"/>
          <p:cNvSpPr/>
          <p:nvPr/>
        </p:nvSpPr>
        <p:spPr>
          <a:xfrm>
            <a:off x="10058363" y="3019840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96.353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01b6f6578_0_1"/>
          <p:cNvSpPr/>
          <p:nvPr/>
        </p:nvSpPr>
        <p:spPr>
          <a:xfrm>
            <a:off x="6263602" y="3577624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01b6f6578_0_1"/>
          <p:cNvSpPr/>
          <p:nvPr/>
        </p:nvSpPr>
        <p:spPr>
          <a:xfrm>
            <a:off x="6400763" y="3577624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Städtischer Zuschuss 2025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01b6f6578_0_1"/>
          <p:cNvSpPr/>
          <p:nvPr/>
        </p:nvSpPr>
        <p:spPr>
          <a:xfrm>
            <a:off x="10058363" y="3577624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123.466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01b6f6578_0_1"/>
          <p:cNvSpPr/>
          <p:nvPr/>
        </p:nvSpPr>
        <p:spPr>
          <a:xfrm>
            <a:off x="6263602" y="3906808"/>
            <a:ext cx="5257800" cy="32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01b6f6578_0_1"/>
          <p:cNvSpPr/>
          <p:nvPr/>
        </p:nvSpPr>
        <p:spPr>
          <a:xfrm>
            <a:off x="6400763" y="3906808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Ausgaben gesamt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01b6f6578_0_1"/>
          <p:cNvSpPr/>
          <p:nvPr/>
        </p:nvSpPr>
        <p:spPr>
          <a:xfrm>
            <a:off x="10058363" y="3906808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−235.096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01b6f6578_0_1"/>
          <p:cNvSpPr/>
          <p:nvPr/>
        </p:nvSpPr>
        <p:spPr>
          <a:xfrm>
            <a:off x="6263602" y="4235992"/>
            <a:ext cx="5257800" cy="329100"/>
          </a:xfrm>
          <a:prstGeom prst="rect">
            <a:avLst/>
          </a:prstGeom>
          <a:solidFill>
            <a:srgbClr val="EEF4F3"/>
          </a:solidFill>
          <a:ln cap="flat" cmpd="sng" w="9525">
            <a:solidFill>
              <a:srgbClr val="E8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01b6f6578_0_1"/>
          <p:cNvSpPr/>
          <p:nvPr/>
        </p:nvSpPr>
        <p:spPr>
          <a:xfrm>
            <a:off x="6400763" y="4235992"/>
            <a:ext cx="370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Restverlust nach Zuschuss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01b6f6578_0_1"/>
          <p:cNvSpPr/>
          <p:nvPr/>
        </p:nvSpPr>
        <p:spPr>
          <a:xfrm>
            <a:off x="10058363" y="4235992"/>
            <a:ext cx="1326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−15.277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01b6f6578_0_1"/>
          <p:cNvSpPr/>
          <p:nvPr/>
        </p:nvSpPr>
        <p:spPr>
          <a:xfrm>
            <a:off x="640042" y="5095528"/>
            <a:ext cx="5257800" cy="731400"/>
          </a:xfrm>
          <a:prstGeom prst="roundRect">
            <a:avLst>
              <a:gd fmla="val 6250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01b6f6578_0_1"/>
          <p:cNvSpPr/>
          <p:nvPr/>
        </p:nvSpPr>
        <p:spPr>
          <a:xfrm>
            <a:off x="868642" y="5141248"/>
            <a:ext cx="480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41 %</a:t>
            </a: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  Kostendeckungsgrad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Die operativen Einnahmen decken nur 41 % der Kosten — der Rest lief über Zuschuss und künstlich niedrige Tarife.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01b6f6578_0_1"/>
          <p:cNvSpPr/>
          <p:nvPr/>
        </p:nvSpPr>
        <p:spPr>
          <a:xfrm>
            <a:off x="6263602" y="5186968"/>
            <a:ext cx="5257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050"/>
              <a:buFont typeface="Calibri"/>
              <a:buNone/>
            </a:pPr>
            <a:r>
              <a:rPr b="0" i="1" lang="en-US" sz="13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Hinweis: 50.242 Besuche an 289 Öffnungstagen (2025) — Besuche, nicht verschiedene Personen. Reparatur/Wartung war 2025 niedrig (Mehrjahresschnitt eher 16–20 T€).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01b6f6578_0_1"/>
          <p:cNvSpPr/>
          <p:nvPr/>
        </p:nvSpPr>
        <p:spPr>
          <a:xfrm>
            <a:off x="457200" y="6252249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01b6f6578_0_1"/>
          <p:cNvSpPr/>
          <p:nvPr/>
        </p:nvSpPr>
        <p:spPr>
          <a:xfrm>
            <a:off x="11247120" y="6252249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0bc90a2ff_0_0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WAS DER BETRIEB KOSTET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0bc90a2ff_0_0"/>
          <p:cNvSpPr/>
          <p:nvPr/>
        </p:nvSpPr>
        <p:spPr>
          <a:xfrm>
            <a:off x="548640" y="7772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28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Zielbudget: laufender Betrieb, ggfls. Pacht und Rücklage für Renovierung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0bc90a2ff_0_0"/>
          <p:cNvSpPr/>
          <p:nvPr/>
        </p:nvSpPr>
        <p:spPr>
          <a:xfrm>
            <a:off x="548640" y="141732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Belegte Ist-Kosten, normalisierte Reparatur, plus Pacht als Verhandlungsvariable.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0bc90a2ff_0_0"/>
          <p:cNvSpPr/>
          <p:nvPr/>
        </p:nvSpPr>
        <p:spPr>
          <a:xfrm>
            <a:off x="548640" y="2468880"/>
            <a:ext cx="2651700" cy="2743200"/>
          </a:xfrm>
          <a:prstGeom prst="roundRect">
            <a:avLst>
              <a:gd fmla="val 2759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0bc90a2ff_0_0"/>
          <p:cNvSpPr/>
          <p:nvPr/>
        </p:nvSpPr>
        <p:spPr>
          <a:xfrm>
            <a:off x="594360" y="28803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243.000 €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0bc90a2ff_0_0"/>
          <p:cNvSpPr/>
          <p:nvPr/>
        </p:nvSpPr>
        <p:spPr>
          <a:xfrm>
            <a:off x="640080" y="361188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Laufende Kosten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0bc90a2ff_0_0"/>
          <p:cNvSpPr/>
          <p:nvPr/>
        </p:nvSpPr>
        <p:spPr>
          <a:xfrm>
            <a:off x="685800" y="4069080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Planwert (belegt 235.096, Reparatur normalisiert)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0bc90a2ff_0_0"/>
          <p:cNvSpPr/>
          <p:nvPr/>
        </p:nvSpPr>
        <p:spPr>
          <a:xfrm>
            <a:off x="3182112" y="356616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0bc90a2ff_0_0"/>
          <p:cNvSpPr/>
          <p:nvPr/>
        </p:nvSpPr>
        <p:spPr>
          <a:xfrm>
            <a:off x="3435385" y="2468880"/>
            <a:ext cx="2651700" cy="2743200"/>
          </a:xfrm>
          <a:prstGeom prst="roundRect">
            <a:avLst>
              <a:gd fmla="val 2759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0bc90a2ff_0_0"/>
          <p:cNvSpPr/>
          <p:nvPr/>
        </p:nvSpPr>
        <p:spPr>
          <a:xfrm>
            <a:off x="3481105" y="28803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10.000 €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0bc90a2ff_0_0"/>
          <p:cNvSpPr/>
          <p:nvPr/>
        </p:nvSpPr>
        <p:spPr>
          <a:xfrm>
            <a:off x="3526825" y="361188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Pacht p.a.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0bc90a2ff_0_0"/>
          <p:cNvSpPr/>
          <p:nvPr/>
        </p:nvSpPr>
        <p:spPr>
          <a:xfrm>
            <a:off x="3572545" y="4069080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Verhandlungsvariable — ggf. symbolisch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0bc90a2ff_0_0"/>
          <p:cNvSpPr/>
          <p:nvPr/>
        </p:nvSpPr>
        <p:spPr>
          <a:xfrm>
            <a:off x="6113198" y="356616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0bc90a2ff_0_0"/>
          <p:cNvSpPr/>
          <p:nvPr/>
        </p:nvSpPr>
        <p:spPr>
          <a:xfrm>
            <a:off x="6425591" y="2468880"/>
            <a:ext cx="2651700" cy="2743200"/>
          </a:xfrm>
          <a:prstGeom prst="roundRect">
            <a:avLst>
              <a:gd fmla="val 2759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0bc90a2ff_0_0"/>
          <p:cNvSpPr/>
          <p:nvPr/>
        </p:nvSpPr>
        <p:spPr>
          <a:xfrm>
            <a:off x="6471311" y="28803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50.000 €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0bc90a2ff_0_0"/>
          <p:cNvSpPr/>
          <p:nvPr/>
        </p:nvSpPr>
        <p:spPr>
          <a:xfrm>
            <a:off x="6517031" y="361188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Investitionsrücklage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0bc90a2ff_0_0"/>
          <p:cNvSpPr/>
          <p:nvPr/>
        </p:nvSpPr>
        <p:spPr>
          <a:xfrm>
            <a:off x="6562751" y="4069080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Duschen, Folie, Dach, Wärmepumpe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0bc90a2ff_0_0"/>
          <p:cNvSpPr/>
          <p:nvPr/>
        </p:nvSpPr>
        <p:spPr>
          <a:xfrm>
            <a:off x="9059063" y="3566160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f0bc90a2ff_0_0"/>
          <p:cNvSpPr/>
          <p:nvPr/>
        </p:nvSpPr>
        <p:spPr>
          <a:xfrm>
            <a:off x="9327116" y="2468880"/>
            <a:ext cx="2651700" cy="2743200"/>
          </a:xfrm>
          <a:prstGeom prst="roundRect">
            <a:avLst>
              <a:gd fmla="val 2759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0bc90a2ff_0_0"/>
          <p:cNvSpPr/>
          <p:nvPr/>
        </p:nvSpPr>
        <p:spPr>
          <a:xfrm>
            <a:off x="9210255" y="2880360"/>
            <a:ext cx="256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303.000 €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0bc90a2ff_0_0"/>
          <p:cNvSpPr/>
          <p:nvPr/>
        </p:nvSpPr>
        <p:spPr>
          <a:xfrm>
            <a:off x="9255975" y="361188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Zielbudget / Jahr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0bc90a2ff_0_0"/>
          <p:cNvSpPr/>
          <p:nvPr/>
        </p:nvSpPr>
        <p:spPr>
          <a:xfrm>
            <a:off x="9301695" y="4069080"/>
            <a:ext cx="2377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0E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E0E4"/>
                </a:solidFill>
                <a:latin typeface="Calibri"/>
                <a:ea typeface="Calibri"/>
                <a:cs typeface="Calibri"/>
                <a:sym typeface="Calibri"/>
              </a:rPr>
              <a:t>zu erzielende Einnahmen (voller Betrieb)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0bc90a2ff_0_0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0bc90a2ff_0_0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bc90a2ff_0_29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DAS KONZEPT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0bc90a2ff_0_29"/>
          <p:cNvSpPr/>
          <p:nvPr/>
        </p:nvSpPr>
        <p:spPr>
          <a:xfrm>
            <a:off x="548640" y="7772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Betriebskonzept: Core + </a:t>
            </a:r>
            <a:r>
              <a:rPr b="1" lang="en-US" sz="3000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Nebenzeiten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0bc90a2ff_0_29"/>
          <p:cNvSpPr/>
          <p:nvPr/>
        </p:nvSpPr>
        <p:spPr>
          <a:xfrm>
            <a:off x="548640" y="141732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Zuerst die knappe Prime-Time absichern, alles andere kommt „on top“.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0bc90a2ff_0_29"/>
          <p:cNvSpPr/>
          <p:nvPr/>
        </p:nvSpPr>
        <p:spPr>
          <a:xfrm>
            <a:off x="548640" y="2194560"/>
            <a:ext cx="5394900" cy="3017400"/>
          </a:xfrm>
          <a:prstGeom prst="roundRect">
            <a:avLst>
              <a:gd fmla="val 2424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0bc90a2ff_0_29"/>
          <p:cNvSpPr/>
          <p:nvPr/>
        </p:nvSpPr>
        <p:spPr>
          <a:xfrm>
            <a:off x="822960" y="239572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9DA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D9DAB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0bc90a2ff_0_29"/>
          <p:cNvSpPr/>
          <p:nvPr/>
        </p:nvSpPr>
        <p:spPr>
          <a:xfrm>
            <a:off x="822960" y="274320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Hauptzeiten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0bc90a2ff_0_29"/>
          <p:cNvSpPr/>
          <p:nvPr/>
        </p:nvSpPr>
        <p:spPr>
          <a:xfrm>
            <a:off x="822960" y="3291840"/>
            <a:ext cx="4846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Morgen- (6-8 Uhr) und Abendfenster (17–22 Uhr).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Flexibel aufgeteilt zwischen Vereinen (verlässlich und wiederkehrend, aber weniger Einnahmen) und Premium/Masterclass (teuer).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FF1"/>
                </a:solidFill>
                <a:latin typeface="Calibri"/>
                <a:ea typeface="Calibri"/>
                <a:cs typeface="Calibri"/>
                <a:sym typeface="Calibri"/>
              </a:rPr>
              <a:t>Vereinsüberlassungen über feste Nutzerzusagen absichern.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0bc90a2ff_0_29"/>
          <p:cNvSpPr/>
          <p:nvPr/>
        </p:nvSpPr>
        <p:spPr>
          <a:xfrm>
            <a:off x="6217920" y="2194560"/>
            <a:ext cx="5394900" cy="3017400"/>
          </a:xfrm>
          <a:prstGeom prst="roundRect">
            <a:avLst>
              <a:gd fmla="val 2424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0bc90a2ff_0_29"/>
          <p:cNvSpPr/>
          <p:nvPr/>
        </p:nvSpPr>
        <p:spPr>
          <a:xfrm>
            <a:off x="6492240" y="239572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NEBENZEITEN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0bc90a2ff_0_29"/>
          <p:cNvSpPr/>
          <p:nvPr/>
        </p:nvSpPr>
        <p:spPr>
          <a:xfrm>
            <a:off x="6492240" y="274320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Andere Benutzer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0bc90a2ff_0_29"/>
          <p:cNvSpPr/>
          <p:nvPr/>
        </p:nvSpPr>
        <p:spPr>
          <a:xfrm>
            <a:off x="6492240" y="3291840"/>
            <a:ext cx="48462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Die Nebenzeiten (</a:t>
            </a:r>
            <a:r>
              <a:rPr lang="en-US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8 bis 17 Uhr</a:t>
            </a: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, Wochenende</a:t>
            </a:r>
            <a:r>
              <a:rPr lang="en-US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) für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Schwimmschulen &amp; Kurse, Öffentlich, Schulen, Reha/Gesundheit, ggfls später auch eigene Kurse.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je Gruppe getrennt planbar — Stunden/Tag, Bahnen, Tage/Jahr.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0bc90a2ff_0_29"/>
          <p:cNvSpPr/>
          <p:nvPr/>
        </p:nvSpPr>
        <p:spPr>
          <a:xfrm>
            <a:off x="548640" y="553212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Auslastung und Ø-Erlös sind damit Ergebnisse der Belegungsplanung — keine gesetzten Annahmen.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f0bc90a2ff_0_29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0bc90a2ff_0_29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NUTZUNG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Benutzergruppen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Mit der Kombibad-Eröffnung verlagern sich Teile der großen Vereine dorthin. Seckenheim richtet sich gezielt auf die Nachfrage aus, die das Kombibad nicht bedient — Bahnen-, Vereins-, Kurs- und Gesundheitsschwimmen.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40080" y="2651760"/>
            <a:ext cx="2697480" cy="2743200"/>
          </a:xfrm>
          <a:prstGeom prst="roundRect">
            <a:avLst>
              <a:gd fmla="val 2034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914400" y="297180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Schwimmschulen &amp; Kurse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914400" y="38862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FE0DC"/>
                </a:solidFill>
                <a:latin typeface="Calibri"/>
                <a:ea typeface="Calibri"/>
                <a:cs typeface="Calibri"/>
                <a:sym typeface="Calibri"/>
              </a:rPr>
              <a:t>Gewerbliche Schwimmkurse und Erwachsenenkurse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520440" y="2651760"/>
            <a:ext cx="2697480" cy="2743200"/>
          </a:xfrm>
          <a:prstGeom prst="roundRect">
            <a:avLst>
              <a:gd fmla="val 2034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3794760" y="2897899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Externe Umlandvereine</a:t>
            </a:r>
            <a:endParaRPr b="1" i="0" sz="16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und “Overflow” der städtischen Vereine</a:t>
            </a:r>
            <a:endParaRPr b="1" i="0" sz="16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649763" y="3886200"/>
            <a:ext cx="2424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Vereine aus Nachbarkommunen ohne eigene Wasserzeiten </a:t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Zusätzliche Zeiten für die Mannheimer Vereine (z.B. am Wochenende, bzw früh am Morgen)</a:t>
            </a:r>
            <a:endParaRPr b="0" i="0" sz="12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400800" y="2651760"/>
            <a:ext cx="2697480" cy="2743200"/>
          </a:xfrm>
          <a:prstGeom prst="roundRect">
            <a:avLst>
              <a:gd fmla="val 2034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675120" y="297180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Ambitionierte Privatschwimmer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675120" y="38862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Private Sportschwimmer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die feste Bahnen zu Primetimes suchen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25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Vorbuchbare Premium-Lanes und Masterclasses mit Trainer 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9281160" y="2651760"/>
            <a:ext cx="2697480" cy="2743200"/>
          </a:xfrm>
          <a:prstGeom prst="roundRect">
            <a:avLst>
              <a:gd fmla="val 2034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9555480" y="297180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Öffentliche &amp; Gesundheit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9555480" y="388620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Wohnortnahes öffentliches Schwimmen, Reha- und Gesundheitsschwimmen, bevorzugt außerhalb der Hauptzeiten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0118" y="5545853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Mögliche </a:t>
            </a: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UPSIDE: Seckenheimer Schulen bleiben auch längerfristig in Seckenheim, wenn die Kosten der Bahnmiete unterhalb der Buskosten nach Neckarau liegen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02aab02c1_0_5"/>
          <p:cNvSpPr/>
          <p:nvPr/>
        </p:nvSpPr>
        <p:spPr>
          <a:xfrm>
            <a:off x="64008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REFERENZ (BELEGT)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02aab02c1_0_5"/>
          <p:cNvSpPr/>
          <p:nvPr/>
        </p:nvSpPr>
        <p:spPr>
          <a:xfrm>
            <a:off x="640080" y="77724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Tarife der Stadt Mannheim ab 01.01.2026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02aab02c1_0_5"/>
          <p:cNvSpPr/>
          <p:nvPr/>
        </p:nvSpPr>
        <p:spPr>
          <a:xfrm>
            <a:off x="640080" y="1627632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Offizielle Entgeltfestsetzung der Stadt für ihre Hallenbäder — belegte Vergleichsgröße für </a:t>
            </a:r>
            <a:r>
              <a:rPr lang="en-US" sz="13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die</a:t>
            </a: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 Tarifannahmen.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02aab02c1_0_5"/>
          <p:cNvSpPr/>
          <p:nvPr/>
        </p:nvSpPr>
        <p:spPr>
          <a:xfrm>
            <a:off x="640080" y="2492922"/>
            <a:ext cx="502800" cy="4755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02aab02c1_0_5"/>
          <p:cNvSpPr/>
          <p:nvPr/>
        </p:nvSpPr>
        <p:spPr>
          <a:xfrm>
            <a:off x="640080" y="2492922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02aab02c1_0_5"/>
          <p:cNvSpPr/>
          <p:nvPr/>
        </p:nvSpPr>
        <p:spPr>
          <a:xfrm>
            <a:off x="1143000" y="2492922"/>
            <a:ext cx="48462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02aab02c1_0_5"/>
          <p:cNvSpPr/>
          <p:nvPr/>
        </p:nvSpPr>
        <p:spPr>
          <a:xfrm>
            <a:off x="1280160" y="2492922"/>
            <a:ext cx="461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Mannheimer Sportvereine — Wettkampf/Leistung, DLRG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02aab02c1_0_5"/>
          <p:cNvSpPr/>
          <p:nvPr/>
        </p:nvSpPr>
        <p:spPr>
          <a:xfrm>
            <a:off x="640080" y="3041562"/>
            <a:ext cx="502800" cy="4755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02aab02c1_0_5"/>
          <p:cNvSpPr/>
          <p:nvPr/>
        </p:nvSpPr>
        <p:spPr>
          <a:xfrm>
            <a:off x="640080" y="3041562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02aab02c1_0_5"/>
          <p:cNvSpPr/>
          <p:nvPr/>
        </p:nvSpPr>
        <p:spPr>
          <a:xfrm>
            <a:off x="1143000" y="3041562"/>
            <a:ext cx="48462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f02aab02c1_0_5"/>
          <p:cNvSpPr/>
          <p:nvPr/>
        </p:nvSpPr>
        <p:spPr>
          <a:xfrm>
            <a:off x="1280160" y="3041562"/>
            <a:ext cx="461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Mannheimer Sportvereine — ohne Wettkampforientierung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02aab02c1_0_5"/>
          <p:cNvSpPr/>
          <p:nvPr/>
        </p:nvSpPr>
        <p:spPr>
          <a:xfrm>
            <a:off x="640080" y="3590202"/>
            <a:ext cx="502800" cy="4755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02aab02c1_0_5"/>
          <p:cNvSpPr/>
          <p:nvPr/>
        </p:nvSpPr>
        <p:spPr>
          <a:xfrm>
            <a:off x="640080" y="3590202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02aab02c1_0_5"/>
          <p:cNvSpPr/>
          <p:nvPr/>
        </p:nvSpPr>
        <p:spPr>
          <a:xfrm>
            <a:off x="1143000" y="3590202"/>
            <a:ext cx="48462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f02aab02c1_0_5"/>
          <p:cNvSpPr/>
          <p:nvPr/>
        </p:nvSpPr>
        <p:spPr>
          <a:xfrm>
            <a:off x="1280160" y="3590202"/>
            <a:ext cx="461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Vereine, gemeinnützige Einrichtungen, auswärtige Vereine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02aab02c1_0_5"/>
          <p:cNvSpPr/>
          <p:nvPr/>
        </p:nvSpPr>
        <p:spPr>
          <a:xfrm>
            <a:off x="640080" y="4138842"/>
            <a:ext cx="502800" cy="475500"/>
          </a:xfrm>
          <a:prstGeom prst="rect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02aab02c1_0_5"/>
          <p:cNvSpPr/>
          <p:nvPr/>
        </p:nvSpPr>
        <p:spPr>
          <a:xfrm>
            <a:off x="640080" y="4138842"/>
            <a:ext cx="502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02aab02c1_0_5"/>
          <p:cNvSpPr/>
          <p:nvPr/>
        </p:nvSpPr>
        <p:spPr>
          <a:xfrm>
            <a:off x="1143000" y="4138842"/>
            <a:ext cx="48462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02aab02c1_0_5"/>
          <p:cNvSpPr/>
          <p:nvPr/>
        </p:nvSpPr>
        <p:spPr>
          <a:xfrm>
            <a:off x="1280160" y="4138842"/>
            <a:ext cx="4617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Sonstige Überlassung, gewerbliche Anbieter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02aab02c1_0_5"/>
          <p:cNvSpPr/>
          <p:nvPr/>
        </p:nvSpPr>
        <p:spPr>
          <a:xfrm>
            <a:off x="640080" y="2200314"/>
            <a:ext cx="534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Tarifgruppen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02aab02c1_0_5"/>
          <p:cNvSpPr/>
          <p:nvPr/>
        </p:nvSpPr>
        <p:spPr>
          <a:xfrm>
            <a:off x="6263640" y="2200314"/>
            <a:ext cx="525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Entgelt je Bahn (25 m) / Stunde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02aab02c1_0_5"/>
          <p:cNvSpPr/>
          <p:nvPr/>
        </p:nvSpPr>
        <p:spPr>
          <a:xfrm>
            <a:off x="6263640" y="2492922"/>
            <a:ext cx="2148900" cy="475500"/>
          </a:xfrm>
          <a:prstGeom prst="rect">
            <a:avLst/>
          </a:prstGeom>
          <a:solidFill>
            <a:srgbClr val="2E5E6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02aab02c1_0_5"/>
          <p:cNvSpPr/>
          <p:nvPr/>
        </p:nvSpPr>
        <p:spPr>
          <a:xfrm>
            <a:off x="6309360" y="2492922"/>
            <a:ext cx="2057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02aab02c1_0_5"/>
          <p:cNvSpPr/>
          <p:nvPr/>
        </p:nvSpPr>
        <p:spPr>
          <a:xfrm>
            <a:off x="8412480" y="2492922"/>
            <a:ext cx="777300" cy="475500"/>
          </a:xfrm>
          <a:prstGeom prst="rect">
            <a:avLst/>
          </a:prstGeom>
          <a:solidFill>
            <a:srgbClr val="2E5E6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02aab02c1_0_5"/>
          <p:cNvSpPr/>
          <p:nvPr/>
        </p:nvSpPr>
        <p:spPr>
          <a:xfrm>
            <a:off x="8458200" y="2492922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02aab02c1_0_5"/>
          <p:cNvSpPr/>
          <p:nvPr/>
        </p:nvSpPr>
        <p:spPr>
          <a:xfrm>
            <a:off x="9189720" y="2492922"/>
            <a:ext cx="777300" cy="475500"/>
          </a:xfrm>
          <a:prstGeom prst="rect">
            <a:avLst/>
          </a:prstGeom>
          <a:solidFill>
            <a:srgbClr val="2E5E6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02aab02c1_0_5"/>
          <p:cNvSpPr/>
          <p:nvPr/>
        </p:nvSpPr>
        <p:spPr>
          <a:xfrm>
            <a:off x="9235440" y="2492922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02aab02c1_0_5"/>
          <p:cNvSpPr/>
          <p:nvPr/>
        </p:nvSpPr>
        <p:spPr>
          <a:xfrm>
            <a:off x="9966960" y="2492922"/>
            <a:ext cx="777300" cy="475500"/>
          </a:xfrm>
          <a:prstGeom prst="rect">
            <a:avLst/>
          </a:prstGeom>
          <a:solidFill>
            <a:srgbClr val="2E5E6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02aab02c1_0_5"/>
          <p:cNvSpPr/>
          <p:nvPr/>
        </p:nvSpPr>
        <p:spPr>
          <a:xfrm>
            <a:off x="10012680" y="2492922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02aab02c1_0_5"/>
          <p:cNvSpPr/>
          <p:nvPr/>
        </p:nvSpPr>
        <p:spPr>
          <a:xfrm>
            <a:off x="10744200" y="2492922"/>
            <a:ext cx="777300" cy="475500"/>
          </a:xfrm>
          <a:prstGeom prst="rect">
            <a:avLst/>
          </a:prstGeom>
          <a:solidFill>
            <a:srgbClr val="2E5E68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02aab02c1_0_5"/>
          <p:cNvSpPr/>
          <p:nvPr/>
        </p:nvSpPr>
        <p:spPr>
          <a:xfrm>
            <a:off x="10789920" y="2492922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02aab02c1_0_5"/>
          <p:cNvSpPr/>
          <p:nvPr/>
        </p:nvSpPr>
        <p:spPr>
          <a:xfrm>
            <a:off x="6263640" y="2968410"/>
            <a:ext cx="21489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02aab02c1_0_5"/>
          <p:cNvSpPr/>
          <p:nvPr/>
        </p:nvSpPr>
        <p:spPr>
          <a:xfrm>
            <a:off x="8412480" y="2968410"/>
            <a:ext cx="7773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02aab02c1_0_5"/>
          <p:cNvSpPr/>
          <p:nvPr/>
        </p:nvSpPr>
        <p:spPr>
          <a:xfrm>
            <a:off x="9189720" y="2968410"/>
            <a:ext cx="7773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02aab02c1_0_5"/>
          <p:cNvSpPr/>
          <p:nvPr/>
        </p:nvSpPr>
        <p:spPr>
          <a:xfrm>
            <a:off x="9966960" y="2968410"/>
            <a:ext cx="7773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02aab02c1_0_5"/>
          <p:cNvSpPr/>
          <p:nvPr/>
        </p:nvSpPr>
        <p:spPr>
          <a:xfrm>
            <a:off x="10744200" y="2968410"/>
            <a:ext cx="777300" cy="4755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02aab02c1_0_5"/>
          <p:cNvSpPr/>
          <p:nvPr/>
        </p:nvSpPr>
        <p:spPr>
          <a:xfrm>
            <a:off x="6336792" y="2968410"/>
            <a:ext cx="2002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1 Bahn (25 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02aab02c1_0_5"/>
          <p:cNvSpPr/>
          <p:nvPr/>
        </p:nvSpPr>
        <p:spPr>
          <a:xfrm>
            <a:off x="8458200" y="2968410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02aab02c1_0_5"/>
          <p:cNvSpPr/>
          <p:nvPr/>
        </p:nvSpPr>
        <p:spPr>
          <a:xfrm>
            <a:off x="9235440" y="2968410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02aab02c1_0_5"/>
          <p:cNvSpPr/>
          <p:nvPr/>
        </p:nvSpPr>
        <p:spPr>
          <a:xfrm>
            <a:off x="10012680" y="2968410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30 €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02aab02c1_0_5"/>
          <p:cNvSpPr/>
          <p:nvPr/>
        </p:nvSpPr>
        <p:spPr>
          <a:xfrm>
            <a:off x="10789920" y="2968410"/>
            <a:ext cx="685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45 €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02aab02c1_0_5"/>
          <p:cNvSpPr/>
          <p:nvPr/>
        </p:nvSpPr>
        <p:spPr>
          <a:xfrm>
            <a:off x="6263640" y="3443898"/>
            <a:ext cx="21489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f02aab02c1_0_5"/>
          <p:cNvSpPr/>
          <p:nvPr/>
        </p:nvSpPr>
        <p:spPr>
          <a:xfrm>
            <a:off x="8412480" y="3443898"/>
            <a:ext cx="777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f02aab02c1_0_5"/>
          <p:cNvSpPr/>
          <p:nvPr/>
        </p:nvSpPr>
        <p:spPr>
          <a:xfrm>
            <a:off x="9189720" y="3443898"/>
            <a:ext cx="777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02aab02c1_0_5"/>
          <p:cNvSpPr/>
          <p:nvPr/>
        </p:nvSpPr>
        <p:spPr>
          <a:xfrm>
            <a:off x="9966960" y="3443898"/>
            <a:ext cx="777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02aab02c1_0_5"/>
          <p:cNvSpPr/>
          <p:nvPr/>
        </p:nvSpPr>
        <p:spPr>
          <a:xfrm>
            <a:off x="10744200" y="3443898"/>
            <a:ext cx="7773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02aab02c1_0_5"/>
          <p:cNvSpPr/>
          <p:nvPr/>
        </p:nvSpPr>
        <p:spPr>
          <a:xfrm>
            <a:off x="6336792" y="3443898"/>
            <a:ext cx="2002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½ Nichtschwimmer-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becken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02aab02c1_0_5"/>
          <p:cNvSpPr/>
          <p:nvPr/>
        </p:nvSpPr>
        <p:spPr>
          <a:xfrm>
            <a:off x="8458200" y="344389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02aab02c1_0_5"/>
          <p:cNvSpPr/>
          <p:nvPr/>
        </p:nvSpPr>
        <p:spPr>
          <a:xfrm>
            <a:off x="9235440" y="344389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30 €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02aab02c1_0_5"/>
          <p:cNvSpPr/>
          <p:nvPr/>
        </p:nvSpPr>
        <p:spPr>
          <a:xfrm>
            <a:off x="10012680" y="344389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60 €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02aab02c1_0_5"/>
          <p:cNvSpPr/>
          <p:nvPr/>
        </p:nvSpPr>
        <p:spPr>
          <a:xfrm>
            <a:off x="10789920" y="344389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90 €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02aab02c1_0_5"/>
          <p:cNvSpPr/>
          <p:nvPr/>
        </p:nvSpPr>
        <p:spPr>
          <a:xfrm>
            <a:off x="6263640" y="4083978"/>
            <a:ext cx="2148900" cy="6402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02aab02c1_0_5"/>
          <p:cNvSpPr/>
          <p:nvPr/>
        </p:nvSpPr>
        <p:spPr>
          <a:xfrm>
            <a:off x="8412480" y="4083978"/>
            <a:ext cx="777300" cy="6402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02aab02c1_0_5"/>
          <p:cNvSpPr/>
          <p:nvPr/>
        </p:nvSpPr>
        <p:spPr>
          <a:xfrm>
            <a:off x="9189720" y="4083978"/>
            <a:ext cx="777300" cy="6402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02aab02c1_0_5"/>
          <p:cNvSpPr/>
          <p:nvPr/>
        </p:nvSpPr>
        <p:spPr>
          <a:xfrm>
            <a:off x="9966960" y="4083978"/>
            <a:ext cx="777300" cy="6402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02aab02c1_0_5"/>
          <p:cNvSpPr/>
          <p:nvPr/>
        </p:nvSpPr>
        <p:spPr>
          <a:xfrm>
            <a:off x="10744200" y="4083978"/>
            <a:ext cx="777300" cy="640200"/>
          </a:xfrm>
          <a:prstGeom prst="rect">
            <a:avLst/>
          </a:prstGeom>
          <a:solidFill>
            <a:srgbClr val="F7FAFA"/>
          </a:solidFill>
          <a:ln cap="flat" cmpd="sng" w="9525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02aab02c1_0_5"/>
          <p:cNvSpPr/>
          <p:nvPr/>
        </p:nvSpPr>
        <p:spPr>
          <a:xfrm>
            <a:off x="6336792" y="4083978"/>
            <a:ext cx="2002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Wettkampf 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Veranstaltung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02aab02c1_0_5"/>
          <p:cNvSpPr/>
          <p:nvPr/>
        </p:nvSpPr>
        <p:spPr>
          <a:xfrm>
            <a:off x="8458200" y="408397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115 €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02aab02c1_0_5"/>
          <p:cNvSpPr/>
          <p:nvPr/>
        </p:nvSpPr>
        <p:spPr>
          <a:xfrm>
            <a:off x="9235440" y="408397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135 €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02aab02c1_0_5"/>
          <p:cNvSpPr/>
          <p:nvPr/>
        </p:nvSpPr>
        <p:spPr>
          <a:xfrm>
            <a:off x="10012680" y="408397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185 €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02aab02c1_0_5"/>
          <p:cNvSpPr/>
          <p:nvPr/>
        </p:nvSpPr>
        <p:spPr>
          <a:xfrm>
            <a:off x="10789920" y="408397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230 €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02aab02c1_0_5"/>
          <p:cNvSpPr/>
          <p:nvPr/>
        </p:nvSpPr>
        <p:spPr>
          <a:xfrm>
            <a:off x="6263640" y="4815498"/>
            <a:ext cx="5257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Abrechnung je belegter Bahn, unabhängig von der tatsächlichen Teilnehmerzahl. 50-m-Bahn = zwei 25-m-Bahnen. Bis 30 Min. halber Stundensatz.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02aab02c1_0_5"/>
          <p:cNvSpPr/>
          <p:nvPr/>
        </p:nvSpPr>
        <p:spPr>
          <a:xfrm>
            <a:off x="457200" y="6473952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02aab02c1_0_5"/>
          <p:cNvSpPr/>
          <p:nvPr/>
        </p:nvSpPr>
        <p:spPr>
          <a:xfrm>
            <a:off x="11247120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02aab02c1_0_5"/>
          <p:cNvSpPr/>
          <p:nvPr/>
        </p:nvSpPr>
        <p:spPr>
          <a:xfrm>
            <a:off x="640080" y="5445532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Erwartung nach Eröffnung des Kombibades (lauf</a:t>
            </a:r>
            <a:r>
              <a:rPr lang="en-US" sz="130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Mannheimer Morgen): Weitere Erhöhung der Sätze für die Benutzung des neuen Bades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0bc90a2ff_0_47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MINIMUM CASE · 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0bc90a2ff_0_47"/>
          <p:cNvSpPr/>
          <p:nvPr/>
        </p:nvSpPr>
        <p:spPr>
          <a:xfrm>
            <a:off x="548640" y="910262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Zukünftiger Betrieb: </a:t>
            </a:r>
            <a:b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Beispielszenario “Core Time”: Abendfenster 17-22 Uhr, 7 Tage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g3f0bc90a2ff_0_47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{6C988BFA-BC0C-49D6-9D9D-FE3516AEA57C}</a:tableStyleId>
              </a:tblPr>
              <a:tblGrid>
                <a:gridCol w="2834650"/>
                <a:gridCol w="1051550"/>
                <a:gridCol w="1051550"/>
                <a:gridCol w="1143000"/>
                <a:gridCol w="1691650"/>
                <a:gridCol w="1051550"/>
                <a:gridCol w="17830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Nutzergruppe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h/Tag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Bahnen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Tage/J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Bahnenstd/J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Tarif/h</a:t>
                      </a:r>
                      <a:r>
                        <a:rPr b="1" lang="en-US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Einnahmen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Vereine (ein einheitlicher Tarif für alle Vereine, ggfls auch 12€ Basis + 2€ pro Schwimmer ”pay as you go”)</a:t>
                      </a:r>
                      <a:endParaRPr sz="1300" u="none" cap="none" strike="noStrike">
                        <a:solidFill>
                          <a:srgbClr val="2433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rgbClr val="2433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A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72.000 €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Premium-Lane (Private, ambitionierte Schwimmer, die die Bahn vorbuchen, mit maximaler garantierter Belegung)</a:t>
                      </a:r>
                      <a:endParaRPr sz="1300" u="none" cap="none" strike="noStrike">
                        <a:solidFill>
                          <a:srgbClr val="2433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8€/h und Besucher</a:t>
                      </a:r>
                      <a:endParaRPr sz="1300" u="none" cap="none" strike="noStrike">
                        <a:solidFill>
                          <a:srgbClr val="24333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A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76.800 €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 Core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148.800 €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g3f0bc90a2ff_0_47"/>
          <p:cNvSpPr/>
          <p:nvPr/>
        </p:nvSpPr>
        <p:spPr>
          <a:xfrm>
            <a:off x="576425" y="4702938"/>
            <a:ext cx="10520400" cy="1644600"/>
          </a:xfrm>
          <a:prstGeom prst="roundRect">
            <a:avLst>
              <a:gd fmla="val 2791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0bc90a2ff_0_47"/>
          <p:cNvSpPr/>
          <p:nvPr/>
        </p:nvSpPr>
        <p:spPr>
          <a:xfrm>
            <a:off x="576425" y="4850050"/>
            <a:ext cx="1044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→ Prime Time Auslastung im Beispielszenario: 57 % </a:t>
            </a:r>
            <a:endParaRPr b="0" i="0" sz="160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6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Bei höherem Vereinsanteil muss die Bahnmiete für die Vereine höher liegen, bzw mehr Zeiten müssen vermietet sein!</a:t>
            </a:r>
            <a:endParaRPr b="1" i="0" sz="160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t/>
            </a:r>
            <a:endParaRPr b="1" sz="1600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50"/>
              <a:buFont typeface="Calibri"/>
              <a:buNone/>
            </a:pPr>
            <a:r>
              <a:rPr b="1" lang="en-US" sz="1600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Weitere Ideen (hier mit 0h noch nicht berücksichtigt): “Masterclass” (Hochwertiges Training &amp; Stilarten lernen für private ambitionierte Schwimmer mit gekauftem Trainer) </a:t>
            </a:r>
            <a:endParaRPr b="1" sz="1600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0bc90a2ff_0_47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0bc90a2ff_0_47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0bc90a2ff_0_68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MINIMUM CASE · UPSIDE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0bc90a2ff_0_68"/>
          <p:cNvSpPr/>
          <p:nvPr/>
        </p:nvSpPr>
        <p:spPr>
          <a:xfrm>
            <a:off x="548640" y="7772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Zukünftiger Betrieb: </a:t>
            </a: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Beispielszenario f</a:t>
            </a:r>
            <a:r>
              <a:rPr b="1" lang="en-US" sz="3000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ür die </a:t>
            </a: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Nebenzeiten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0bc90a2ff_0_68"/>
          <p:cNvSpPr/>
          <p:nvPr/>
        </p:nvSpPr>
        <p:spPr>
          <a:xfrm>
            <a:off x="548640" y="1371600"/>
            <a:ext cx="11064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Rahmen:  5 Bahnen  ·  300 Betriebstage  ·  190 Schultage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g3f0bc90a2ff_0_68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{6C988BFA-BC0C-49D6-9D9D-FE3516AEA57C}</a:tableStyleId>
              </a:tblPr>
              <a:tblGrid>
                <a:gridCol w="2834650"/>
                <a:gridCol w="1051550"/>
                <a:gridCol w="1051550"/>
                <a:gridCol w="1143000"/>
                <a:gridCol w="1691650"/>
                <a:gridCol w="1051550"/>
                <a:gridCol w="178307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Nutzergruppe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h/Tag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Bahnen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Tage/J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Bahnenstd/J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Tarif/h*Bahn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Einnahmen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5E68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Schwimmschulen &amp; Kurse, z.B. Nachmittag vor 17 Uhr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A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63.000 €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Öffentlich / Einzel (wenige Zeiten, z.B. nur am Wochenende, zB 5€/h Eintritt)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A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1.275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19.125 €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Seckenheimer Schulen (statt Transport per Bus nach Neckarau)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 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A6B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2.850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433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433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42.750 €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 </a:t>
                      </a:r>
                      <a:r>
                        <a:rPr b="1" lang="en-US" sz="1300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Nebenzeiten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68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5E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124.875 €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2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g3f0bc90a2ff_0_68"/>
          <p:cNvSpPr/>
          <p:nvPr/>
        </p:nvSpPr>
        <p:spPr>
          <a:xfrm>
            <a:off x="548650" y="4642000"/>
            <a:ext cx="11064300" cy="1578300"/>
          </a:xfrm>
          <a:prstGeom prst="roundRect">
            <a:avLst>
              <a:gd fmla="val 3529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0bc90a2ff_0_68"/>
          <p:cNvSpPr/>
          <p:nvPr/>
        </p:nvSpPr>
        <p:spPr>
          <a:xfrm>
            <a:off x="777250" y="4754872"/>
            <a:ext cx="10515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Tage/Jahr unterscheiden sich bewusst: </a:t>
            </a:r>
            <a:r>
              <a:rPr b="0" i="0" lang="en-US" sz="165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Schulen nur an 190 Schultagen, Öffentlich nur an ~85 Wochenend-/Nebenzeittagen — daher trotz voller Bahnenzahl weniger Jahresstunden.</a:t>
            </a:r>
            <a:endParaRPr b="0" i="0" sz="1650" u="none" cap="none" strike="noStrike">
              <a:solidFill>
                <a:srgbClr val="24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rgbClr val="2433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Weitere Ideen (hier mit 0h noch nicht berücksichtigt):  Reha/Gesundheit (z.B. Firmen BGM)</a:t>
            </a:r>
            <a:endParaRPr b="0" i="0" sz="16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0bc90a2ff_0_68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0bc90a2ff_0_68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0bc90a2ff_0_81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ERGEBNIS · MINIMUM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0bc90a2ff_0_81"/>
          <p:cNvSpPr/>
          <p:nvPr/>
        </p:nvSpPr>
        <p:spPr>
          <a:xfrm>
            <a:off x="548640" y="777240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Gesamtes Beispielszenario: Der laufende Betrieb trägt sich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0bc90a2ff_0_81"/>
          <p:cNvSpPr/>
          <p:nvPr/>
        </p:nvSpPr>
        <p:spPr>
          <a:xfrm>
            <a:off x="548640" y="1417320"/>
            <a:ext cx="110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Core deckt bereits 59 % der laufenden Kosten (inkl. Pacht); der Rest kommt aus den Nebenzeiten.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0bc90a2ff_0_81"/>
          <p:cNvSpPr/>
          <p:nvPr/>
        </p:nvSpPr>
        <p:spPr>
          <a:xfrm>
            <a:off x="548640" y="1965960"/>
            <a:ext cx="2651700" cy="960000"/>
          </a:xfrm>
          <a:prstGeom prst="roundRect">
            <a:avLst>
              <a:gd fmla="val 4762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0bc90a2ff_0_81"/>
          <p:cNvSpPr/>
          <p:nvPr/>
        </p:nvSpPr>
        <p:spPr>
          <a:xfrm>
            <a:off x="594360" y="2066544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11.925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0bc90a2ff_0_81"/>
          <p:cNvSpPr/>
          <p:nvPr/>
        </p:nvSpPr>
        <p:spPr>
          <a:xfrm>
            <a:off x="640080" y="256032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Bahnenstunden / Jahr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0bc90a2ff_0_81"/>
          <p:cNvSpPr/>
          <p:nvPr/>
        </p:nvSpPr>
        <p:spPr>
          <a:xfrm>
            <a:off x="3346704" y="1965960"/>
            <a:ext cx="2651700" cy="960000"/>
          </a:xfrm>
          <a:prstGeom prst="roundRect">
            <a:avLst>
              <a:gd fmla="val 4762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0bc90a2ff_0_81"/>
          <p:cNvSpPr/>
          <p:nvPr/>
        </p:nvSpPr>
        <p:spPr>
          <a:xfrm>
            <a:off x="3392424" y="2066544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50 %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0bc90a2ff_0_81"/>
          <p:cNvSpPr/>
          <p:nvPr/>
        </p:nvSpPr>
        <p:spPr>
          <a:xfrm>
            <a:off x="3438144" y="256032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Auslastung (auf Basis von max 24000h/J für 5 Bahnen, 16h/Tag, 300 Tage)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0bc90a2ff_0_81"/>
          <p:cNvSpPr/>
          <p:nvPr/>
        </p:nvSpPr>
        <p:spPr>
          <a:xfrm>
            <a:off x="6144768" y="1965960"/>
            <a:ext cx="2651700" cy="960000"/>
          </a:xfrm>
          <a:prstGeom prst="roundRect">
            <a:avLst>
              <a:gd fmla="val 4762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0bc90a2ff_0_81"/>
          <p:cNvSpPr/>
          <p:nvPr/>
        </p:nvSpPr>
        <p:spPr>
          <a:xfrm>
            <a:off x="6190488" y="2066544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23 €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0bc90a2ff_0_81"/>
          <p:cNvSpPr/>
          <p:nvPr/>
        </p:nvSpPr>
        <p:spPr>
          <a:xfrm>
            <a:off x="6236208" y="256032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Ø-Erlös / Bahnenstd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0bc90a2ff_0_81"/>
          <p:cNvSpPr/>
          <p:nvPr/>
        </p:nvSpPr>
        <p:spPr>
          <a:xfrm>
            <a:off x="8942832" y="1965960"/>
            <a:ext cx="2651700" cy="960000"/>
          </a:xfrm>
          <a:prstGeom prst="roundRect">
            <a:avLst>
              <a:gd fmla="val 4762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0bc90a2ff_0_81"/>
          <p:cNvSpPr/>
          <p:nvPr/>
        </p:nvSpPr>
        <p:spPr>
          <a:xfrm>
            <a:off x="8988552" y="2066544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273.675 €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0bc90a2ff_0_81"/>
          <p:cNvSpPr/>
          <p:nvPr/>
        </p:nvSpPr>
        <p:spPr>
          <a:xfrm>
            <a:off x="9034272" y="2560320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Gesamteinnahmen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0bc90a2ff_0_81"/>
          <p:cNvSpPr/>
          <p:nvPr/>
        </p:nvSpPr>
        <p:spPr>
          <a:xfrm>
            <a:off x="685800" y="3063240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Gesamteinnahmen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0bc90a2ff_0_81"/>
          <p:cNvSpPr/>
          <p:nvPr/>
        </p:nvSpPr>
        <p:spPr>
          <a:xfrm>
            <a:off x="5394960" y="3063240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273.675 €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0bc90a2ff_0_81"/>
          <p:cNvSpPr/>
          <p:nvPr/>
        </p:nvSpPr>
        <p:spPr>
          <a:xfrm>
            <a:off x="685800" y="3538728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− Laufende Kosten (Planwert)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0bc90a2ff_0_81"/>
          <p:cNvSpPr/>
          <p:nvPr/>
        </p:nvSpPr>
        <p:spPr>
          <a:xfrm>
            <a:off x="5394960" y="3538728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243.247 €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0bc90a2ff_0_81"/>
          <p:cNvSpPr/>
          <p:nvPr/>
        </p:nvSpPr>
        <p:spPr>
          <a:xfrm>
            <a:off x="685800" y="4014216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− Pacht (p.a.)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0bc90a2ff_0_81"/>
          <p:cNvSpPr/>
          <p:nvPr/>
        </p:nvSpPr>
        <p:spPr>
          <a:xfrm>
            <a:off x="5394960" y="4014216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10.000 €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0bc90a2ff_0_81"/>
          <p:cNvSpPr/>
          <p:nvPr/>
        </p:nvSpPr>
        <p:spPr>
          <a:xfrm>
            <a:off x="548640" y="4453128"/>
            <a:ext cx="6949500" cy="502800"/>
          </a:xfrm>
          <a:prstGeom prst="roundRect">
            <a:avLst>
              <a:gd fmla="val 9091" name="adj"/>
            </a:avLst>
          </a:prstGeom>
          <a:solidFill>
            <a:srgbClr val="F1F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0bc90a2ff_0_81"/>
          <p:cNvSpPr/>
          <p:nvPr/>
        </p:nvSpPr>
        <p:spPr>
          <a:xfrm>
            <a:off x="685800" y="4489704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= Betriebsergebnis vor Rücklage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0bc90a2ff_0_81"/>
          <p:cNvSpPr/>
          <p:nvPr/>
        </p:nvSpPr>
        <p:spPr>
          <a:xfrm>
            <a:off x="5394960" y="4489704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+ 20.428 €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0bc90a2ff_0_81"/>
          <p:cNvSpPr/>
          <p:nvPr/>
        </p:nvSpPr>
        <p:spPr>
          <a:xfrm>
            <a:off x="685800" y="4965192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− Investitionsrücklage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0bc90a2ff_0_81"/>
          <p:cNvSpPr/>
          <p:nvPr/>
        </p:nvSpPr>
        <p:spPr>
          <a:xfrm>
            <a:off x="5394960" y="4965192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50.000 €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0bc90a2ff_0_81"/>
          <p:cNvSpPr/>
          <p:nvPr/>
        </p:nvSpPr>
        <p:spPr>
          <a:xfrm>
            <a:off x="548640" y="5404104"/>
            <a:ext cx="6949500" cy="502800"/>
          </a:xfrm>
          <a:prstGeom prst="roundRect">
            <a:avLst>
              <a:gd fmla="val 9091" name="adj"/>
            </a:avLst>
          </a:prstGeom>
          <a:solidFill>
            <a:srgbClr val="F1F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0bc90a2ff_0_81"/>
          <p:cNvSpPr/>
          <p:nvPr/>
        </p:nvSpPr>
        <p:spPr>
          <a:xfrm>
            <a:off x="685800" y="5440680"/>
            <a:ext cx="4755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= Ergebnis nach Rücklage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0bc90a2ff_0_81"/>
          <p:cNvSpPr/>
          <p:nvPr/>
        </p:nvSpPr>
        <p:spPr>
          <a:xfrm>
            <a:off x="5394960" y="5440680"/>
            <a:ext cx="1965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732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B5732B"/>
                </a:solidFill>
                <a:latin typeface="Calibri"/>
                <a:ea typeface="Calibri"/>
                <a:cs typeface="Calibri"/>
                <a:sym typeface="Calibri"/>
              </a:rPr>
              <a:t>− 29.572 €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0bc90a2ff_0_81"/>
          <p:cNvSpPr/>
          <p:nvPr/>
        </p:nvSpPr>
        <p:spPr>
          <a:xfrm>
            <a:off x="7863840" y="3017520"/>
            <a:ext cx="3749100" cy="2743200"/>
          </a:xfrm>
          <a:prstGeom prst="roundRect">
            <a:avLst>
              <a:gd fmla="val 2667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4F8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0bc90a2ff_0_81"/>
          <p:cNvSpPr/>
          <p:nvPr/>
        </p:nvSpPr>
        <p:spPr>
          <a:xfrm>
            <a:off x="8138160" y="3200400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9DA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Einordnung</a:t>
            </a:r>
            <a:endParaRPr b="0" i="0" sz="150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0bc90a2ff_0_81"/>
          <p:cNvSpPr/>
          <p:nvPr/>
        </p:nvSpPr>
        <p:spPr>
          <a:xfrm>
            <a:off x="8138160" y="3611880"/>
            <a:ext cx="3246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Laufende Kosten inkl. Pacht gedeckt, </a:t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ca. +20.000 € Spielraum.</a:t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30.000 € im </a:t>
            </a:r>
            <a:r>
              <a:rPr lang="en-US" sz="1250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Beispielszenario </a:t>
            </a:r>
            <a:r>
              <a:rPr b="0" i="0" lang="en-US" sz="125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offen, um volle Rücklage zu generieren.</a:t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6EFF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Pacht mit 10.000 € als Verhandlungsvariable angesetzt (worst case)</a:t>
            </a:r>
            <a:endParaRPr b="0" i="0" sz="12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0bc90a2ff_0_81"/>
          <p:cNvSpPr/>
          <p:nvPr/>
        </p:nvSpPr>
        <p:spPr>
          <a:xfrm>
            <a:off x="548640" y="6053328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Masterclass, Reha und höhere Auslastung sind nicht eingerechnet — zusätzliche </a:t>
            </a:r>
            <a:r>
              <a:rPr i="1" lang="en-US" sz="1200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Opportunitäten</a:t>
            </a:r>
            <a:r>
              <a:rPr b="0" i="1" lang="en-US" sz="12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0bc90a2ff_0_81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0bc90a2ff_0_81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0bc90a2ff_0_120"/>
          <p:cNvSpPr/>
          <p:nvPr/>
        </p:nvSpPr>
        <p:spPr>
          <a:xfrm>
            <a:off x="548640" y="384679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FINANZIERUNG · JAHR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0bc90a2ff_0_120"/>
          <p:cNvSpPr/>
          <p:nvPr/>
        </p:nvSpPr>
        <p:spPr>
          <a:xfrm>
            <a:off x="548640" y="851141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Das erste Jahr: Keine Kredite, vorfinanziert über vertragliche Zusagen, Crowdfunding und Spenden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0bc90a2ff_0_120"/>
          <p:cNvSpPr/>
          <p:nvPr/>
        </p:nvSpPr>
        <p:spPr>
          <a:xfrm>
            <a:off x="6355075" y="2103124"/>
            <a:ext cx="5257800" cy="2681400"/>
          </a:xfrm>
          <a:prstGeom prst="roundRect">
            <a:avLst>
              <a:gd fmla="val 2286" name="adj"/>
            </a:avLst>
          </a:prstGeom>
          <a:solidFill>
            <a:srgbClr val="F1F5F6"/>
          </a:solidFill>
          <a:ln cap="flat" cmpd="sng" w="12700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0bc90a2ff_0_120"/>
          <p:cNvSpPr/>
          <p:nvPr/>
        </p:nvSpPr>
        <p:spPr>
          <a:xfrm>
            <a:off x="6629400" y="2286000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73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5732B"/>
                </a:solidFill>
                <a:latin typeface="Calibri"/>
                <a:ea typeface="Calibri"/>
                <a:cs typeface="Calibri"/>
                <a:sym typeface="Calibri"/>
              </a:rPr>
              <a:t>Einmaliges Startkapital &amp; Initiales Invest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0bc90a2ff_0_120"/>
          <p:cNvSpPr/>
          <p:nvPr/>
        </p:nvSpPr>
        <p:spPr>
          <a:xfrm>
            <a:off x="6675120" y="2834640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Gründung &amp; Recht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0bc90a2ff_0_120"/>
          <p:cNvSpPr/>
          <p:nvPr/>
        </p:nvSpPr>
        <p:spPr>
          <a:xfrm>
            <a:off x="9692640" y="2834640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10.000 €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0bc90a2ff_0_120"/>
          <p:cNvSpPr/>
          <p:nvPr/>
        </p:nvSpPr>
        <p:spPr>
          <a:xfrm>
            <a:off x="6675120" y="3346704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Duschen (Sanierung)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0bc90a2ff_0_120"/>
          <p:cNvSpPr/>
          <p:nvPr/>
        </p:nvSpPr>
        <p:spPr>
          <a:xfrm>
            <a:off x="9692640" y="3346704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0bc90a2ff_0_120"/>
          <p:cNvSpPr/>
          <p:nvPr/>
        </p:nvSpPr>
        <p:spPr>
          <a:xfrm>
            <a:off x="6675120" y="3858768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Wasserabdeckung (Schwimmfolie für weniger Energieverlust) oder Dachreparatur (Abdichtung Lichtkuppeln, …)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0bc90a2ff_0_120"/>
          <p:cNvSpPr/>
          <p:nvPr/>
        </p:nvSpPr>
        <p:spPr>
          <a:xfrm>
            <a:off x="9692640" y="3858768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20.000 €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g3f0bc90a2ff_0_120"/>
          <p:cNvCxnSpPr/>
          <p:nvPr/>
        </p:nvCxnSpPr>
        <p:spPr>
          <a:xfrm>
            <a:off x="6675120" y="4415921"/>
            <a:ext cx="4617600" cy="0"/>
          </a:xfrm>
          <a:prstGeom prst="straightConnector1">
            <a:avLst/>
          </a:prstGeom>
          <a:noFill/>
          <a:ln cap="flat" cmpd="sng" w="15225">
            <a:solidFill>
              <a:srgbClr val="D9E2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f0bc90a2ff_0_120"/>
          <p:cNvSpPr/>
          <p:nvPr/>
        </p:nvSpPr>
        <p:spPr>
          <a:xfrm>
            <a:off x="6675120" y="4370832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= Startkapital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0bc90a2ff_0_120"/>
          <p:cNvSpPr/>
          <p:nvPr/>
        </p:nvSpPr>
        <p:spPr>
          <a:xfrm>
            <a:off x="9692640" y="4370832"/>
            <a:ext cx="160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3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4333A"/>
                </a:solidFill>
                <a:latin typeface="Calibri"/>
                <a:ea typeface="Calibri"/>
                <a:cs typeface="Calibri"/>
                <a:sym typeface="Calibri"/>
              </a:rPr>
              <a:t>50.000 €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0bc90a2ff_0_120"/>
          <p:cNvSpPr/>
          <p:nvPr/>
        </p:nvSpPr>
        <p:spPr>
          <a:xfrm>
            <a:off x="54864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Hallenbad Seckenheim  ·  vertraulich  · 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0bc90a2ff_0_120"/>
          <p:cNvSpPr/>
          <p:nvPr/>
        </p:nvSpPr>
        <p:spPr>
          <a:xfrm>
            <a:off x="11274552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0bc90a2ff_0_120"/>
          <p:cNvSpPr/>
          <p:nvPr/>
        </p:nvSpPr>
        <p:spPr>
          <a:xfrm>
            <a:off x="548650" y="4896592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0bc90a2ff_0_120"/>
          <p:cNvSpPr/>
          <p:nvPr/>
        </p:nvSpPr>
        <p:spPr>
          <a:xfrm>
            <a:off x="777250" y="5061184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293.000 €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0bc90a2ff_0_120"/>
          <p:cNvSpPr/>
          <p:nvPr/>
        </p:nvSpPr>
        <p:spPr>
          <a:xfrm>
            <a:off x="795538" y="5664688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Zu  erzielende Einnahmen für das </a:t>
            </a:r>
            <a:endParaRPr b="1" i="0" sz="1350" u="none" cap="none" strike="noStrike">
              <a:solidFill>
                <a:srgbClr val="0F2E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erste Jahr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f0bc90a2ff_0_120"/>
          <p:cNvSpPr/>
          <p:nvPr/>
        </p:nvSpPr>
        <p:spPr>
          <a:xfrm>
            <a:off x="3566170" y="5399512"/>
            <a:ext cx="1965900" cy="3840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f0bc90a2ff_0_120"/>
          <p:cNvSpPr/>
          <p:nvPr/>
        </p:nvSpPr>
        <p:spPr>
          <a:xfrm>
            <a:off x="3536595" y="5423550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Zielbudget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g3f0bc90a2ff_0_120"/>
          <p:cNvSpPr/>
          <p:nvPr/>
        </p:nvSpPr>
        <p:spPr>
          <a:xfrm>
            <a:off x="548650" y="1840215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EAF2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0bc90a2ff_0_120"/>
          <p:cNvSpPr/>
          <p:nvPr/>
        </p:nvSpPr>
        <p:spPr>
          <a:xfrm>
            <a:off x="777250" y="2004807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243.000 €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0bc90a2ff_0_120"/>
          <p:cNvSpPr/>
          <p:nvPr/>
        </p:nvSpPr>
        <p:spPr>
          <a:xfrm>
            <a:off x="795538" y="2608311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Laufende Jahreskosten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f0bc90a2ff_0_120"/>
          <p:cNvSpPr/>
          <p:nvPr/>
        </p:nvSpPr>
        <p:spPr>
          <a:xfrm>
            <a:off x="3566170" y="2343135"/>
            <a:ext cx="1965900" cy="384000"/>
          </a:xfrm>
          <a:prstGeom prst="roundRect">
            <a:avLst>
              <a:gd fmla="val 50000" name="adj"/>
            </a:avLst>
          </a:prstGeom>
          <a:solidFill>
            <a:srgbClr val="2E8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0bc90a2ff_0_120"/>
          <p:cNvSpPr/>
          <p:nvPr/>
        </p:nvSpPr>
        <p:spPr>
          <a:xfrm>
            <a:off x="3566170" y="2343135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Planwert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0bc90a2ff_0_120"/>
          <p:cNvSpPr/>
          <p:nvPr/>
        </p:nvSpPr>
        <p:spPr>
          <a:xfrm>
            <a:off x="548650" y="3412983"/>
            <a:ext cx="5120700" cy="1371600"/>
          </a:xfrm>
          <a:prstGeom prst="roundRect">
            <a:avLst>
              <a:gd fmla="val 4667" name="adj"/>
            </a:avLst>
          </a:prstGeom>
          <a:solidFill>
            <a:srgbClr val="F4F8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0bc90a2ff_0_120"/>
          <p:cNvSpPr/>
          <p:nvPr/>
        </p:nvSpPr>
        <p:spPr>
          <a:xfrm>
            <a:off x="777250" y="3577575"/>
            <a:ext cx="274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066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E5066"/>
                </a:solidFill>
                <a:latin typeface="Cambria"/>
                <a:ea typeface="Cambria"/>
                <a:cs typeface="Cambria"/>
                <a:sym typeface="Cambria"/>
              </a:rPr>
              <a:t>~ 50.000 €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0bc90a2ff_0_120"/>
          <p:cNvSpPr/>
          <p:nvPr/>
        </p:nvSpPr>
        <p:spPr>
          <a:xfrm>
            <a:off x="795538" y="4181079"/>
            <a:ext cx="329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2E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2E3B"/>
                </a:solidFill>
                <a:latin typeface="Calibri"/>
                <a:ea typeface="Calibri"/>
                <a:cs typeface="Calibri"/>
                <a:sym typeface="Calibri"/>
              </a:rPr>
              <a:t>Reparaturen und Startkapital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0bc90a2ff_0_120"/>
          <p:cNvSpPr/>
          <p:nvPr/>
        </p:nvSpPr>
        <p:spPr>
          <a:xfrm>
            <a:off x="3566170" y="3915903"/>
            <a:ext cx="1965900" cy="384000"/>
          </a:xfrm>
          <a:prstGeom prst="roundRect">
            <a:avLst>
              <a:gd fmla="val 50000" name="adj"/>
            </a:avLst>
          </a:prstGeom>
          <a:solidFill>
            <a:srgbClr val="C984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f0bc90a2ff_0_120"/>
          <p:cNvSpPr/>
          <p:nvPr/>
        </p:nvSpPr>
        <p:spPr>
          <a:xfrm>
            <a:off x="3536610" y="3930683"/>
            <a:ext cx="19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zusätzlich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5E68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"/>
          <p:cNvSpPr/>
          <p:nvPr/>
        </p:nvSpPr>
        <p:spPr>
          <a:xfrm>
            <a:off x="640075" y="859383"/>
            <a:ext cx="10972800" cy="50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Gespräch mit dem FB51 (“Sport- und Bäderamt” am 17.06):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Vorschlag meinerseits für einen 2-stufigen Übergangs: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Initialer vorfinanzierter Weiterbetrieb ab 31.07. bis zur Öffnung des Kombibads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Voller Betrieb mit neuen Nutzergruppen am dem Zeitpunkt der Eröffnung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Bevorzugt Überlassung statt Pacht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seitens des FB51: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Konzept wird als machbar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angesehen</a:t>
            </a: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und es besteht</a:t>
            </a: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Interesse am Weiterbetrieb (auch beim OB)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Keine Interesse an Übergangsphase, direkter Übergang in das neue Konzept, z.B. zum 1.1.27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Weitere Überlassung müsste rechtlich geprüft werden, eher Interesse an Verpachtung (wg. Wegfall der Betreiberverantwortung)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-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Interne Abklärung zur Nachnutzung des Grundstückes für einen Mensabau für die Schule in der Nachbarschaft mit dem FB Bildung; erste Indikation ist, dass der FB Bildung mittelfristig bauen will (Erwartung 5 Jahre Überlassung/Pacht sollten gesichert möglich sein); finale Rückmeldung in ca 2 Wochen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FAHRPLAN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Zusätzliche Schritte bis zur möglichen Übernahme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40075" y="1600199"/>
            <a:ext cx="10881300" cy="1326000"/>
          </a:xfrm>
          <a:prstGeom prst="roundRect">
            <a:avLst>
              <a:gd fmla="val 4348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1508760" y="1596773"/>
            <a:ext cx="5943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Deckengutachten erneuern + Einschätzung Dachbelag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508760" y="2010064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Das Statikgutachten zur Abhangdecke gilt nur bis Ende 2026. Ein neues Gutachten ist zwingende Voraussetzung für den Betrieb 2027 — das erste und wichtigste To-do. Kostenpunkt ca 5000€, Vorlauf ca 6 Wochen bis zur Durchführung</a:t>
            </a:r>
            <a:endParaRPr b="0" i="0" sz="115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Einschätzung W. Traub vom 8.7.26: Zustand des Daches wahrscheinlich kritisch wegen Durchnässung, “Flicken” wird wahrscheinlich nicht reichen, sondern freilegen und neue Belegung (Kostenpunkt ca 200k). Exakter Zustand ist aber unbekannt, müsste durch Gutachten abgesichert werden</a:t>
            </a:r>
            <a:endParaRPr sz="1150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9601200" y="2185416"/>
            <a:ext cx="1737360" cy="429768"/>
          </a:xfrm>
          <a:prstGeom prst="roundRect">
            <a:avLst>
              <a:gd fmla="val 21277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9601200" y="2185416"/>
            <a:ext cx="1737360" cy="4297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K.-o.-Kriterium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40080" y="3035808"/>
            <a:ext cx="10881360" cy="1051560"/>
          </a:xfrm>
          <a:prstGeom prst="roundRect">
            <a:avLst>
              <a:gd fmla="val 4348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68680" y="3328416"/>
            <a:ext cx="457200" cy="45720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868680" y="33284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508750" y="3123493"/>
            <a:ext cx="7658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Bad sichern (Warmhalten/Einmotten); im Augenblick noch offizieller Shut-down zum 31.07.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1508760" y="3511296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Das Bad darf nicht unkontrolliert abgestellt werden  (Schimmel, Frost, Korrosion). Die geeignete Form — Warmhaltebetrieb oder fachgerechtes Einmotten — ist mit einem Gutachter/Fachmann festzulegen.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9601200" y="3346704"/>
            <a:ext cx="1737360" cy="429768"/>
          </a:xfrm>
          <a:prstGeom prst="roundRect">
            <a:avLst>
              <a:gd fmla="val 21277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9601200" y="3346704"/>
            <a:ext cx="1737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Sofort relevant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40080" y="4197096"/>
            <a:ext cx="10881360" cy="1051560"/>
          </a:xfrm>
          <a:prstGeom prst="roundRect">
            <a:avLst>
              <a:gd fmla="val 4348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868680" y="4489704"/>
            <a:ext cx="457200" cy="45720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868680" y="44897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508760" y="4315968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gUG gründen &amp; Vertrag mit Stadt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508760" y="4672584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Gesellschafter finden, </a:t>
            </a: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Gesellschaft gründen, Gemeinnützigkeit anerkennen lassen; parallel Überlassungsvertrag inkl. Haftung und Sicherungsphase mit der Stadt verhandeln.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9601200" y="4507992"/>
            <a:ext cx="1737360" cy="429768"/>
          </a:xfrm>
          <a:prstGeom prst="roundRect">
            <a:avLst>
              <a:gd fmla="val 21277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9601200" y="4507992"/>
            <a:ext cx="1737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40080" y="5358384"/>
            <a:ext cx="10881360" cy="1051560"/>
          </a:xfrm>
          <a:prstGeom prst="roundRect">
            <a:avLst>
              <a:gd fmla="val 4348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868680" y="5650992"/>
            <a:ext cx="457200" cy="45720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868680" y="56509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1508760" y="5477256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Technik, Förderung &amp; Zusagen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1508760" y="5833872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Energieberatung/Sanierungsfahrplan, Auslegung Wärmepumpe/Lüftung; KfW/BAFA vorbereite</a:t>
            </a:r>
            <a:r>
              <a:rPr lang="en-US" sz="115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9601200" y="5669280"/>
            <a:ext cx="1737360" cy="429768"/>
          </a:xfrm>
          <a:prstGeom prst="roundRect">
            <a:avLst>
              <a:gd fmla="val 21277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9601200" y="5669280"/>
            <a:ext cx="1737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Laufend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BEREITS IM GESPRÄCH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5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Bereits erfolgte Kontaktaufnahmen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"/>
          <p:cNvSpPr/>
          <p:nvPr/>
        </p:nvSpPr>
        <p:spPr>
          <a:xfrm>
            <a:off x="640080" y="1921119"/>
            <a:ext cx="3630300" cy="2743200"/>
          </a:xfrm>
          <a:prstGeom prst="roundRect">
            <a:avLst>
              <a:gd fmla="val 2000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"/>
          <p:cNvSpPr/>
          <p:nvPr/>
        </p:nvSpPr>
        <p:spPr>
          <a:xfrm>
            <a:off x="960120" y="2195439"/>
            <a:ext cx="299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Finanzierung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5"/>
          <p:cNvSpPr/>
          <p:nvPr/>
        </p:nvSpPr>
        <p:spPr>
          <a:xfrm>
            <a:off x="960120" y="2789799"/>
            <a:ext cx="29901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Volksbank — Erstgespräch geführt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Sparkasse — Erstgespräch geführt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Hopp Stiftung — angesprochen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"/>
          <p:cNvSpPr/>
          <p:nvPr/>
        </p:nvSpPr>
        <p:spPr>
          <a:xfrm>
            <a:off x="4453128" y="1921119"/>
            <a:ext cx="3630300" cy="2743200"/>
          </a:xfrm>
          <a:prstGeom prst="roundRect">
            <a:avLst>
              <a:gd fmla="val 2000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"/>
          <p:cNvSpPr/>
          <p:nvPr/>
        </p:nvSpPr>
        <p:spPr>
          <a:xfrm>
            <a:off x="4773168" y="2195439"/>
            <a:ext cx="299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Recht &amp; Gründung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"/>
          <p:cNvSpPr/>
          <p:nvPr/>
        </p:nvSpPr>
        <p:spPr>
          <a:xfrm>
            <a:off x="4773168" y="2789799"/>
            <a:ext cx="29901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CDE9E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Crowdfunding-Agentur — erstes Gespräch</a:t>
            </a:r>
            <a:endParaRPr b="0" i="0" sz="1300" u="none" cap="none" strike="noStrike">
              <a:solidFill>
                <a:srgbClr val="CDE9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CDE9E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Fachanwalt für Gesellschaftsrecht mit Vorerfahrung von Schwimmbadübernahmen</a:t>
            </a:r>
            <a:endParaRPr b="0" i="0" sz="1300" u="none" cap="none" strike="noStrike">
              <a:solidFill>
                <a:srgbClr val="CDE9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5"/>
          <p:cNvSpPr/>
          <p:nvPr/>
        </p:nvSpPr>
        <p:spPr>
          <a:xfrm>
            <a:off x="8266176" y="1921119"/>
            <a:ext cx="3630300" cy="2743200"/>
          </a:xfrm>
          <a:prstGeom prst="roundRect">
            <a:avLst>
              <a:gd fmla="val 2000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"/>
          <p:cNvSpPr/>
          <p:nvPr/>
        </p:nvSpPr>
        <p:spPr>
          <a:xfrm>
            <a:off x="8586216" y="2195439"/>
            <a:ext cx="299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Nutzer &amp; Betrieb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8586225" y="2606925"/>
            <a:ext cx="2990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Schwimmschule Ilvesheim (Swim2grow)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Cleverswim (Kevin)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TSG Seckenheim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Sport- und Bäderamt Mannheim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Ladenburg Triathlon (starkes Interesse, Wille mit einzusteigen und zu fördern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MTG Trias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→ Alle bekunden Interesse am Bad</a:t>
            </a:r>
            <a:endParaRPr b="0" i="0" sz="1300" u="none" cap="none" strike="noStrike">
              <a:solidFill>
                <a:srgbClr val="2634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655318" y="5101912"/>
            <a:ext cx="10881300" cy="960000"/>
          </a:xfrm>
          <a:prstGeom prst="roundRect">
            <a:avLst>
              <a:gd fmla="val 4762" name="adj"/>
            </a:avLst>
          </a:prstGeom>
          <a:solidFill>
            <a:srgbClr val="F2EEE4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929638" y="5076262"/>
            <a:ext cx="10332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Crowdfunding, bzw Stiftungen: </a:t>
            </a:r>
            <a:r>
              <a:rPr lang="en-US" sz="1700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Prüfen einen Förderantrag</a:t>
            </a:r>
            <a:r>
              <a:rPr b="0" i="0" lang="en-US" sz="17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 erst, wenn die Gemeinnützigkeit nachgewiesen ist.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WENN DAS CROWDFUNDING TRÄGT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Sanierung in sinnvoller Reihenfolge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Investiert wird schrittweise und nach Cashflow. Reihenfolge nach Wirkung und Aufwand — günstige Energie- und Substanzgewinne zuerst.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40080" y="2331720"/>
            <a:ext cx="10881360" cy="603504"/>
          </a:xfrm>
          <a:prstGeom prst="roundRect">
            <a:avLst>
              <a:gd fmla="val 6061" name="adj"/>
            </a:avLst>
          </a:prstGeom>
          <a:solidFill>
            <a:srgbClr val="F7FAFA"/>
          </a:solidFill>
          <a:ln cap="flat" cmpd="sng" w="12700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841248" y="2450592"/>
            <a:ext cx="365760" cy="36576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841248" y="24505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1371600" y="233172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Duschen erneuern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526280" y="2331720"/>
            <a:ext cx="5120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Heute nur 6 von 20 funktionsfähig — direkter Komfort- und Hygienegewinn und wichtig für die Akzeptanz.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9829800" y="2450592"/>
            <a:ext cx="1508760" cy="365760"/>
          </a:xfrm>
          <a:prstGeom prst="roundRect">
            <a:avLst>
              <a:gd fmla="val 20000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9829800" y="2450592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geschätzt  20.000 €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40080" y="3026664"/>
            <a:ext cx="10881360" cy="603504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841248" y="3145536"/>
            <a:ext cx="365760" cy="36576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841248" y="31455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1371600" y="3026664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Abdeckfolie fürs Becken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526280" y="3026664"/>
            <a:ext cx="5120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Reduziert nächtliche Wärme- und Verdunstungsverluste — Wichtig für den Start im Winter (22k€/Monat vs 15k€ im Sommer)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9829800" y="3145536"/>
            <a:ext cx="1508760" cy="365760"/>
          </a:xfrm>
          <a:prstGeom prst="roundRect">
            <a:avLst>
              <a:gd fmla="val 20000" name="adj"/>
            </a:avLst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9829800" y="3145536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geschätzt  20.000 €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640080" y="3721608"/>
            <a:ext cx="10881360" cy="603504"/>
          </a:xfrm>
          <a:prstGeom prst="roundRect">
            <a:avLst>
              <a:gd fmla="val 6061" name="adj"/>
            </a:avLst>
          </a:prstGeom>
          <a:solidFill>
            <a:srgbClr val="F7FAFA"/>
          </a:solidFill>
          <a:ln cap="flat" cmpd="sng" w="12700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841248" y="3840480"/>
            <a:ext cx="365760" cy="36576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841248" y="3840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1371600" y="3721608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Dach-/Lichtkuppelabdichtung</a:t>
            </a:r>
            <a:endParaRPr b="0" i="0" sz="13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4526275" y="3603351"/>
            <a:ext cx="5120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Einschätzung W. Traub vom 8.7.26: Zustand des Daches wahrscheinlich kritisch wegen Durchnässung, “Flicken” wird wahrscheinlich nicht reichen, sondern freilegen und neue Belegung (Kostenpunkt ca 200k). Exakter Zustand ist aber unbekannt, müsste durch Gutachten abgesichert werden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9829800" y="3840480"/>
            <a:ext cx="1508760" cy="365760"/>
          </a:xfrm>
          <a:prstGeom prst="roundRect">
            <a:avLst>
              <a:gd fmla="val 20000" name="adj"/>
            </a:avLst>
          </a:prstGeom>
          <a:solidFill>
            <a:srgbClr val="F2E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9829800" y="3840480"/>
            <a:ext cx="1508760" cy="3657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4F8FA"/>
                </a:solidFill>
                <a:latin typeface="Calibri"/>
                <a:ea typeface="Calibri"/>
                <a:cs typeface="Calibri"/>
                <a:sym typeface="Calibri"/>
              </a:rPr>
              <a:t>Direkt zu addressieren</a:t>
            </a:r>
            <a:endParaRPr b="0" i="0" sz="1050" u="none" cap="none" strike="noStrike">
              <a:solidFill>
                <a:srgbClr val="F4F8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640080" y="4416552"/>
            <a:ext cx="10881360" cy="603504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841248" y="4535424"/>
            <a:ext cx="365760" cy="36576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841248" y="45354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1371600" y="441655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Becken folieren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4526280" y="4416552"/>
            <a:ext cx="5120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Bessere Abdichtung des Beckenkörpers, Vermeidung von Wasserverlust und Folgeschäden. Nicht sofort, aber als priorisierte Maßnahme in den Folgejahren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9829800" y="4535424"/>
            <a:ext cx="1508760" cy="365760"/>
          </a:xfrm>
          <a:prstGeom prst="roundRect">
            <a:avLst>
              <a:gd fmla="val 20000" name="adj"/>
            </a:avLst>
          </a:prstGeom>
          <a:solidFill>
            <a:srgbClr val="F2E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9829800" y="4535424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n. Bewertung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640080" y="5111496"/>
            <a:ext cx="10881360" cy="603504"/>
          </a:xfrm>
          <a:prstGeom prst="roundRect">
            <a:avLst>
              <a:gd fmla="val 6061" name="adj"/>
            </a:avLst>
          </a:prstGeom>
          <a:solidFill>
            <a:srgbClr val="F7FAFA"/>
          </a:solidFill>
          <a:ln cap="flat" cmpd="sng" w="12700">
            <a:solidFill>
              <a:srgbClr val="E4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841248" y="5230368"/>
            <a:ext cx="365760" cy="36576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841248" y="5230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1371600" y="5111496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Energetische Sanierung (Tranchen)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4526280" y="5111496"/>
            <a:ext cx="51206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Wärmepumpe/Lüftung mit Wärmerückgewinnung, schrittweise; Kessel zuletzt. Über KfW/BAFA gefördert.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9829800" y="5230368"/>
            <a:ext cx="1508760" cy="365760"/>
          </a:xfrm>
          <a:prstGeom prst="roundRect">
            <a:avLst>
              <a:gd fmla="val 20000" name="adj"/>
            </a:avLst>
          </a:prstGeom>
          <a:solidFill>
            <a:srgbClr val="F2E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9829800" y="5230368"/>
            <a:ext cx="1508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A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07A3C"/>
                </a:solidFill>
                <a:latin typeface="Calibri"/>
                <a:ea typeface="Calibri"/>
                <a:cs typeface="Calibri"/>
                <a:sym typeface="Calibri"/>
              </a:rPr>
              <a:t>tranchiert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TRÄGERMODELL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Betriebsmodell: Gemeinnützige Gesellschaft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"/>
          <p:cNvSpPr/>
          <p:nvPr/>
        </p:nvSpPr>
        <p:spPr>
          <a:xfrm>
            <a:off x="640080" y="1588179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Träger ist eine gemeinnützige Gesellschaft — als gUG (haftungsbeschränkt) gegründet, später in eine gGmbH umgewandelt. Sie übernimmt Betrieb, Personal und Betreiberhaftung und trägt sämtliche Betriebskosten. Überschüsse fließen vollständig in Erhalt und Verbesserung des Bades zurück. </a:t>
            </a:r>
            <a:endParaRPr b="0" i="0" sz="1500" u="none" cap="none" strike="noStrike">
              <a:solidFill>
                <a:srgbClr val="60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Durch die Gemeinnützigkeit werden Spenden möglich und die USt verringert sich, dafür können niemals Gewinne abgeführt werden.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640080" y="2743200"/>
            <a:ext cx="3630168" cy="3108960"/>
          </a:xfrm>
          <a:prstGeom prst="roundRect">
            <a:avLst>
              <a:gd fmla="val 1765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"/>
          <p:cNvSpPr/>
          <p:nvPr/>
        </p:nvSpPr>
        <p:spPr>
          <a:xfrm>
            <a:off x="1005840" y="3154680"/>
            <a:ext cx="640080" cy="640080"/>
          </a:xfrm>
          <a:prstGeom prst="ellipse">
            <a:avLst/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"/>
          <p:cNvSpPr/>
          <p:nvPr/>
        </p:nvSpPr>
        <p:spPr>
          <a:xfrm>
            <a:off x="1005840" y="3977640"/>
            <a:ext cx="2898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gUG / gGmbH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"/>
          <p:cNvSpPr/>
          <p:nvPr/>
        </p:nvSpPr>
        <p:spPr>
          <a:xfrm>
            <a:off x="1005840" y="4800600"/>
            <a:ext cx="28986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FE0D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FE0DC"/>
                </a:solidFill>
                <a:latin typeface="Calibri"/>
                <a:ea typeface="Calibri"/>
                <a:cs typeface="Calibri"/>
                <a:sym typeface="Calibri"/>
              </a:rPr>
              <a:t>Operativer Betrieb, Anstellung des Personals, Betreiberhaftung, Vermietung der Bahnenzeiten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"/>
          <p:cNvSpPr/>
          <p:nvPr/>
        </p:nvSpPr>
        <p:spPr>
          <a:xfrm>
            <a:off x="4453128" y="2743200"/>
            <a:ext cx="3630168" cy="3108960"/>
          </a:xfrm>
          <a:prstGeom prst="roundRect">
            <a:avLst>
              <a:gd fmla="val 1765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"/>
          <p:cNvSpPr/>
          <p:nvPr/>
        </p:nvSpPr>
        <p:spPr>
          <a:xfrm>
            <a:off x="4818888" y="3154680"/>
            <a:ext cx="640080" cy="64008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"/>
          <p:cNvSpPr/>
          <p:nvPr/>
        </p:nvSpPr>
        <p:spPr>
          <a:xfrm>
            <a:off x="4818888" y="3977640"/>
            <a:ext cx="2898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Vereine &amp; Schwimm-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gemeinschaft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"/>
          <p:cNvSpPr/>
          <p:nvPr/>
        </p:nvSpPr>
        <p:spPr>
          <a:xfrm>
            <a:off x="4818888" y="4800600"/>
            <a:ext cx="28986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Feste Wasserzeiten, Mitwirkung, Ehrenamt; ggf. Förderverein für Spenden und Engagement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"/>
          <p:cNvSpPr/>
          <p:nvPr/>
        </p:nvSpPr>
        <p:spPr>
          <a:xfrm>
            <a:off x="8266176" y="2743200"/>
            <a:ext cx="3630168" cy="3108960"/>
          </a:xfrm>
          <a:prstGeom prst="roundRect">
            <a:avLst>
              <a:gd fmla="val 1765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"/>
          <p:cNvSpPr/>
          <p:nvPr/>
        </p:nvSpPr>
        <p:spPr>
          <a:xfrm>
            <a:off x="8631936" y="3154680"/>
            <a:ext cx="640080" cy="64008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"/>
          <p:cNvSpPr/>
          <p:nvPr/>
        </p:nvSpPr>
        <p:spPr>
          <a:xfrm>
            <a:off x="8631936" y="3977640"/>
            <a:ext cx="28986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Stadt Mannheim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"/>
          <p:cNvSpPr/>
          <p:nvPr/>
        </p:nvSpPr>
        <p:spPr>
          <a:xfrm>
            <a:off x="8631936" y="4638018"/>
            <a:ext cx="289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Keine laufenden Kosten, entweder Überlassung (mit Resthaftung der Stadt, bevorzugt) oder Pacht </a:t>
            </a:r>
            <a:b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— Erhalt des Schwimmstandorts im Stadtteil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34cdd2f74_0_0"/>
          <p:cNvSpPr/>
          <p:nvPr/>
        </p:nvSpPr>
        <p:spPr>
          <a:xfrm>
            <a:off x="64008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RECHTSFORM &amp; HAFTUNG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34cdd2f74_0_0"/>
          <p:cNvSpPr/>
          <p:nvPr/>
        </p:nvSpPr>
        <p:spPr>
          <a:xfrm>
            <a:off x="640080" y="777240"/>
            <a:ext cx="10881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Gründung der gUG/gGmbH </a:t>
            </a:r>
            <a:b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(Genaue Durchsprache mit Fachanwalt steht noch aus)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34cdd2f74_0_0"/>
          <p:cNvSpPr/>
          <p:nvPr/>
        </p:nvSpPr>
        <p:spPr>
          <a:xfrm>
            <a:off x="640080" y="1783080"/>
            <a:ext cx="5349300" cy="4343400"/>
          </a:xfrm>
          <a:prstGeom prst="roundRect">
            <a:avLst>
              <a:gd fmla="val 1053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f34cdd2f74_0_0"/>
          <p:cNvSpPr/>
          <p:nvPr/>
        </p:nvSpPr>
        <p:spPr>
          <a:xfrm>
            <a:off x="914400" y="201168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6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5E68"/>
                </a:solidFill>
                <a:latin typeface="Calibri"/>
                <a:ea typeface="Calibri"/>
                <a:cs typeface="Calibri"/>
                <a:sym typeface="Calibri"/>
              </a:rPr>
              <a:t>Der Weg: gUG als Einstieg, gGmbH später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34cdd2f74_0_0"/>
          <p:cNvSpPr/>
          <p:nvPr/>
        </p:nvSpPr>
        <p:spPr>
          <a:xfrm>
            <a:off x="914400" y="2487168"/>
            <a:ext cx="484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gUG (haftungsbeschränkt)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Gemeinnützige Variante der UG — gründbar ab 1 € Stammkapital, kapitalschonend zum Start. Pflicht zur jährlichen Rücklage, (nach Ertragslage) bis 25.000 € erreicht sind.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34cdd2f74_0_0"/>
          <p:cNvSpPr/>
          <p:nvPr/>
        </p:nvSpPr>
        <p:spPr>
          <a:xfrm>
            <a:off x="914400" y="3520440"/>
            <a:ext cx="4846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Umwandlung in gGmbH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Bei Erreichen der 25.000 € unkompliziert in die gGmbH wechselbar — gleiche Gemeinnützigkeit, mehr Standing nach außen.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34cdd2f74_0_0"/>
          <p:cNvSpPr/>
          <p:nvPr/>
        </p:nvSpPr>
        <p:spPr>
          <a:xfrm>
            <a:off x="914400" y="4434840"/>
            <a:ext cx="4846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Vorzeitige Abwicklung (auch vor 25.000 €)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Wenn wieder abgewickelt werden muss, bevor die 25.000 € erreicht sind, gibt es KEINE Nachschusspflicht — die 25.000 € sind nur eine Ansparpflicht aus Gewinnen, kein geschuldetes Kapital. Abgewickelt wird mit dem, was da ist: offene Rechnungen zuerst, ein Rest geht an einen gemeinnützigen Zweck. Das Privatvermögen bleibt geschützt, solange keine privaten Bürgschaften bestehen und rechtzeitig abgewickelt wird.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g3f34cdd2f74_0_0"/>
          <p:cNvSpPr/>
          <p:nvPr/>
        </p:nvSpPr>
        <p:spPr>
          <a:xfrm>
            <a:off x="6172200" y="1783080"/>
            <a:ext cx="5349300" cy="4343400"/>
          </a:xfrm>
          <a:prstGeom prst="roundRect">
            <a:avLst>
              <a:gd fmla="val 1053" name="adj"/>
            </a:avLst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34cdd2f74_0_0"/>
          <p:cNvSpPr/>
          <p:nvPr/>
        </p:nvSpPr>
        <p:spPr>
          <a:xfrm>
            <a:off x="6446520" y="2011680"/>
            <a:ext cx="484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Haftung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34cdd2f74_0_0"/>
          <p:cNvSpPr/>
          <p:nvPr/>
        </p:nvSpPr>
        <p:spPr>
          <a:xfrm>
            <a:off x="6446520" y="2514600"/>
            <a:ext cx="4846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Grundsatz: </a:t>
            </a:r>
            <a:r>
              <a:rPr b="0" i="0" lang="en-US" sz="15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Die Gesellschaft schützt das Privatvermögen. Für normale Betriebsschulden haftet nur die gUG/gGmbH, nicht die Gesellschafter persönlich.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34cdd2f74_0_0"/>
          <p:cNvSpPr/>
          <p:nvPr/>
        </p:nvSpPr>
        <p:spPr>
          <a:xfrm>
            <a:off x="6446525" y="3960850"/>
            <a:ext cx="48462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Pflichten: </a:t>
            </a:r>
            <a:r>
              <a:rPr b="0" i="0" lang="en-US" sz="15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Aufsicht ordentlich organisieren, Steuern/Abgaben abführen, bei Zahlungsunfähigkeit rechtzeitig handeln. Personen-/Sachschäden im Bad deckt die Betriebshaftpflicht, Vermögensschäden die D&amp;O.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34cdd2f74_0_0"/>
          <p:cNvSpPr/>
          <p:nvPr/>
        </p:nvSpPr>
        <p:spPr>
          <a:xfrm>
            <a:off x="457200" y="6473952"/>
            <a:ext cx="960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34cdd2f74_0_0"/>
          <p:cNvSpPr/>
          <p:nvPr/>
        </p:nvSpPr>
        <p:spPr>
          <a:xfrm>
            <a:off x="11247120" y="647395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9A9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9A9B"/>
                </a:solidFill>
                <a:latin typeface="Calibri"/>
                <a:ea typeface="Calibri"/>
                <a:cs typeface="Calibri"/>
                <a:sym typeface="Calibri"/>
              </a:rPr>
              <a:t>PERSONAL &amp; AUFSICHT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Angestrebte Personelle Betreuung für den Betrieb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Zusätzliche Aufsichtsbedarfe werden über Kooperationen, bzw Schlüsselbetrieb gedeckt, nicht über neue Festanstellungen.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640080" y="2606040"/>
            <a:ext cx="3630168" cy="3291840"/>
          </a:xfrm>
          <a:prstGeom prst="roundRect">
            <a:avLst>
              <a:gd fmla="val 1667" name="adj"/>
            </a:avLst>
          </a:prstGeom>
          <a:solidFill>
            <a:srgbClr val="2E5E68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5E9A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96012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960120" y="365760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Bestehendes Bad-Team übernehmen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960120" y="443484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DE9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Die heutigen Mitarbeitenden </a:t>
            </a:r>
            <a:r>
              <a:rPr lang="en-US" sz="1200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haben geäußert, dass sie auch weiterhin in Seckenheim arbeiten würden</a:t>
            </a:r>
            <a:r>
              <a:rPr b="0" i="0" lang="en-US" sz="1200" u="none" cap="none" strike="noStrike">
                <a:solidFill>
                  <a:srgbClr val="CDE9E6"/>
                </a:solidFill>
                <a:latin typeface="Calibri"/>
                <a:ea typeface="Calibri"/>
                <a:cs typeface="Calibri"/>
                <a:sym typeface="Calibri"/>
              </a:rPr>
              <a:t>— sie kennen Technik, Abläufe und Vereine. Kein Bedarf an neuem Stammpersonal zum Start.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4453128" y="2606040"/>
            <a:ext cx="3630168" cy="3291840"/>
          </a:xfrm>
          <a:prstGeom prst="roundRect">
            <a:avLst>
              <a:gd fmla="val 1667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4773168" y="2971800"/>
            <a:ext cx="502920" cy="50292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4773168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4773168" y="365760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DLRG-Kooperation für Aufsicht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4773168" y="443484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Für betreute Zeiten (z. B. ambitionierte Privatschwimmer) Rettungsschwimmer-Abdeckung über die DLRG: freie bzw. vergünstigte Schwimmzeiten im Gegenzug für Aufsichtshilfe. Modell noch zu definieren.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8266176" y="2606040"/>
            <a:ext cx="3630168" cy="3291840"/>
          </a:xfrm>
          <a:prstGeom prst="roundRect">
            <a:avLst>
              <a:gd fmla="val 1667" name="adj"/>
            </a:avLst>
          </a:prstGeom>
          <a:solidFill>
            <a:srgbClr val="EEF4F3"/>
          </a:solidFill>
          <a:ln cap="flat" cmpd="sng" w="12700">
            <a:solidFill>
              <a:srgbClr val="DCE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8586216" y="2971800"/>
            <a:ext cx="502920" cy="502920"/>
          </a:xfrm>
          <a:prstGeom prst="ellipse">
            <a:avLst/>
          </a:prstGeom>
          <a:solidFill>
            <a:srgbClr val="2E5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8586216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8586216" y="3657600"/>
            <a:ext cx="299008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Vereine— Zeit und Kostenreduktion gegen Engagement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8586216" y="4434840"/>
            <a:ext cx="29900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Reduzierte Bahnen-/Schwimmschulsätze gegen ehrenamtliche Stunden am Beckenrand. Senkt Personalkosten und bindet die Vereine ein. Noch nicht final.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Offene Punkte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40080" y="1828800"/>
            <a:ext cx="3520440" cy="1783080"/>
          </a:xfrm>
          <a:prstGeom prst="roundRect">
            <a:avLst>
              <a:gd fmla="val 3077" name="adj"/>
            </a:avLst>
          </a:prstGeom>
          <a:solidFill>
            <a:srgbClr val="EEF4F3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896112" y="2084832"/>
            <a:ext cx="292608" cy="292608"/>
          </a:xfrm>
          <a:prstGeom prst="ellipse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1325880" y="202996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Bausubstanz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5"/>
          <p:cNvSpPr/>
          <p:nvPr/>
        </p:nvSpPr>
        <p:spPr>
          <a:xfrm>
            <a:off x="914400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Deckengutachten, Dachzustand (teils Feuchteschäden) und Technik müssen fachlich neu bewertet werden, bevor verbindlich geplant wird.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4361688" y="1828800"/>
            <a:ext cx="3520440" cy="1783080"/>
          </a:xfrm>
          <a:prstGeom prst="roundRect">
            <a:avLst>
              <a:gd fmla="val 3077" name="adj"/>
            </a:avLst>
          </a:prstGeom>
          <a:solidFill>
            <a:srgbClr val="EEF4F3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4617720" y="2084832"/>
            <a:ext cx="292608" cy="292608"/>
          </a:xfrm>
          <a:prstGeom prst="ellipse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5047488" y="202996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Warmhaltebetrieb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4636008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Zwischen Betriebsende und Übernahme darf das Bad nicht auskühlen. Kostentragung dieser Phase ist mit der Stadt zu klären.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8083296" y="1828800"/>
            <a:ext cx="3520440" cy="1783080"/>
          </a:xfrm>
          <a:prstGeom prst="roundRect">
            <a:avLst>
              <a:gd fmla="val 3077" name="adj"/>
            </a:avLst>
          </a:prstGeom>
          <a:solidFill>
            <a:srgbClr val="EEF4F3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8339328" y="2084832"/>
            <a:ext cx="292608" cy="292608"/>
          </a:xfrm>
          <a:prstGeom prst="ellipse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8769096" y="202996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Grundstück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357616" y="2487168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Die Stadt prüft die Langfristnutzung (mögliche Mensa für die Nachbarschule). Vertragsbasis hängt vom Ergebnis ab.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640080" y="3813048"/>
            <a:ext cx="3520440" cy="1783080"/>
          </a:xfrm>
          <a:prstGeom prst="roundRect">
            <a:avLst>
              <a:gd fmla="val 3077" name="adj"/>
            </a:avLst>
          </a:prstGeom>
          <a:solidFill>
            <a:schemeClr val="accent4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896112" y="4069080"/>
            <a:ext cx="292608" cy="2926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1325880" y="401421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Mitgesellschafter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914400" y="4471416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3-4 Gesellschafter als Zielwert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4361688" y="3813048"/>
            <a:ext cx="3520440" cy="1783080"/>
          </a:xfrm>
          <a:prstGeom prst="roundRect">
            <a:avLst>
              <a:gd fmla="val 3077" name="adj"/>
            </a:avLst>
          </a:prstGeom>
          <a:solidFill>
            <a:srgbClr val="EEF4F3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4617720" y="4069080"/>
            <a:ext cx="292608" cy="292608"/>
          </a:xfrm>
          <a:prstGeom prst="ellipse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5047488" y="401421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Upfront-Kosten vor Crowdfunding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4636008" y="4471416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Gründung der gUG, Deckengutachten und Sicherung des Bades fallen an, bevor Crowdfunding-Mittel fließen. Diese Anschubfinanzierung muss vorab geklärt sein.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8083296" y="3813048"/>
            <a:ext cx="3520440" cy="1783080"/>
          </a:xfrm>
          <a:prstGeom prst="roundRect">
            <a:avLst>
              <a:gd fmla="val 3077" name="adj"/>
            </a:avLst>
          </a:prstGeom>
          <a:solidFill>
            <a:srgbClr val="EEF4F3"/>
          </a:solidFill>
          <a:ln cap="flat" cmpd="sng" w="12700">
            <a:solidFill>
              <a:srgbClr val="E3D6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8339328" y="4069080"/>
            <a:ext cx="292608" cy="292608"/>
          </a:xfrm>
          <a:prstGeom prst="ellipse">
            <a:avLst/>
          </a:prstGeom>
          <a:solidFill>
            <a:srgbClr val="B07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8769096" y="4014216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43A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26343A"/>
                </a:solidFill>
                <a:latin typeface="Calibri"/>
                <a:ea typeface="Calibri"/>
                <a:cs typeface="Calibri"/>
                <a:sym typeface="Calibri"/>
              </a:rPr>
              <a:t>Vorfinanzierung des ersten Jahres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357616" y="4471416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Verbindliche Vermietungen, Spenden Committments, Geld für Reparaturen, …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Hallenbad Seckenheim · Sachstand · vertraulich · Juni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0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07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2026-06-30T17:18:51Z</dcterms:created>
  <dc:creator>Hallenbad Seckenheim Initiative</dc:creator>
</cp:coreProperties>
</file>