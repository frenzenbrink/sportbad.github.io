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5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ln w="19050">
            <a:solidFill>
              <a:srgbClr val="5E9A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640080"/>
            <a:ext cx="3108960" cy="3108960"/>
          </a:xfrm>
          <a:prstGeom prst="ellipse">
            <a:avLst/>
          </a:prstGeom>
          <a:ln w="19050">
            <a:solidFill>
              <a:srgbClr val="7BB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0"/>
            <a:ext cx="1828800" cy="1828800"/>
          </a:xfrm>
          <a:prstGeom prst="ellipse">
            <a:avLst/>
          </a:prstGeom>
          <a:solidFill>
            <a:srgbClr val="5E9A9B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B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SACHSTAND · INTERNE RUNDE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Schwimmbetrieb selbst weiterführen — wo wir stehen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nach dem Gespräch mit dem Sport- und Bäderamt der Stadt Mannheim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Runde mit Masters und weiteren Interessierten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2026 · vertraulich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es geht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Stadt Mannheim beabsichtigt, den Betrieb des Hallenbads Seckenheim zum 31. Juli einzustellen.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Konzept zeigt einen Weg, den Schwimmstandort über eine gemeinnützige Trägerschaft fortzuführen — finanziert durch die Schwimmgemeinschaft vor Ort, ohne dauerhafte kommunale Betriebszuschüsse.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60920" y="17373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19202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~50.000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46920" y="17373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Besuche pro Jahr (2025)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60920" y="3172968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335584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~245.000 €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46920" y="317296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laufende Jahreskosten (belegt)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60920" y="4608576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35240" y="479145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646920" y="4608576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bisheriger Kostendeckungsgrad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WICHTIGSTE UPDATE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Übergangsbetrieb — direkte Übernahme zum 01.01.2027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5E9A9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2423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sich geändert hat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788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Stadt lehnt eine vorgelagerte Übergangsphase (Pilot/Crowdfunding über den Winter) ab. Sie möchte die bereits geplante Unterbringung der Vereine nicht erneut aufrollen.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5E9A9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neue Zielpunkt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41148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Direkter Einstieg in das dauerhafte Betreibermodell zum 1. Januar 2027 — mit vollständig stehendem Konzept, ohne Zwischenstufe.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138928"/>
            <a:ext cx="457200" cy="457200"/>
          </a:xfrm>
          <a:prstGeom prst="ellipse">
            <a:avLst/>
          </a:prstGeom>
          <a:solidFill>
            <a:srgbClr val="5E9A9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für uns heißt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Plan, Rechtsform, Finanzierung und Genehmigungsstatus müssen zum Stichtag fertig sein. Mehr Vorbereitungsdruck, aber auch ein klarer, planbarer Starttermin.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TRÄGERMODELL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Gemeinnützig und ohne kommunales Risiko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Träger ist eine gemeinnützige Gesellschaft — als gUG (haftungsbeschränkt) gegründet, später in eine gGmbH umgewandelt. Sie übernimmt Betrieb, Personal und Betreiberhaftung und trägt sämtliche Betriebskosten. Überschüsse fließen vollständig in Erhalt und Verbesserung des Bades zurück.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630168" cy="3108960"/>
          </a:xfrm>
          <a:prstGeom prst="roundRect">
            <a:avLst>
              <a:gd name="adj" fmla="val 1765"/>
            </a:avLst>
          </a:prstGeom>
          <a:solidFill>
            <a:srgbClr val="2E5E68"/>
          </a:solidFill>
          <a:ln w="12700">
            <a:solidFill>
              <a:srgbClr val="DCE9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3154680"/>
            <a:ext cx="640080" cy="640080"/>
          </a:xfrm>
          <a:prstGeom prst="ellipse">
            <a:avLst/>
          </a:prstGeom>
          <a:solidFill>
            <a:srgbClr val="5E9A9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97764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gUG / gGmbH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480060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Operativer Betrieb, Anstellung des Personals, Betreiberhaftung, Vermietung der Bahnenzeiten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53128" y="2743200"/>
            <a:ext cx="3630168" cy="3108960"/>
          </a:xfrm>
          <a:prstGeom prst="roundRect">
            <a:avLst>
              <a:gd name="adj" fmla="val 1765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3154680"/>
            <a:ext cx="640080" cy="64008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397764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 &amp; Schwimm-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gemeinschaft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18888" y="480060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 Wasserzeiten, Mitwirkung, Ehrenamt; ggf. Förderverein für Spenden und Engagement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66176" y="2743200"/>
            <a:ext cx="3630168" cy="3108960"/>
          </a:xfrm>
          <a:prstGeom prst="roundRect">
            <a:avLst>
              <a:gd name="adj" fmla="val 1765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31936" y="3154680"/>
            <a:ext cx="640080" cy="64008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15" name="Text 13"/>
          <p:cNvSpPr/>
          <p:nvPr/>
        </p:nvSpPr>
        <p:spPr>
          <a:xfrm>
            <a:off x="8631936" y="397764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Stadt Mannheim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31936" y="480060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laufenden Kosten, kein Betriebsrisiko — Erhalt des Schwimmstandorts im Stadtteil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 IM GESPRÄCH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wem wir schon gesprochen haben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Vorhaben ist keine reine Idee am Schreibtisch — eine Reihe relevanter Partner ist bereits kontaktiert. Die Rückmeldungen fließen laufend in die Planung ein.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630168" cy="2743200"/>
          </a:xfrm>
          <a:prstGeom prst="roundRect">
            <a:avLst>
              <a:gd name="adj" fmla="val 2000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83464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Finanzierung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990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Volksbank — Erstgespräch geführt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Sparkasse — Erstgespräch geführt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 Stiftung — angesprochen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53128" y="2560320"/>
            <a:ext cx="3630168" cy="2743200"/>
          </a:xfrm>
          <a:prstGeom prst="roundRect">
            <a:avLst>
              <a:gd name="adj" fmla="val 2000"/>
            </a:avLst>
          </a:prstGeom>
          <a:solidFill>
            <a:srgbClr val="2E5E6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283464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 &amp; Gründung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73168" y="3429000"/>
            <a:ext cx="2990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Anwalt für Gründungsrecht kontaktiert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Crowdfunding-Agentur — erstes Gespräch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66176" y="2560320"/>
            <a:ext cx="3630168" cy="2743200"/>
          </a:xfrm>
          <a:prstGeom prst="roundRect">
            <a:avLst>
              <a:gd name="adj" fmla="val 2000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86216" y="283464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 &amp; Betrieb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86216" y="3429000"/>
            <a:ext cx="2990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Schwimmschule Ilvesheim (Swim to grow)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TSG Seckenheim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 und Bäderamt Mannheim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468112"/>
            <a:ext cx="10881360" cy="960120"/>
          </a:xfrm>
          <a:prstGeom prst="roundRect">
            <a:avLst>
              <a:gd name="adj" fmla="val 4762"/>
            </a:avLst>
          </a:prstGeom>
          <a:solidFill>
            <a:srgbClr val="F2EEE4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46811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Henne-Ei-Prinzip: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dieser Partner — gerade Stiftungen wie die Hopp Stiftung — prüfen ein Engagement erst, wenn die Gemeinnützigkeit nachgewiesen ist. Das heißt: zuerst die gUG gründen und vom Finanzamt anerkennen lassen, dann auf dieser Basis erneut in die konkreten Gespräche gehen. Die bisherigen Kontakte sind Vorsondierung — verbindlich wird es nach der Gründung.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FINANZIERUNGSPRINZIP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Erhalt aus eigener Kraft — „Cash First“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Investitionen werden aus eingeworbenen und erwirtschafteten Mitteln finanziert und folgen dem tatsächlichen Cashflow. Es wird nur investiert, was gedeckt ist. Damit trägt die gGmbH das Risiko selbst — und die Stadt zu keinem Zeitpunkt.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108960"/>
            <a:ext cx="502920" cy="502920"/>
          </a:xfrm>
          <a:prstGeom prst="ellipse">
            <a:avLst/>
          </a:prstGeom>
          <a:solidFill>
            <a:srgbClr val="5E9A9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 Vereinszusagen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4526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Verbindliche Wasserzeiten von Vereinen und Schwimmschulen als planbare Erlösbasis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274320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3108960"/>
            <a:ext cx="502920" cy="502920"/>
          </a:xfrm>
          <a:prstGeom prst="ellipse">
            <a:avLst/>
          </a:prstGeom>
          <a:solidFill>
            <a:srgbClr val="5E9A9B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3048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Fördermittel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3048" y="4526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KfW (Programm 263, BEG NWG) und BAFA für energetische Maßnahmen — gGmbH ist direkt antragsberechtigt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74320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108960"/>
            <a:ext cx="502920" cy="502920"/>
          </a:xfrm>
          <a:prstGeom prst="ellipse">
            <a:avLst/>
          </a:prstGeom>
          <a:solidFill>
            <a:srgbClr val="5E9A9B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93408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Crowdfunding &amp; Spenden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3408" y="4526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Kampagne in der Schwimmgemeinschaft; Sach- und Materialspenden von Handwerksbetrieben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2743200"/>
            <a:ext cx="2697480" cy="3017520"/>
          </a:xfrm>
          <a:prstGeom prst="roundRect">
            <a:avLst>
              <a:gd name="adj" fmla="val 2034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0" y="3108960"/>
            <a:ext cx="502920" cy="502920"/>
          </a:xfrm>
          <a:prstGeom prst="ellipse">
            <a:avLst/>
          </a:prstGeom>
          <a:solidFill>
            <a:srgbClr val="5E9A9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73768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Betriebsüberschüsse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73768" y="4526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Erwirtschaftete Überschüsse ab dem ersten Betriebsjahr fließen in die Sanierung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WIRTSCHAFTLICHER RAHMEN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der Betrieb tragen muss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Verifizierte Kostenbasis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(Wärme)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0" y="2240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87.300 €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97680" y="26243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77.200 €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0083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 &amp; Entwässerung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97680" y="30083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25.600 €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392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97680" y="3392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19.700 €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776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Betrieb, Reparatur, Sonstiges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97680" y="3776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35.000 €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78808"/>
            <a:ext cx="5120640" cy="0"/>
          </a:xfrm>
          <a:prstGeom prst="line">
            <a:avLst/>
          </a:prstGeom>
          <a:noFill/>
          <a:ln w="12700">
            <a:solidFill>
              <a:srgbClr val="CBDA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 (belegt)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~245.000 €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2E5E6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daraus folgt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 245.000 €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laufende Jahreskosten (belegt)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ca. 50.000 €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jährliche Investitionsrücklage (Planwert)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Daraus folgt der nötige Ø-Erlös je verkaufter Bahnenstunde: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297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B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 23 €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583680" y="5166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konservativer Mischwert über alle Gruppen — deckt bei 50 % Auslastung bereits die laufenden Kosten (siehe Szenarien).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belegt aus städtischen Betriebsdaten 2025. Investitionsrücklage und Ø-Erlös sind Plan-/Annahmewerte.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DATENGRUNDLAGE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Kostenstellenauszug 2025 (belegt)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Zahlen aus dem städtischen Kostenstellenauszug 2025 — die belegte Basis des gesamten Modells.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57800" cy="411480"/>
          </a:xfrm>
          <a:prstGeom prst="rect">
            <a:avLst/>
          </a:prstGeom>
          <a:solidFill>
            <a:srgbClr val="2E5E6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Ausgaben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257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517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(Wärme)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34840" y="26517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87.342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980944"/>
            <a:ext cx="5257800" cy="329184"/>
          </a:xfrm>
          <a:prstGeom prst="rect">
            <a:avLst/>
          </a:prstGeom>
          <a:solidFill>
            <a:srgbClr val="F7FAFA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34840" y="29809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77.214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10128"/>
            <a:ext cx="5257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1012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Betriebskosten (sonstige)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34840" y="33101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23.869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39312"/>
            <a:ext cx="5257800" cy="329184"/>
          </a:xfrm>
          <a:prstGeom prst="rect">
            <a:avLst/>
          </a:prstGeom>
          <a:solidFill>
            <a:srgbClr val="F7FAFA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39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36393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19.699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968496"/>
            <a:ext cx="5257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6849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34840" y="396849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13.245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5257800" cy="329184"/>
          </a:xfrm>
          <a:prstGeom prst="rect">
            <a:avLst/>
          </a:prstGeom>
          <a:solidFill>
            <a:srgbClr val="F7FAFA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976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Entwässerung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34840" y="4297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12.399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626864"/>
            <a:ext cx="5257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6268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Reparatur / Wartung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34840" y="46268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9.850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956048"/>
            <a:ext cx="5257800" cy="329184"/>
          </a:xfrm>
          <a:prstGeom prst="rect">
            <a:avLst/>
          </a:prstGeom>
          <a:solidFill>
            <a:srgbClr val="F7FAFA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95604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Müll / Entsorgung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34840" y="49560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1.328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285232"/>
            <a:ext cx="5257800" cy="329184"/>
          </a:xfrm>
          <a:prstGeom prst="rect">
            <a:avLst/>
          </a:prstGeom>
          <a:solidFill>
            <a:srgbClr val="EEF4F3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2852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 Ausgaben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434840" y="52852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244.946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63640" y="2240280"/>
            <a:ext cx="5257800" cy="411480"/>
          </a:xfrm>
          <a:prstGeom prst="rect">
            <a:avLst/>
          </a:prstGeom>
          <a:solidFill>
            <a:srgbClr val="2E5E6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2402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Einnahmen 2025 (operativ)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0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63640" y="2651760"/>
            <a:ext cx="5257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6517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Mieteinnahmen extern (gewerblich)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058400" y="26517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74.202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63640" y="2980944"/>
            <a:ext cx="5257800" cy="329184"/>
          </a:xfrm>
          <a:prstGeom prst="rect">
            <a:avLst/>
          </a:prstGeom>
          <a:solidFill>
            <a:srgbClr val="F7FAFA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298094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Vereine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058400" y="29809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33.512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63640" y="3310128"/>
            <a:ext cx="5257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31012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SVM-interne Verrechnung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058400" y="33101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21.026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63640" y="3639312"/>
            <a:ext cx="5257800" cy="329184"/>
          </a:xfrm>
          <a:prstGeom prst="rect">
            <a:avLst/>
          </a:prstGeom>
          <a:solidFill>
            <a:srgbClr val="EEF4F3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639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 operative Einnahmen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0058400" y="36393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96.353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63640" y="4197096"/>
            <a:ext cx="5257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419709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Städtischer Zuschuss 2025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0058400" y="419709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123.466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63640" y="4526280"/>
            <a:ext cx="5257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45262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Ausgaben gesamt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0058400" y="45262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−244.946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63640" y="4855464"/>
            <a:ext cx="5257800" cy="329184"/>
          </a:xfrm>
          <a:prstGeom prst="rect">
            <a:avLst/>
          </a:prstGeom>
          <a:solidFill>
            <a:srgbClr val="EEF4F3"/>
          </a:solidFill>
          <a:ln w="6350">
            <a:solidFill>
              <a:srgbClr val="E8EF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48554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Restverlust nach Zuschuss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0058400" y="48554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−25.127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40080" y="5715000"/>
            <a:ext cx="5257800" cy="731520"/>
          </a:xfrm>
          <a:prstGeom prst="roundRect">
            <a:avLst>
              <a:gd name="adj" fmla="val 6250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57607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41 %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Kostendeckungsgrad</a:t>
            </a:r>
            <a:endParaRPr lang="en-US" sz="22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operativen Einnahmen decken nur 41 % der Kosten — der Rest lief über Zuschuss und künstlich niedrige Tarife.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263640" y="58064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Hinweis: 50.242 Besuche an 289 Öffnungstagen (2025) — Besuche, nicht verschiedene Personen. Reparatur/Wartung war 2025 niedrig (Mehrjahresschnitt eher 16–20 T€).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Szenarien — ehrlich gerechnet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Ausgaben sind belegt (Betrieb 2025). Die Einnahmen hängen an zwei Stellschrauben: der Auslastung und dem Ø-Erlös je Bahnenstunde (hier ~23 €, konservativer Mix). Energieeinsparungen sind noch nicht eingerechnet.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Berechnungsbasis 100 % Auslastung: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Bahnen × 16 h/Tag (6–22 Uhr) × 300 Betriebstage/Jahr = 24.000 Bahnenstunden. Die Szenarien zeigen 50 / 65 / 80 % davon.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926080"/>
            <a:ext cx="2377440" cy="594360"/>
          </a:xfrm>
          <a:prstGeom prst="rect">
            <a:avLst/>
          </a:prstGeom>
          <a:solidFill>
            <a:srgbClr val="2E5E6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Konservativ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2926080"/>
            <a:ext cx="2377440" cy="594360"/>
          </a:xfrm>
          <a:prstGeom prst="rect">
            <a:avLst/>
          </a:prstGeom>
          <a:solidFill>
            <a:srgbClr val="2E5E6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0" y="2926080"/>
            <a:ext cx="2194560" cy="594360"/>
          </a:xfrm>
          <a:prstGeom prst="rect">
            <a:avLst/>
          </a:prstGeom>
          <a:solidFill>
            <a:srgbClr val="2E5E6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Optimistisch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3931920" cy="45720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52044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Verkaufte Bahnenstunden/Jahr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520440"/>
            <a:ext cx="2377440" cy="45720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35204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3520440"/>
            <a:ext cx="2377440" cy="45720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35204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15.600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26880" y="3520440"/>
            <a:ext cx="2194560" cy="45720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36608" y="35204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19.200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9776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97764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Einnahmen (Bahnenerlöse)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0" y="397764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39776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273.700 €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49440" y="397764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39776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355.800 €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326880" y="397764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36608" y="39776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438.000 €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434840"/>
            <a:ext cx="3931920" cy="45720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43484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Ausgaben (Betrieb, belegt)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0" y="4434840"/>
            <a:ext cx="2377440" cy="45720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44348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244.900 €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49440" y="4434840"/>
            <a:ext cx="2377440" cy="45720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9168" y="44348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244.900 €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26880" y="4434840"/>
            <a:ext cx="2194560" cy="45720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36608" y="4434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244.900 €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4892040"/>
            <a:ext cx="3931920" cy="457200"/>
          </a:xfrm>
          <a:prstGeom prst="rect">
            <a:avLst/>
          </a:prstGeom>
          <a:solidFill>
            <a:srgbClr val="EEF4F3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89204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Betriebsergebnis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0" y="4892040"/>
            <a:ext cx="2377440" cy="457200"/>
          </a:xfrm>
          <a:prstGeom prst="rect">
            <a:avLst/>
          </a:prstGeom>
          <a:solidFill>
            <a:srgbClr val="EEF4F3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48920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+28.800 €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949440" y="4892040"/>
            <a:ext cx="2377440" cy="457200"/>
          </a:xfrm>
          <a:prstGeom prst="rect">
            <a:avLst/>
          </a:prstGeom>
          <a:solidFill>
            <a:srgbClr val="EEF4F3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9168" y="48920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+110.900 €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326880" y="4892040"/>
            <a:ext cx="2194560" cy="457200"/>
          </a:xfrm>
          <a:prstGeom prst="rect">
            <a:avLst/>
          </a:prstGeom>
          <a:solidFill>
            <a:srgbClr val="EEF4F3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36608" y="48920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+193.000 €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vor Investitionsrücklage (~50.000 €/Jahr). Schon bei 50 % Auslastung sind die laufenden Kosten gedeckt; die volle Rücklage trägt sich ab knapp 60 %. Tarife, Personenzahl und Mix sind im Excel einzeln editierbar — die Annahmen sind bewusst konservativ gewählt.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ANNAHMEN HINTER DEN ZAHLEN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 einzelnen Nutzergruppen beitragen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Tarif, Mix-Anteil und die daraus folgenden Bahnenstunden je Gruppe — als Snapshot des Basis-Szenarios (50 % Auslastung = 12.000 verkaufte Bahnenstunden/Jahr).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697480" cy="457200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1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Nutzergruppe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212848"/>
            <a:ext cx="1417320" cy="457200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2128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212848"/>
            <a:ext cx="1234440" cy="457200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2128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2212848"/>
            <a:ext cx="1417320" cy="457200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2128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Std/Jahr*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2212848"/>
            <a:ext cx="4114800" cy="457200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212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Charakter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670048"/>
            <a:ext cx="269748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670048"/>
            <a:ext cx="141732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670048"/>
            <a:ext cx="123444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2670048"/>
            <a:ext cx="141732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670048"/>
            <a:ext cx="411480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670048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92424" y="267004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16,50 €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9744" y="2670048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44184" y="267004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5.040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16368" y="2670048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12 € + ~2 €/Person (Betriebskostenzuschuss)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172968"/>
            <a:ext cx="2697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17296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172968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317296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317296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172968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Schwimmschulen &amp; Kurse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92424" y="317296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9744" y="3172968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044184" y="317296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2.160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16368" y="3172968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Gewerblich, planbar — der wirtschaftliche Anker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3675888"/>
            <a:ext cx="269748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3675888"/>
            <a:ext cx="141732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675888"/>
            <a:ext cx="123444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89320" y="3675888"/>
            <a:ext cx="141732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06640" y="3675888"/>
            <a:ext cx="411480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3675888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 / Einzel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92424" y="367588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22 €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09744" y="3675888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044184" y="367588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2.160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516368" y="3675888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Eintritt × Gäste, Nebenzeiten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4178808"/>
            <a:ext cx="2697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37560" y="417880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4178808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9320" y="417880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417880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4178808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Seckenheimer Schulen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392424" y="417880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14 €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809744" y="4178808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12 %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044184" y="417880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1.440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7516368" y="4178808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Schulschwimmen, Nebenzeiten-Lückenfüller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0080" y="4681728"/>
            <a:ext cx="269748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37560" y="4681728"/>
            <a:ext cx="141732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4681728"/>
            <a:ext cx="123444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89320" y="4681728"/>
            <a:ext cx="141732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06640" y="4681728"/>
            <a:ext cx="4114800" cy="502920"/>
          </a:xfrm>
          <a:prstGeom prst="rect">
            <a:avLst/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" y="4681728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Premium-Lane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392424" y="468172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28 €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809744" y="4681728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7 %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6044184" y="468172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516368" y="4681728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Vorbuchbar, begrenzte Belegung, beste Zeiten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40080" y="5184648"/>
            <a:ext cx="2697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37560" y="518464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0" y="5184648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89320" y="518464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06640" y="518464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9808" y="5184648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 mit Trainer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392424" y="518464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60 €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4809744" y="5184648"/>
            <a:ext cx="1124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6044184" y="518464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7516368" y="5184648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on-top zu Top-Zeiten — höchster Beitrag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40080" y="5687568"/>
            <a:ext cx="4114800" cy="457200"/>
          </a:xfrm>
          <a:prstGeom prst="rect">
            <a:avLst/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9808" y="568756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Ø-Erlös / Summe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754880" y="5687568"/>
            <a:ext cx="1234440" cy="457200"/>
          </a:xfrm>
          <a:prstGeom prst="rect">
            <a:avLst/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09744" y="56875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5989320" y="5687568"/>
            <a:ext cx="1417320" cy="457200"/>
          </a:xfrm>
          <a:prstGeom prst="rect">
            <a:avLst/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44184" y="56875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12.000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406640" y="5687568"/>
            <a:ext cx="4114800" cy="457200"/>
          </a:xfrm>
          <a:prstGeom prst="rect">
            <a:avLst/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16368" y="568756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~23 € je Bahnenstunde (gewichtet)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40080" y="62362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*Stunden/Jahr im Basis-Szenario (50 % Auslastung); bei höherer Auslastung steigen alle Werte proportional. Tarife und Mix sind im Excel frei editierbar.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 (BELEGT)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Tarife der Stadt Mannheim ab 01.01.2026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Offizielle Entgeltfestsetzung der Stadt für ihre Hallenbäder — belegte Vergleichsgröße für unsere Tarifannahmen.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02920" cy="475488"/>
          </a:xfrm>
          <a:prstGeom prst="rect">
            <a:avLst/>
          </a:prstGeom>
          <a:solidFill>
            <a:srgbClr val="2E5E6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2286000"/>
            <a:ext cx="4846320" cy="475488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28600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Mannheimer Sportvereine — Wettkampf/Leistung, DLRG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02920" cy="475488"/>
          </a:xfrm>
          <a:prstGeom prst="rect">
            <a:avLst/>
          </a:prstGeom>
          <a:solidFill>
            <a:srgbClr val="2E5E6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2834640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83464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Mannheimer Sportvereine — ohne Wettkampforientierung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02920" cy="475488"/>
          </a:xfrm>
          <a:prstGeom prst="rect">
            <a:avLst/>
          </a:prstGeom>
          <a:solidFill>
            <a:srgbClr val="2E5E6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3383280"/>
            <a:ext cx="4846320" cy="475488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38328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Vereine, gemeinnützige Einrichtungen, auswärtige Vereine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502920" cy="475488"/>
          </a:xfrm>
          <a:prstGeom prst="rect">
            <a:avLst/>
          </a:prstGeom>
          <a:solidFill>
            <a:srgbClr val="2E5E6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319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3931920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9319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Sonstige Überlassung, gewerbliche Anbieter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19933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Tarifgruppen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19933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Entgelt je Bahn (25 m) / Stunde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286000"/>
            <a:ext cx="2148840" cy="475488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2860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0" y="2286000"/>
            <a:ext cx="777240" cy="475488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28600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89720" y="2286000"/>
            <a:ext cx="777240" cy="475488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28600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966960" y="2286000"/>
            <a:ext cx="777240" cy="475488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12680" y="228600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744200" y="2286000"/>
            <a:ext cx="777240" cy="475488"/>
          </a:xfrm>
          <a:prstGeom prst="rect">
            <a:avLst/>
          </a:prstGeom>
          <a:solidFill>
            <a:srgbClr val="2E5E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0" y="228600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2761488"/>
            <a:ext cx="2148840" cy="475488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2761488"/>
            <a:ext cx="777240" cy="475488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89720" y="2761488"/>
            <a:ext cx="777240" cy="475488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66960" y="2761488"/>
            <a:ext cx="777240" cy="475488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44200" y="2761488"/>
            <a:ext cx="777240" cy="475488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2761488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Bahn (25 m)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58200" y="276148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5 €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35440" y="276148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15 €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12680" y="276148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30 €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789920" y="276148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45 €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63640" y="3236976"/>
            <a:ext cx="2148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0" y="3236976"/>
            <a:ext cx="777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89720" y="3236976"/>
            <a:ext cx="777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66960" y="3236976"/>
            <a:ext cx="777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44200" y="3236976"/>
            <a:ext cx="777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3236976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Nichtschwimmer-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becken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458200" y="32369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10 €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35440" y="32369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30 €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012680" y="32369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60 €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789920" y="32369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90 €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263640" y="3877056"/>
            <a:ext cx="2148840" cy="640080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12480" y="3877056"/>
            <a:ext cx="777240" cy="640080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89720" y="3877056"/>
            <a:ext cx="777240" cy="640080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66960" y="3877056"/>
            <a:ext cx="777240" cy="640080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744200" y="3877056"/>
            <a:ext cx="777240" cy="640080"/>
          </a:xfrm>
          <a:prstGeom prst="rect">
            <a:avLst/>
          </a:prstGeom>
          <a:solidFill>
            <a:srgbClr val="F7FAFA"/>
          </a:solidFill>
          <a:ln w="6350">
            <a:solidFill>
              <a:srgbClr val="E4ED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36792" y="3877056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Wettkampf /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Veranstaltung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458200" y="387705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115 €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235440" y="387705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135 €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012680" y="387705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185 €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789920" y="387705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230 €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63640" y="460857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 je belegter Bahn, unabhängig von der tatsächlichen Teilnehmerzahl. 50-m-Bahn = zwei 25-m-Bahnen. Bis 30 Min. halber Stundensatz.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40080" y="5440680"/>
            <a:ext cx="10881360" cy="960120"/>
          </a:xfrm>
          <a:prstGeom prst="roundRect">
            <a:avLst>
              <a:gd name="adj" fmla="val 4762"/>
            </a:avLst>
          </a:prstGeom>
          <a:solidFill>
            <a:srgbClr val="F2EEE4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0" y="54406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 für unser Modell: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angenommener Vereinstarif (~16,50 € inkl. Personenzuschlag) liegt nahe am städtischen Tarif B (15 €). Schwimmschulen/gewerbliche Nutzer entsprechen Tarif C–D (30–45 €). Damit sind unsere Annahmen am belegten städtischen Tarifgefüge plausibilisiert — und nicht frei gegriffen.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das Wasser füllt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der Kombibad-Eröffnung verlagern sich Teile der großen Vereine dorthin. Seckenheim richtet sich gezielt auf die Nachfrage aus, die das Kombibad nicht bedient — Bahnen-, Vereins-, Kurs- und Gesundheitsschwimmen.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97480" cy="2743200"/>
          </a:xfrm>
          <a:prstGeom prst="roundRect">
            <a:avLst>
              <a:gd name="adj" fmla="val 2034"/>
            </a:avLst>
          </a:prstGeom>
          <a:solidFill>
            <a:srgbClr val="2E5E6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Schwimmschulen &amp; Kurse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Schwimmkurse und Erwachsenenkurse mit festen, störungsfreien Bahnenzeiten — gewerblich, der wirtschaftliche Anker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2651760"/>
            <a:ext cx="2697480" cy="2743200"/>
          </a:xfrm>
          <a:prstGeom prst="roundRect">
            <a:avLst>
              <a:gd name="adj" fmla="val 2034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Umlandvereine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94760" y="3886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 aus Nachbarkommunen ohne eigene Wasserzeiten — die Stadt nennt bereits konkrete Anfragen aus dem Rhein-Neckar-Kreis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2651760"/>
            <a:ext cx="2697480" cy="2743200"/>
          </a:xfrm>
          <a:prstGeom prst="roundRect">
            <a:avLst>
              <a:gd name="adj" fmla="val 2034"/>
            </a:avLst>
          </a:prstGeom>
          <a:solidFill>
            <a:srgbClr val="2E5E6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Ambitionierte Privatschwimmer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Triathleten und Leistungsschwimmer, die feste Bahnen zu Primetimes suchen — zahlungsbereit, bisher kaum bedient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81160" y="2651760"/>
            <a:ext cx="2697480" cy="2743200"/>
          </a:xfrm>
          <a:prstGeom prst="roundRect">
            <a:avLst>
              <a:gd name="adj" fmla="val 2034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&amp; Gesundheit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55480" y="3886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Wohnortnahes öffentliches Schwimmen, Reha- und Gesundheitsschwimmen, bevorzugt außerhalb der Hauptzeiten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66928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2EEE4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692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Premium-Upside: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vorbuchbare Premium-Lanes und Masterclasses mit Trainer zu Top-Zeiten — Mehrerlös über das reine Bahnenvermieten hinaus.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Nebenzeiten-Upside: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Rückkehr der Seckenheimer Schulen, sobald das eigene Bad günstiger ist als ein kommunaler Bustransfer nach Neckarau und zurück.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AUFSICHT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Betrieb mit dem heutigen Team fortführen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Plan setzt bewusst auf Kontinuität statt teurem Neuaufbau. Zusätzliche Aufsichtsbedarfe werden über Kooperationen gedeckt, nicht über neue Festanstellungen.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630168" cy="3291840"/>
          </a:xfrm>
          <a:prstGeom prst="roundRect">
            <a:avLst>
              <a:gd name="adj" fmla="val 1667"/>
            </a:avLst>
          </a:prstGeom>
          <a:solidFill>
            <a:srgbClr val="2E5E6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971800"/>
            <a:ext cx="502920" cy="502920"/>
          </a:xfrm>
          <a:prstGeom prst="ellipse">
            <a:avLst/>
          </a:prstGeom>
          <a:solidFill>
            <a:srgbClr val="5E9A9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Bestehendes Bad-Team übernehmen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43484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heutigen Mitarbeitenden werden zunächst weiterbeschäftigt — sie kennen Technik, Abläufe und Vereine. Kein Bedarf an neuem Stammpersonal zum Start.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53128" y="2606040"/>
            <a:ext cx="3630168" cy="3291840"/>
          </a:xfrm>
          <a:prstGeom prst="roundRect">
            <a:avLst>
              <a:gd name="adj" fmla="val 1667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2971800"/>
            <a:ext cx="502920" cy="50292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73168" y="365760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DLRG-Kooperation für Aufsicht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443484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betreute Zeiten (z. B. ambitionierte Privatschwimmer) Rettungsschwimmer-Abdeckung über die DLRG: freie bzw. vergünstigte Schwimmzeiten im Gegenzug für Aufsichtshilfe. Modell noch zu definieren.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66176" y="2606040"/>
            <a:ext cx="3630168" cy="3291840"/>
          </a:xfrm>
          <a:prstGeom prst="roundRect">
            <a:avLst>
              <a:gd name="adj" fmla="val 1667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86216" y="2971800"/>
            <a:ext cx="502920" cy="50292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17" name="Text 15"/>
          <p:cNvSpPr/>
          <p:nvPr/>
        </p:nvSpPr>
        <p:spPr>
          <a:xfrm>
            <a:off x="8586216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86216" y="365760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TSG Seckenheim — Zeit gegen Engagement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86216" y="443484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Reduzierte Bahnen-/Schwimmschulsätze gegen ehrenamtliche Stunden am Beckenrand. Senkt Personalkosten und bindet den Verein ein. Noch nicht final.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nächsten Schritte bis zur Übernahme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67128"/>
            <a:ext cx="457200" cy="45720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Deckengutachten erneuern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3500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Statikgutachten zur Abhangdecke gilt nur bis Ende 2026. Ein neues Gutachten ist zwingende Voraussetzung für den Betrieb 2027 — das erste und wichtigste To-do.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0" y="2185416"/>
            <a:ext cx="1737360" cy="429768"/>
          </a:xfrm>
          <a:prstGeom prst="roundRect">
            <a:avLst>
              <a:gd name="adj" fmla="val 21277"/>
            </a:avLst>
          </a:prstGeom>
          <a:solidFill>
            <a:srgbClr val="5E9A9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218541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K.-o.-Kriterium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035808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328416"/>
            <a:ext cx="457200" cy="45720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154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sichern (Warmhalten/Einmotten)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Bad darf nicht unkontrolliert auskühlen (Schimmel, Frost, Korrosion). Die geeignete Form — Warmhaltebetrieb oder fachgerechtes Einmotten — ist mit einem Gutachter/Fachmann festzulegen.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0" y="3346704"/>
            <a:ext cx="1737360" cy="429768"/>
          </a:xfrm>
          <a:prstGeom prst="roundRect">
            <a:avLst>
              <a:gd name="adj" fmla="val 21277"/>
            </a:avLst>
          </a:prstGeom>
          <a:solidFill>
            <a:srgbClr val="5E9A9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334670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relevant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197096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489704"/>
            <a:ext cx="457200" cy="45720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08760" y="43159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gUG gründen &amp; Vertrag mit Stadt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508760" y="467258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Gesellschaft gründen, Gemeinnützigkeit anerkennen lassen; parallel Überlassungsvertrag inkl. Haftung und Sicherungsphase mit der Stadt verhandeln.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01200" y="4507992"/>
            <a:ext cx="1737360" cy="429768"/>
          </a:xfrm>
          <a:prstGeom prst="roundRect">
            <a:avLst>
              <a:gd name="adj" fmla="val 21277"/>
            </a:avLst>
          </a:prstGeom>
          <a:solidFill>
            <a:srgbClr val="5E9A9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450799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5358384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650992"/>
            <a:ext cx="457200" cy="45720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650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08760" y="54772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Technik, Förderung &amp; Zusagen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508760" y="58338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Energieberatung/Sanierungsfahrplan, Auslegung Wärmepumpe/Lüftung; KfW/BAFA vorbereiten; verbindliche Nutzerzusagen einholen.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601200" y="5669280"/>
            <a:ext cx="1737360" cy="429768"/>
          </a:xfrm>
          <a:prstGeom prst="roundRect">
            <a:avLst>
              <a:gd name="adj" fmla="val 21277"/>
            </a:avLst>
          </a:prstGeom>
          <a:solidFill>
            <a:srgbClr val="5E9A9B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566928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DAS CROWDFUNDING TRÄGT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Sanierung in sinnvoller Reihenfolge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Investiert wird schrittweise und nach Cashflow. Reihenfolge nach Wirkung und Aufwand — günstige Energie- und Substanzgewinne zuerst.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50592"/>
            <a:ext cx="365760" cy="36576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Duschen erneuern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23317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nur 6 von 20 funktionsfähig — direkter Komfort- und Hygienegewinn.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829800" y="245059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5E9A9B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20.000 €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145536"/>
            <a:ext cx="365760" cy="36576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02666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Abdeckfolie fürs Becken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302666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Reduziert nächtliche Wärme- und Verdunstungsverluste — schnell wirksamer Energiehebel.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29800" y="3145536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5E9A9B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31455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20.000 €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21608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840480"/>
            <a:ext cx="365760" cy="36576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7216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Dach-/Lichtkuppelabdichtung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372160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Stoppt eindringende Feuchte (sichtbare Schäden vorhanden). Preis erst nach Begehung seriös zu beziffern.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29800" y="384048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2EEE4"/>
          </a:solidFill>
          <a:ln/>
        </p:spPr>
      </p:sp>
      <p:sp>
        <p:nvSpPr>
          <p:cNvPr id="25" name="Text 23"/>
          <p:cNvSpPr/>
          <p:nvPr/>
        </p:nvSpPr>
        <p:spPr>
          <a:xfrm>
            <a:off x="9829800" y="3840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416552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" y="4535424"/>
            <a:ext cx="365760" cy="36576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44165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Becken folieren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26280" y="441655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Bessere Abdichtung des Beckenkörpers, Vermeidung von Wasserverlust und Folgeschäden.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29800" y="4535424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2EEE4"/>
          </a:solidFill>
          <a:ln/>
        </p:spPr>
      </p:sp>
      <p:sp>
        <p:nvSpPr>
          <p:cNvPr id="32" name="Text 30"/>
          <p:cNvSpPr/>
          <p:nvPr/>
        </p:nvSpPr>
        <p:spPr>
          <a:xfrm>
            <a:off x="9829800" y="45354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Bewertung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111496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F7FAFA"/>
          </a:solidFill>
          <a:ln w="12700">
            <a:solidFill>
              <a:srgbClr val="E4ED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" y="5230368"/>
            <a:ext cx="365760" cy="365760"/>
          </a:xfrm>
          <a:prstGeom prst="ellipse">
            <a:avLst/>
          </a:prstGeom>
          <a:solidFill>
            <a:srgbClr val="2E5E68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71600" y="511149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Energetische Sanierung (Tranchen)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26280" y="511149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Wärmepumpe/Lüftung mit Wärmerückgewinnung, schrittweise; Kessel zuletzt. Über KfW/BAFA gefördert.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829800" y="5230368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F2EEE4"/>
          </a:solidFill>
          <a:ln/>
        </p:spPr>
      </p:sp>
      <p:sp>
        <p:nvSpPr>
          <p:cNvPr id="39" name="Text 37"/>
          <p:cNvSpPr/>
          <p:nvPr/>
        </p:nvSpPr>
        <p:spPr>
          <a:xfrm>
            <a:off x="9829800" y="5230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tranchiert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Grundstück/Mensa (heutiger Stand, to be confirmed):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Stadt priorisiert die Mensa für die Nachbarschule — bis zum Planungsbeginn dürften aber realistisch 5+ Jahre vergehen. Dieser Horizont rechtfertigt die schrittweise Sanierung.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RECHTSFORM &amp; HAFTUNG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Gründung aussieht — und was sie bedeutet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343400"/>
          </a:xfrm>
          <a:prstGeom prst="roundRect">
            <a:avLst>
              <a:gd name="adj" fmla="val 1053"/>
            </a:avLst>
          </a:prstGeom>
          <a:solidFill>
            <a:srgbClr val="EEF4F3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Weg: gUG als Einstieg, gGmbH später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gUG (haftungsbeschränkt)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Gemeinnützige Variante der UG — gründbar ab 1 € Stammkapital, kapitalschonend zum Start. Pflicht zur jährlichen Rücklage, bis 25.000 € erreicht sind.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Umwandlung in gGmbH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Erreichen der 25.000 € unkompliziert in die gGmbH wechselbar — gleiche Gemeinnützigkeit, mehr Standing nach außen.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Vorzeitige Abwicklung (auch vor 25.000 €)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Müssen wir abwickeln, bevor die 25.000 € erreicht sind, gibt es KEINE Nachschusspflicht — die 25.000 € sind nur eine Ansparpflicht aus Gewinnen, kein geschuldetes Kapital. Abgewickelt wird mit dem, was da ist: offene Rechnungen zuerst, ein Rest geht an einen gemeinnützigen Zweck. Das Privatvermögen bleibt geschützt, solange keine privaten Bürgschaften bestehen und rechtzeitig abgewickelt wird.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4343400"/>
          </a:xfrm>
          <a:prstGeom prst="roundRect">
            <a:avLst>
              <a:gd name="adj" fmla="val 1053"/>
            </a:avLst>
          </a:prstGeom>
          <a:solidFill>
            <a:srgbClr val="2E5E68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Haftung — was zählt und was nicht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514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Grundsatz: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Gesellschaft schützt das Privatvermögen. Für normale Betriebsschulden haftet nur die gUG/gGmbH, nicht ihr persönlich.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3383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 nur bei grober Fahrlässigkeit oder Vorsatz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ehrenamtlicher Führung (Vergütung unter 840 €/Jahr) greift zusätzlich die gesetzliche Haftungsprivilegierung: Haftung erst bei Vorsatz oder grober Fahrlässigkeit. Einfache Fehler im Tagesbetrieb lösen keine persönliche Haftung aus.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4800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echten Pflichten: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D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Aufsicht ordentlich organisieren, Steuern/Abgaben abführen, bei Zahlungsunfähigkeit rechtzeitig handeln. Eine D&amp;O-Versicherung deckt den Rest günstig ab.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 BENANNT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Punkte und Risiken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EEF4F3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84832"/>
            <a:ext cx="292608" cy="292608"/>
          </a:xfrm>
          <a:prstGeom prst="ellipse">
            <a:avLst/>
          </a:prstGeom>
          <a:solidFill>
            <a:srgbClr val="B07A3C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Bausubstanz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Deckengutachten, Dachzustand (teils Feuchteschäden) und Technik müssen fachlich neu bewertet werden, bevor verbindlich geplant wird.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EEF4F3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084832"/>
            <a:ext cx="292608" cy="292608"/>
          </a:xfrm>
          <a:prstGeom prst="ellipse">
            <a:avLst/>
          </a:prstGeom>
          <a:solidFill>
            <a:srgbClr val="B07A3C"/>
          </a:solidFill>
          <a:ln/>
        </p:spPr>
      </p:sp>
      <p:sp>
        <p:nvSpPr>
          <p:cNvPr id="10" name="Text 8"/>
          <p:cNvSpPr/>
          <p:nvPr/>
        </p:nvSpPr>
        <p:spPr>
          <a:xfrm>
            <a:off x="5047488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Warmhaltebetrieb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6008" y="24871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Betriebsende und Übernahme darf das Bad nicht auskühlen. Kostentragung dieser Phase ist mit der Stadt zu klären.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EEF4F3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2084832"/>
            <a:ext cx="292608" cy="292608"/>
          </a:xfrm>
          <a:prstGeom prst="ellipse">
            <a:avLst/>
          </a:prstGeom>
          <a:solidFill>
            <a:srgbClr val="B07A3C"/>
          </a:solidFill>
          <a:ln/>
        </p:spPr>
      </p:sp>
      <p:sp>
        <p:nvSpPr>
          <p:cNvPr id="14" name="Text 12"/>
          <p:cNvSpPr/>
          <p:nvPr/>
        </p:nvSpPr>
        <p:spPr>
          <a:xfrm>
            <a:off x="8769096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Grundstück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57616" y="24871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Stadt prüft die Langfristnutzung (mögliche Mensa für die Nachbarschule). Vertragsbasis hängt vom Ergebnis ab.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13048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EEF4F3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069080"/>
            <a:ext cx="292608" cy="292608"/>
          </a:xfrm>
          <a:prstGeom prst="ellipse">
            <a:avLst/>
          </a:prstGeom>
          <a:solidFill>
            <a:srgbClr val="B07A3C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40142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Wirtschaftlichkeit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447141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Tragend ist die tatsächlich verkaufte Bahnenstundenmenge nach Vereinsabgängen. Verbindliche Zusagen sind der entscheidende Hebel.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1688" y="3813048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EEF4F3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4069080"/>
            <a:ext cx="292608" cy="292608"/>
          </a:xfrm>
          <a:prstGeom prst="ellipse">
            <a:avLst/>
          </a:prstGeom>
          <a:solidFill>
            <a:srgbClr val="B07A3C"/>
          </a:solidFill>
          <a:ln/>
        </p:spPr>
      </p:sp>
      <p:sp>
        <p:nvSpPr>
          <p:cNvPr id="22" name="Text 20"/>
          <p:cNvSpPr/>
          <p:nvPr/>
        </p:nvSpPr>
        <p:spPr>
          <a:xfrm>
            <a:off x="5047488" y="40142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Upfront-Kosten vor Crowdfunding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36008" y="447141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Gründung der gUG, Deckengutachten und Sicherung des Bades fallen an, bevor Crowdfunding-Mittel fließen. Diese Anschubfinanzierung muss vorab geklärt sein.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83296" y="3813048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EEF4F3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4069080"/>
            <a:ext cx="292608" cy="292608"/>
          </a:xfrm>
          <a:prstGeom prst="ellipse">
            <a:avLst/>
          </a:prstGeom>
          <a:solidFill>
            <a:srgbClr val="B07A3C"/>
          </a:solidFill>
          <a:ln/>
        </p:spPr>
      </p:sp>
      <p:sp>
        <p:nvSpPr>
          <p:cNvPr id="26" name="Text 24"/>
          <p:cNvSpPr/>
          <p:nvPr/>
        </p:nvSpPr>
        <p:spPr>
          <a:xfrm>
            <a:off x="8769096" y="40142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Förderzugang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57616" y="447141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kommunale Bundesprogramm ist nur über die Stadt zugänglich. Direkt nutzbar sind KfW/BAFA durch die gUG/gGmbH.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Hallenbad Seckenheim · Sachstand · vertraulich · Juni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Hallenbad Seckenheim — Sachstand</dc:title>
  <dc:subject>PptxGenJS Presentation</dc:subject>
  <dc:creator>Hallenbad Seckenheim Initiative</dc:creator>
  <cp:lastModifiedBy>Hallenbad Seckenheim Initiative</cp:lastModifiedBy>
  <cp:revision>1</cp:revision>
  <dcterms:created xsi:type="dcterms:W3CDTF">2026-06-30T22:19:56Z</dcterms:created>
  <dcterms:modified xsi:type="dcterms:W3CDTF">2026-06-30T22:19:56Z</dcterms:modified>
</cp:coreProperties>
</file>