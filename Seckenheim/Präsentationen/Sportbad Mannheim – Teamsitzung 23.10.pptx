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6858000" cx="12192000"/>
  <p:notesSz cx="6858000" cy="12192000"/>
  <p:embeddedFontLst>
    <p:embeddedFont>
      <p:font typeface="Public Sans"/>
      <p:regular r:id="rId12"/>
      <p:bold r:id="rId13"/>
      <p:italic r:id="rId14"/>
      <p:boldItalic r:id="rId1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6" roundtripDataSignature="AMtx7mimqPPVEqVveXtnfBgjf/mPtVt3D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7FE320B9-F49B-47E0-9B13-9FE4A9E6B8E7}">
  <a:tblStyle styleId="{7FE320B9-F49B-47E0-9B13-9FE4A9E6B8E7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PublicSans-bold.fntdata"/><Relationship Id="rId12" Type="http://schemas.openxmlformats.org/officeDocument/2006/relationships/font" Target="fonts/PublicSans-regular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PublicSans-boldItalic.fntdata"/><Relationship Id="rId14" Type="http://schemas.openxmlformats.org/officeDocument/2006/relationships/font" Target="fonts/PublicSans-italic.fntdata"/><Relationship Id="rId16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" name="Google Shape;18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Stand: Satzung liegt beim Anwalt, Rückmeldung diese Woche. Danach Gründungsversammlung – am Rand des Schwimmtrainings oder online. Ablauf: Satzung beschließen, Vorstand und Kassenprüfer wählen, Protokoll. Die Satzung sollen mindestens sieben Gründungsmitglieder unterschreiben (§ 59 Abs. 3 BGB). Keine Beurkundung der Satzung nötig. Die Anmeldung zum Vereinsregister unterschreibt der Vorstand; diese Unterschrift muss öffentlich beglaubigt sein (§ 77 BGB) – in Baden-Württemberg durch Notar oder Ratschreiber der Gemeinde. Parallel Satzung und Protokoll ans Finanzamt für die Gemeinnützigkeit.</a:t>
            </a:r>
            <a:endParaRPr/>
          </a:p>
        </p:txBody>
      </p:sp>
      <p:sp>
        <p:nvSpPr>
          <p:cNvPr id="19" name="Google Shape;19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" name="Google Shape;43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Wichtig fürs Verständnis: Selbst wenn wir 300.000 € über Zusagen hätten, fließt dieses Geld erst im laufenden Betrieb. Die gut 50.000 € für die Reparaturen brauchen wir vorher – also müssen wir in jedem Fall fundraisen. Zahlen: Schätzungen aus Begehungen und Statik-Termin, Stand Oktober 2026; Chlor-Mess-/Regelanlage und Beckenabdeckung vorerst nicht nötig.Kopfzahl von rund 50.000 € hält, die Zusammensetzung hat sich verschoben: Duschen deutlich günstiger, dafür Dach, Dachträger-Auflager und Chlorgas-Warnanlage neu. Nur die Warnanlage ist ein Angebot, der Rest sind Schätzungen. Die Chlor-Mess-/Regelanlage entfällt vorerst, weil das Gesundheitsamt die alte Anlage zulässt.</a:t>
            </a:r>
            <a:endParaRPr/>
          </a:p>
        </p:txBody>
      </p:sp>
      <p:sp>
        <p:nvSpPr>
          <p:cNvPr id="44" name="Google Shape;44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" name="Google Shape;61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138 Bahnstunden pro Woche sind mündlich zugesagt – eine Bahnstunde ist eine Bahn für eine Stunde, 28 Euro, 44 Wochen im Jahr: rund 170.000 Euro. Ab dem Schuljahr 2027/28 kommen 17.000 Euro von den Seckenheimer Schulen für fünf volle Stunden am Morgen dazu – im ersten Betriebsjahr wirkt das nur anteilig. Offen bleiben damit rund 130.000 Euro. Damit das trägt, brauchen wir verbindliche Bestätigungen: Liste heute aufteilen, jede und jeder übernimmt rund zehn Vereine.</a:t>
            </a:r>
            <a:endParaRPr/>
          </a:p>
        </p:txBody>
      </p:sp>
      <p:sp>
        <p:nvSpPr>
          <p:cNvPr id="62" name="Google Shape;62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0" name="Google Shape;80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Neben den Vereinen soll jede und jeder im eigenen Umfeld mögliche Großspender ansprechen: Unternehmer, Kanzleien, Praxen. Das Factsheet bekommt jede/r an die Hand. Kontakte bitte melden, damit niemand doppelt angesprochen wird.</a:t>
            </a:r>
            <a:endParaRPr/>
          </a:p>
        </p:txBody>
      </p:sp>
      <p:sp>
        <p:nvSpPr>
          <p:cNvPr id="81" name="Google Shape;81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1" name="Google Shape;91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Neun Themenlisten liegen vor, je eine Seite. Bitte bis zur nächsten Sitzung in die Fachgruppen eintragen. Liaison &amp; Kooperationen und Energie &amp; Nachhaltigkeit folgen noch.</a:t>
            </a:r>
            <a:endParaRPr/>
          </a:p>
        </p:txBody>
      </p:sp>
      <p:sp>
        <p:nvSpPr>
          <p:cNvPr id="92" name="Google Shape;92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6" name="Google Shape;126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Beispiel Technik: Die Gruppe koordiniert, sie repariert nicht. Priorität vor dem Start sind die fälligen Wartungen. Alle Fachgruppen haben eine solche Seite; bitte bis zur nächsten Sitzung eintragen.</a:t>
            </a:r>
            <a:endParaRPr/>
          </a:p>
        </p:txBody>
      </p:sp>
      <p:sp>
        <p:nvSpPr>
          <p:cNvPr id="127" name="Google Shape;127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bg>
      <p:bgPr>
        <a:solidFill>
          <a:srgbClr val="F7F8F6"/>
        </a:solidFill>
      </p:bgPr>
    </p:bg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8"/>
          <p:cNvSpPr txBox="1"/>
          <p:nvPr>
            <p:ph type="title"/>
          </p:nvPr>
        </p:nvSpPr>
        <p:spPr>
          <a:xfrm>
            <a:off x="812800" y="1280160"/>
            <a:ext cx="10566400" cy="467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4303F"/>
              </a:buClr>
              <a:buSzPts val="3200"/>
              <a:buFont typeface="Public Sans"/>
              <a:buNone/>
              <a:defRPr sz="3200">
                <a:solidFill>
                  <a:srgbClr val="14303F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8"/>
          <p:cNvSpPr txBox="1"/>
          <p:nvPr>
            <p:ph idx="1" type="body"/>
          </p:nvPr>
        </p:nvSpPr>
        <p:spPr>
          <a:xfrm>
            <a:off x="812800" y="2052320"/>
            <a:ext cx="10566400" cy="399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40000"/>
              </a:lnSpc>
              <a:spcBef>
                <a:spcPts val="320"/>
              </a:spcBef>
              <a:spcAft>
                <a:spcPts val="0"/>
              </a:spcAft>
              <a:buClr>
                <a:srgbClr val="14303F"/>
              </a:buClr>
              <a:buSzPts val="1600"/>
              <a:buNone/>
              <a:defRPr sz="1600">
                <a:solidFill>
                  <a:srgbClr val="14303F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8F6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7"/>
          <p:cNvSpPr txBox="1"/>
          <p:nvPr>
            <p:ph type="title"/>
          </p:nvPr>
        </p:nvSpPr>
        <p:spPr>
          <a:xfrm>
            <a:off x="812800" y="1280160"/>
            <a:ext cx="10566400" cy="467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4303F"/>
              </a:buClr>
              <a:buSzPts val="3200"/>
              <a:buFont typeface="Public Sans"/>
              <a:buNone/>
              <a:defRPr b="0" i="0" sz="3200" u="none" cap="none" strike="noStrike">
                <a:solidFill>
                  <a:srgbClr val="14303F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7"/>
          <p:cNvSpPr txBox="1"/>
          <p:nvPr>
            <p:ph idx="1" type="body"/>
          </p:nvPr>
        </p:nvSpPr>
        <p:spPr>
          <a:xfrm>
            <a:off x="812800" y="2052320"/>
            <a:ext cx="10566400" cy="399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40000"/>
              </a:lnSpc>
              <a:spcBef>
                <a:spcPts val="320"/>
              </a:spcBef>
              <a:spcAft>
                <a:spcPts val="0"/>
              </a:spcAft>
              <a:buClr>
                <a:srgbClr val="14303F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14303F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8F6"/>
        </a:solidFill>
      </p:bgPr>
    </p:bg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A5173"/>
              </a:buClr>
              <a:buSzPts val="1200"/>
              <a:buFont typeface="Public Sans"/>
              <a:buNone/>
            </a:pPr>
            <a:r>
              <a:rPr b="1" i="0" lang="en-US" sz="1200" u="none" cap="none" strike="noStrike">
                <a:solidFill>
                  <a:srgbClr val="0A5173"/>
                </a:solidFill>
                <a:latin typeface="Public Sans"/>
                <a:ea typeface="Public Sans"/>
                <a:cs typeface="Public Sans"/>
                <a:sym typeface="Public Sans"/>
              </a:rPr>
              <a:t>1 · VEREINSGRÜNDUNG</a:t>
            </a:r>
            <a:endParaRPr b="0" i="0" sz="1200" u="none" cap="none" strike="noStrike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22" name="Google Shape;22;p1"/>
          <p:cNvSpPr txBox="1"/>
          <p:nvPr>
            <p:ph type="title"/>
          </p:nvPr>
        </p:nvSpPr>
        <p:spPr>
          <a:xfrm>
            <a:off x="812800" y="1280160"/>
            <a:ext cx="10883392" cy="492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4303F"/>
              </a:buClr>
              <a:buSzPts val="3200"/>
              <a:buFont typeface="Public Sans"/>
              <a:buNone/>
            </a:pPr>
            <a:r>
              <a:rPr b="1" i="0" lang="en-US" sz="3200">
                <a:solidFill>
                  <a:srgbClr val="14303F"/>
                </a:solidFill>
                <a:latin typeface="Public Sans"/>
                <a:ea typeface="Public Sans"/>
                <a:cs typeface="Public Sans"/>
                <a:sym typeface="Public Sans"/>
              </a:rPr>
              <a:t>Satzung liegt beim Anwalt – danach gründen wir</a:t>
            </a:r>
            <a:endParaRPr sz="3200"/>
          </a:p>
        </p:txBody>
      </p:sp>
      <p:sp>
        <p:nvSpPr>
          <p:cNvPr id="23" name="Google Shape;23;p1"/>
          <p:cNvSpPr/>
          <p:nvPr/>
        </p:nvSpPr>
        <p:spPr>
          <a:xfrm>
            <a:off x="812800" y="2001520"/>
            <a:ext cx="10883392" cy="309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600"/>
              <a:buFont typeface="Public Sans"/>
              <a:buNone/>
            </a:pPr>
            <a:r>
              <a:rPr b="0" i="0" lang="en-US" sz="1600" u="none" cap="none" strike="noStrike">
                <a:solidFill>
                  <a:srgbClr val="4A5568"/>
                </a:solidFill>
                <a:latin typeface="Public Sans"/>
                <a:ea typeface="Public Sans"/>
                <a:cs typeface="Public Sans"/>
                <a:sym typeface="Public Sans"/>
              </a:rPr>
              <a:t>Rückmeldung zur Satzung erwartet: diese Woche. Dann zeitnah die Gründungsversammlung.</a:t>
            </a:r>
            <a:endParaRPr b="0" i="0" sz="1600" u="none" cap="none" strike="noStrike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24" name="Google Shape;24;p1"/>
          <p:cNvSpPr/>
          <p:nvPr/>
        </p:nvSpPr>
        <p:spPr>
          <a:xfrm>
            <a:off x="815975" y="2543175"/>
            <a:ext cx="2482850" cy="2088021"/>
          </a:xfrm>
          <a:prstGeom prst="roundRect">
            <a:avLst>
              <a:gd fmla="val 4714" name="adj"/>
            </a:avLst>
          </a:prstGeom>
          <a:solidFill>
            <a:srgbClr val="FFFFFF"/>
          </a:solidFill>
          <a:ln cap="flat" cmpd="sng" w="9525">
            <a:solidFill>
              <a:srgbClr val="D9E2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1"/>
          <p:cNvSpPr/>
          <p:nvPr/>
        </p:nvSpPr>
        <p:spPr>
          <a:xfrm>
            <a:off x="1020516" y="2747716"/>
            <a:ext cx="2135982" cy="416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A5173"/>
              </a:buClr>
              <a:buSzPts val="2200"/>
              <a:buFont typeface="Public Sans"/>
              <a:buNone/>
            </a:pPr>
            <a:r>
              <a:rPr b="1" i="0" lang="en-US" sz="2200" u="none" cap="none" strike="noStrike">
                <a:solidFill>
                  <a:srgbClr val="0A5173"/>
                </a:solidFill>
                <a:latin typeface="Public Sans"/>
                <a:ea typeface="Public Sans"/>
                <a:cs typeface="Public Sans"/>
                <a:sym typeface="Public Sans"/>
              </a:rPr>
              <a:t>1</a:t>
            </a:r>
            <a:endParaRPr b="0" i="0" sz="2200" u="none" cap="none" strike="noStrike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26" name="Google Shape;26;p1"/>
          <p:cNvSpPr/>
          <p:nvPr/>
        </p:nvSpPr>
        <p:spPr>
          <a:xfrm>
            <a:off x="1020516" y="3215076"/>
            <a:ext cx="2275134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4303F"/>
              </a:buClr>
              <a:buSzPts val="1600"/>
              <a:buFont typeface="Public Sans"/>
              <a:buNone/>
            </a:pPr>
            <a:r>
              <a:rPr b="1" i="0" lang="en-US" sz="1600" u="none" cap="none" strike="noStrike">
                <a:solidFill>
                  <a:srgbClr val="14303F"/>
                </a:solidFill>
                <a:latin typeface="Public Sans"/>
                <a:ea typeface="Public Sans"/>
                <a:cs typeface="Public Sans"/>
                <a:sym typeface="Public Sans"/>
              </a:rPr>
              <a:t>Satzung beschließen</a:t>
            </a:r>
            <a:endParaRPr b="0" i="0" sz="1600" u="none" cap="none" strike="noStrike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27" name="Google Shape;27;p1"/>
          <p:cNvSpPr/>
          <p:nvPr/>
        </p:nvSpPr>
        <p:spPr>
          <a:xfrm>
            <a:off x="1020516" y="3535116"/>
            <a:ext cx="2135982" cy="4711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300"/>
              <a:buFont typeface="Public Sans"/>
              <a:buNone/>
            </a:pPr>
            <a:r>
              <a:rPr b="0" i="0" lang="en-US" sz="1300" u="none" cap="none" strike="noStrike">
                <a:solidFill>
                  <a:srgbClr val="4A5568"/>
                </a:solidFill>
                <a:latin typeface="Public Sans"/>
                <a:ea typeface="Public Sans"/>
                <a:cs typeface="Public Sans"/>
                <a:sym typeface="Public Sans"/>
              </a:rPr>
              <a:t>beim Schwimmtraining oder online</a:t>
            </a:r>
            <a:endParaRPr b="0" i="0" sz="1300" u="none" cap="none" strike="noStrike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28" name="Google Shape;28;p1"/>
          <p:cNvSpPr/>
          <p:nvPr/>
        </p:nvSpPr>
        <p:spPr>
          <a:xfrm>
            <a:off x="3508375" y="2543175"/>
            <a:ext cx="2482850" cy="2088021"/>
          </a:xfrm>
          <a:prstGeom prst="roundRect">
            <a:avLst>
              <a:gd fmla="val 4714" name="adj"/>
            </a:avLst>
          </a:prstGeom>
          <a:solidFill>
            <a:srgbClr val="FFFFFF"/>
          </a:solidFill>
          <a:ln cap="flat" cmpd="sng" w="9525">
            <a:solidFill>
              <a:srgbClr val="D9E2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1"/>
          <p:cNvSpPr/>
          <p:nvPr/>
        </p:nvSpPr>
        <p:spPr>
          <a:xfrm>
            <a:off x="3712916" y="2747716"/>
            <a:ext cx="2135982" cy="416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A5173"/>
              </a:buClr>
              <a:buSzPts val="2200"/>
              <a:buFont typeface="Public Sans"/>
              <a:buNone/>
            </a:pPr>
            <a:r>
              <a:rPr b="1" i="0" lang="en-US" sz="2200" u="none" cap="none" strike="noStrike">
                <a:solidFill>
                  <a:srgbClr val="0A5173"/>
                </a:solidFill>
                <a:latin typeface="Public Sans"/>
                <a:ea typeface="Public Sans"/>
                <a:cs typeface="Public Sans"/>
                <a:sym typeface="Public Sans"/>
              </a:rPr>
              <a:t>2</a:t>
            </a:r>
            <a:endParaRPr b="0" i="0" sz="2200" u="none" cap="none" strike="noStrike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30" name="Google Shape;30;p1"/>
          <p:cNvSpPr/>
          <p:nvPr/>
        </p:nvSpPr>
        <p:spPr>
          <a:xfrm>
            <a:off x="3712916" y="3215076"/>
            <a:ext cx="2135982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4303F"/>
              </a:buClr>
              <a:buSzPts val="1600"/>
              <a:buFont typeface="Public Sans"/>
              <a:buNone/>
            </a:pPr>
            <a:r>
              <a:rPr b="1" i="0" lang="en-US" sz="1600" u="none" cap="none" strike="noStrike">
                <a:solidFill>
                  <a:srgbClr val="14303F"/>
                </a:solidFill>
                <a:latin typeface="Public Sans"/>
                <a:ea typeface="Public Sans"/>
                <a:cs typeface="Public Sans"/>
                <a:sym typeface="Public Sans"/>
              </a:rPr>
              <a:t>Wählen</a:t>
            </a:r>
            <a:endParaRPr b="0" i="0" sz="1600" u="none" cap="none" strike="noStrike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31" name="Google Shape;31;p1"/>
          <p:cNvSpPr/>
          <p:nvPr/>
        </p:nvSpPr>
        <p:spPr>
          <a:xfrm>
            <a:off x="3712916" y="3535116"/>
            <a:ext cx="2135982" cy="4711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300"/>
              <a:buFont typeface="Public Sans"/>
              <a:buNone/>
            </a:pPr>
            <a:r>
              <a:rPr b="0" i="0" lang="en-US" sz="1300" u="none" cap="none" strike="noStrike">
                <a:solidFill>
                  <a:srgbClr val="4A5568"/>
                </a:solidFill>
                <a:latin typeface="Public Sans"/>
                <a:ea typeface="Public Sans"/>
                <a:cs typeface="Public Sans"/>
                <a:sym typeface="Public Sans"/>
              </a:rPr>
              <a:t>Vorstand und zwei Kassenprüfer</a:t>
            </a:r>
            <a:endParaRPr b="0" i="0" sz="1300" u="none" cap="none" strike="noStrike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32" name="Google Shape;32;p1"/>
          <p:cNvSpPr/>
          <p:nvPr/>
        </p:nvSpPr>
        <p:spPr>
          <a:xfrm>
            <a:off x="6200775" y="2543175"/>
            <a:ext cx="2482850" cy="2088021"/>
          </a:xfrm>
          <a:prstGeom prst="roundRect">
            <a:avLst>
              <a:gd fmla="val 4714" name="adj"/>
            </a:avLst>
          </a:prstGeom>
          <a:solidFill>
            <a:srgbClr val="FFFFFF"/>
          </a:solidFill>
          <a:ln cap="flat" cmpd="sng" w="9525">
            <a:solidFill>
              <a:srgbClr val="D9E2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1"/>
          <p:cNvSpPr/>
          <p:nvPr/>
        </p:nvSpPr>
        <p:spPr>
          <a:xfrm>
            <a:off x="6405316" y="2747716"/>
            <a:ext cx="2135982" cy="416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A5173"/>
              </a:buClr>
              <a:buSzPts val="2200"/>
              <a:buFont typeface="Public Sans"/>
              <a:buNone/>
            </a:pPr>
            <a:r>
              <a:rPr b="1" i="0" lang="en-US" sz="2200" u="none" cap="none" strike="noStrike">
                <a:solidFill>
                  <a:srgbClr val="0A5173"/>
                </a:solidFill>
                <a:latin typeface="Public Sans"/>
                <a:ea typeface="Public Sans"/>
                <a:cs typeface="Public Sans"/>
                <a:sym typeface="Public Sans"/>
              </a:rPr>
              <a:t>3</a:t>
            </a:r>
            <a:endParaRPr b="0" i="0" sz="2200" u="none" cap="none" strike="noStrike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34" name="Google Shape;34;p1"/>
          <p:cNvSpPr/>
          <p:nvPr/>
        </p:nvSpPr>
        <p:spPr>
          <a:xfrm>
            <a:off x="6405316" y="3215076"/>
            <a:ext cx="2135982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4303F"/>
              </a:buClr>
              <a:buSzPts val="1600"/>
              <a:buFont typeface="Public Sans"/>
              <a:buNone/>
            </a:pPr>
            <a:r>
              <a:rPr b="1" i="0" lang="en-US" sz="1600" u="none" cap="none" strike="noStrike">
                <a:solidFill>
                  <a:srgbClr val="14303F"/>
                </a:solidFill>
                <a:latin typeface="Public Sans"/>
                <a:ea typeface="Public Sans"/>
                <a:cs typeface="Public Sans"/>
                <a:sym typeface="Public Sans"/>
              </a:rPr>
              <a:t>Unterschreiben</a:t>
            </a:r>
            <a:endParaRPr b="0" i="0" sz="1600" u="none" cap="none" strike="noStrike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35" name="Google Shape;35;p1"/>
          <p:cNvSpPr/>
          <p:nvPr/>
        </p:nvSpPr>
        <p:spPr>
          <a:xfrm>
            <a:off x="6405316" y="3535116"/>
            <a:ext cx="2135982" cy="6940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300"/>
              <a:buFont typeface="Public Sans"/>
              <a:buNone/>
            </a:pPr>
            <a:r>
              <a:rPr b="0" i="0" lang="en-US" sz="1300" u="none" cap="none" strike="noStrike">
                <a:solidFill>
                  <a:srgbClr val="4A5568"/>
                </a:solidFill>
                <a:latin typeface="Public Sans"/>
                <a:ea typeface="Public Sans"/>
                <a:cs typeface="Public Sans"/>
                <a:sym typeface="Public Sans"/>
              </a:rPr>
              <a:t>Satzung: mind. 7 Gründungs­mitglieder, am Rand des Trainings</a:t>
            </a:r>
            <a:endParaRPr b="0" i="0" sz="1300" u="none" cap="none" strike="noStrike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36" name="Google Shape;36;p1"/>
          <p:cNvSpPr/>
          <p:nvPr/>
        </p:nvSpPr>
        <p:spPr>
          <a:xfrm>
            <a:off x="8893175" y="2543175"/>
            <a:ext cx="2482850" cy="2088021"/>
          </a:xfrm>
          <a:prstGeom prst="roundRect">
            <a:avLst>
              <a:gd fmla="val 4714" name="adj"/>
            </a:avLst>
          </a:prstGeom>
          <a:solidFill>
            <a:srgbClr val="FFFFFF"/>
          </a:solidFill>
          <a:ln cap="flat" cmpd="sng" w="9525">
            <a:solidFill>
              <a:srgbClr val="D9E2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1"/>
          <p:cNvSpPr/>
          <p:nvPr/>
        </p:nvSpPr>
        <p:spPr>
          <a:xfrm>
            <a:off x="9097716" y="2747716"/>
            <a:ext cx="2135982" cy="416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A5173"/>
              </a:buClr>
              <a:buSzPts val="2200"/>
              <a:buFont typeface="Public Sans"/>
              <a:buNone/>
            </a:pPr>
            <a:r>
              <a:rPr b="1" i="0" lang="en-US" sz="2200" u="none" cap="none" strike="noStrike">
                <a:solidFill>
                  <a:srgbClr val="0A5173"/>
                </a:solidFill>
                <a:latin typeface="Public Sans"/>
                <a:ea typeface="Public Sans"/>
                <a:cs typeface="Public Sans"/>
                <a:sym typeface="Public Sans"/>
              </a:rPr>
              <a:t>4</a:t>
            </a:r>
            <a:endParaRPr b="0" i="0" sz="2200" u="none" cap="none" strike="noStrike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38" name="Google Shape;38;p1"/>
          <p:cNvSpPr/>
          <p:nvPr/>
        </p:nvSpPr>
        <p:spPr>
          <a:xfrm>
            <a:off x="9097716" y="3215076"/>
            <a:ext cx="2135982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4303F"/>
              </a:buClr>
              <a:buSzPts val="1600"/>
              <a:buFont typeface="Public Sans"/>
              <a:buNone/>
            </a:pPr>
            <a:r>
              <a:rPr b="1" i="0" lang="en-US" sz="1600" u="none" cap="none" strike="noStrike">
                <a:solidFill>
                  <a:srgbClr val="14303F"/>
                </a:solidFill>
                <a:latin typeface="Public Sans"/>
                <a:ea typeface="Public Sans"/>
                <a:cs typeface="Public Sans"/>
                <a:sym typeface="Public Sans"/>
              </a:rPr>
              <a:t>Anmelden</a:t>
            </a:r>
            <a:endParaRPr b="0" i="0" sz="1600" u="none" cap="none" strike="noStrike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39" name="Google Shape;39;p1"/>
          <p:cNvSpPr/>
          <p:nvPr/>
        </p:nvSpPr>
        <p:spPr>
          <a:xfrm>
            <a:off x="9097716" y="3535116"/>
            <a:ext cx="2135982" cy="9169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300"/>
              <a:buFont typeface="Public Sans"/>
              <a:buNone/>
            </a:pPr>
            <a:r>
              <a:rPr b="0" i="0" lang="en-US" sz="1300" u="none" cap="none" strike="noStrike">
                <a:solidFill>
                  <a:srgbClr val="4A5568"/>
                </a:solidFill>
                <a:latin typeface="Public Sans"/>
                <a:ea typeface="Public Sans"/>
                <a:cs typeface="Public Sans"/>
                <a:sym typeface="Public Sans"/>
              </a:rPr>
              <a:t>Vorstands-Unterschrift beglaubigen (Ratschreiber oder Notar), dann Register und Finanzamt</a:t>
            </a:r>
            <a:endParaRPr b="0" i="0" sz="1300" u="none" cap="none" strike="noStrike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40" name="Google Shape;40;p1"/>
          <p:cNvSpPr/>
          <p:nvPr/>
        </p:nvSpPr>
        <p:spPr>
          <a:xfrm>
            <a:off x="812800" y="6238240"/>
            <a:ext cx="10883392" cy="238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B7A82"/>
              </a:buClr>
              <a:buSzPts val="1200"/>
              <a:buFont typeface="Public Sans"/>
              <a:buNone/>
            </a:pPr>
            <a:r>
              <a:rPr b="0" i="0" lang="en-US" sz="1200" u="none" cap="none" strike="noStrike">
                <a:solidFill>
                  <a:srgbClr val="6B7A82"/>
                </a:solidFill>
                <a:latin typeface="Public Sans"/>
                <a:ea typeface="Public Sans"/>
                <a:cs typeface="Public Sans"/>
                <a:sym typeface="Public Sans"/>
              </a:rPr>
              <a:t>Sportbad Mannheim (Arbeitstitel) · Teamsitzung 23.10.2026</a:t>
            </a:r>
            <a:endParaRPr b="0" i="0" sz="1200" u="none" cap="none" strike="noStrike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8F6"/>
        </a:solidFill>
      </p:bgPr>
    </p:bg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"/>
          <p:cNvSpPr/>
          <p:nvPr/>
        </p:nvSpPr>
        <p:spPr>
          <a:xfrm>
            <a:off x="812800" y="812800"/>
            <a:ext cx="10883392" cy="2337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50"/>
              </a:lnSpc>
              <a:spcBef>
                <a:spcPts val="0"/>
              </a:spcBef>
              <a:spcAft>
                <a:spcPts val="0"/>
              </a:spcAft>
              <a:buClr>
                <a:srgbClr val="0A5173"/>
              </a:buClr>
              <a:buSzPts val="1196"/>
              <a:buFont typeface="Public Sans"/>
              <a:buNone/>
            </a:pPr>
            <a:r>
              <a:rPr b="1" i="0" lang="en-US" sz="1196" u="none" cap="none" strike="noStrike">
                <a:solidFill>
                  <a:srgbClr val="0A5173"/>
                </a:solidFill>
                <a:latin typeface="Public Sans"/>
                <a:ea typeface="Public Sans"/>
                <a:cs typeface="Public Sans"/>
                <a:sym typeface="Public Sans"/>
              </a:rPr>
              <a:t>2 · KOSTEN</a:t>
            </a:r>
            <a:endParaRPr b="0" i="0" sz="1196" u="none" cap="none" strike="noStrike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47" name="Google Shape;47;p2"/>
          <p:cNvSpPr txBox="1"/>
          <p:nvPr>
            <p:ph type="title"/>
          </p:nvPr>
        </p:nvSpPr>
        <p:spPr>
          <a:xfrm>
            <a:off x="812800" y="1275186"/>
            <a:ext cx="10883392" cy="4818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14984"/>
              </a:lnSpc>
              <a:spcBef>
                <a:spcPts val="0"/>
              </a:spcBef>
              <a:spcAft>
                <a:spcPts val="0"/>
              </a:spcAft>
              <a:buClr>
                <a:srgbClr val="14303F"/>
              </a:buClr>
              <a:buSzPts val="3150"/>
              <a:buFont typeface="Public Sans"/>
              <a:buNone/>
            </a:pPr>
            <a:r>
              <a:rPr b="1" i="0" lang="en-US" sz="3150">
                <a:solidFill>
                  <a:srgbClr val="14303F"/>
                </a:solidFill>
                <a:latin typeface="Public Sans"/>
                <a:ea typeface="Public Sans"/>
                <a:cs typeface="Public Sans"/>
                <a:sym typeface="Public Sans"/>
              </a:rPr>
              <a:t>Reparaturen: vor dem Start zu bezahlen</a:t>
            </a:r>
            <a:endParaRPr sz="3150"/>
          </a:p>
        </p:txBody>
      </p:sp>
      <p:graphicFrame>
        <p:nvGraphicFramePr>
          <p:cNvPr id="48" name="Google Shape;48;p2"/>
          <p:cNvGraphicFramePr/>
          <p:nvPr/>
        </p:nvGraphicFramePr>
        <p:xfrm>
          <a:off x="824089" y="199693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{7FE320B9-F49B-47E0-9B13-9FE4A9E6B8E7}</a:tableStyleId>
              </a:tblPr>
              <a:tblGrid>
                <a:gridCol w="3779525"/>
                <a:gridCol w="1819775"/>
                <a:gridCol w="1399825"/>
              </a:tblGrid>
              <a:tr h="3846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303F"/>
                        </a:buClr>
                        <a:buSzPts val="1400"/>
                        <a:buFont typeface="Public Sans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14303F"/>
                          </a:solidFill>
                          <a:latin typeface="Public Sans"/>
                          <a:ea typeface="Public Sans"/>
                          <a:cs typeface="Public Sans"/>
                          <a:sym typeface="Public Sans"/>
                        </a:rPr>
                        <a:t>Posten</a:t>
                      </a:r>
                      <a:endParaRPr sz="1400" u="none" cap="none" strike="noStrike">
                        <a:latin typeface="Public Sans"/>
                        <a:ea typeface="Public Sans"/>
                        <a:cs typeface="Public Sans"/>
                        <a:sym typeface="Public Sans"/>
                      </a:endParaRPr>
                    </a:p>
                  </a:txBody>
                  <a:tcPr marT="62225" marB="62225" marR="62225" marL="62225">
                    <a:lnL cap="flat" cmpd="sng" w="12700">
                      <a:solidFill>
                        <a:srgbClr val="C5C6C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8B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5C6C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8B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E6E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303F"/>
                        </a:buClr>
                        <a:buSzPts val="1400"/>
                        <a:buFont typeface="Public Sans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14303F"/>
                          </a:solidFill>
                          <a:latin typeface="Public Sans"/>
                          <a:ea typeface="Public Sans"/>
                          <a:cs typeface="Public Sans"/>
                          <a:sym typeface="Public Sans"/>
                        </a:rPr>
                        <a:t>Betrag</a:t>
                      </a:r>
                      <a:endParaRPr sz="1400" u="none" cap="none" strike="noStrike">
                        <a:latin typeface="Public Sans"/>
                        <a:ea typeface="Public Sans"/>
                        <a:cs typeface="Public Sans"/>
                        <a:sym typeface="Public Sans"/>
                      </a:endParaRPr>
                    </a:p>
                  </a:txBody>
                  <a:tcPr marT="62225" marB="62225" marR="62225" marL="62225">
                    <a:lnL cap="flat" cmpd="sng" w="12700">
                      <a:solidFill>
                        <a:srgbClr val="B7B8B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8B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5C6C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8B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E6E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303F"/>
                        </a:buClr>
                        <a:buSzPts val="1400"/>
                        <a:buFont typeface="Public Sans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14303F"/>
                          </a:solidFill>
                          <a:latin typeface="Public Sans"/>
                          <a:ea typeface="Public Sans"/>
                          <a:cs typeface="Public Sans"/>
                          <a:sym typeface="Public Sans"/>
                        </a:rPr>
                        <a:t>Basis</a:t>
                      </a:r>
                      <a:endParaRPr sz="1400" u="none" cap="none" strike="noStrike">
                        <a:latin typeface="Public Sans"/>
                        <a:ea typeface="Public Sans"/>
                        <a:cs typeface="Public Sans"/>
                        <a:sym typeface="Public Sans"/>
                      </a:endParaRPr>
                    </a:p>
                  </a:txBody>
                  <a:tcPr marT="62225" marB="62225" marR="62225" marL="62225">
                    <a:lnL cap="flat" cmpd="sng" w="12700">
                      <a:solidFill>
                        <a:srgbClr val="B7B8B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7B8B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5C6C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7B8B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5E6E4"/>
                    </a:solidFill>
                  </a:tcPr>
                </a:tc>
              </a:tr>
              <a:tr h="3846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303F"/>
                        </a:buClr>
                        <a:buSzPts val="1400"/>
                        <a:buFont typeface="Public Sans"/>
                        <a:buNone/>
                      </a:pPr>
                      <a:r>
                        <a:rPr lang="en-US" sz="1400" u="none" cap="none" strike="noStrike">
                          <a:solidFill>
                            <a:srgbClr val="14303F"/>
                          </a:solidFill>
                          <a:latin typeface="Public Sans"/>
                          <a:ea typeface="Public Sans"/>
                          <a:cs typeface="Public Sans"/>
                          <a:sym typeface="Public Sans"/>
                        </a:rPr>
                        <a:t>Chlorgas-Warnanlage inkl. Montage</a:t>
                      </a:r>
                      <a:endParaRPr sz="1400" u="none" cap="none" strike="noStrike">
                        <a:latin typeface="Public Sans"/>
                        <a:ea typeface="Public Sans"/>
                        <a:cs typeface="Public Sans"/>
                        <a:sym typeface="Public Sans"/>
                      </a:endParaRPr>
                    </a:p>
                  </a:txBody>
                  <a:tcPr marT="62225" marB="62225" marR="62225" marL="62225">
                    <a:lnL cap="flat" cmpd="sng" w="12700">
                      <a:solidFill>
                        <a:srgbClr val="C5C6C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5C6C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8B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5C6C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303F"/>
                        </a:buClr>
                        <a:buSzPts val="1400"/>
                        <a:buFont typeface="Public Sans"/>
                        <a:buNone/>
                      </a:pPr>
                      <a:r>
                        <a:rPr lang="en-US" sz="1400" u="none" cap="none" strike="noStrike">
                          <a:solidFill>
                            <a:srgbClr val="14303F"/>
                          </a:solidFill>
                          <a:latin typeface="Public Sans"/>
                          <a:ea typeface="Public Sans"/>
                          <a:cs typeface="Public Sans"/>
                          <a:sym typeface="Public Sans"/>
                        </a:rPr>
                        <a:t>7.340 €</a:t>
                      </a:r>
                      <a:endParaRPr sz="1400" u="none" cap="none" strike="noStrike">
                        <a:latin typeface="Public Sans"/>
                        <a:ea typeface="Public Sans"/>
                        <a:cs typeface="Public Sans"/>
                        <a:sym typeface="Public Sans"/>
                      </a:endParaRPr>
                    </a:p>
                  </a:txBody>
                  <a:tcPr marT="62225" marB="62225" marR="62225" marL="62225">
                    <a:lnL cap="flat" cmpd="sng" w="12700">
                      <a:solidFill>
                        <a:srgbClr val="C5C6C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5C6C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8B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5C6C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303F"/>
                        </a:buClr>
                        <a:buSzPts val="1400"/>
                        <a:buFont typeface="Public Sans"/>
                        <a:buNone/>
                      </a:pPr>
                      <a:r>
                        <a:rPr lang="en-US" sz="1400" u="none" cap="none" strike="noStrike">
                          <a:solidFill>
                            <a:srgbClr val="14303F"/>
                          </a:solidFill>
                          <a:latin typeface="Public Sans"/>
                          <a:ea typeface="Public Sans"/>
                          <a:cs typeface="Public Sans"/>
                          <a:sym typeface="Public Sans"/>
                        </a:rPr>
                        <a:t>Angebot</a:t>
                      </a:r>
                      <a:endParaRPr sz="1400" u="none" cap="none" strike="noStrike">
                        <a:latin typeface="Public Sans"/>
                        <a:ea typeface="Public Sans"/>
                        <a:cs typeface="Public Sans"/>
                        <a:sym typeface="Public Sans"/>
                      </a:endParaRPr>
                    </a:p>
                  </a:txBody>
                  <a:tcPr marT="62225" marB="62225" marR="62225" marL="62225">
                    <a:lnL cap="flat" cmpd="sng" w="12700">
                      <a:solidFill>
                        <a:srgbClr val="C5C6C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5C6C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7B8B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5C6C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46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303F"/>
                        </a:buClr>
                        <a:buSzPts val="1400"/>
                        <a:buFont typeface="Public Sans"/>
                        <a:buNone/>
                      </a:pPr>
                      <a:r>
                        <a:rPr lang="en-US" sz="1400" u="none" cap="none" strike="noStrike">
                          <a:solidFill>
                            <a:srgbClr val="14303F"/>
                          </a:solidFill>
                          <a:latin typeface="Public Sans"/>
                          <a:ea typeface="Public Sans"/>
                          <a:cs typeface="Public Sans"/>
                          <a:sym typeface="Public Sans"/>
                        </a:rPr>
                        <a:t>Dachabdichtung Hochdach</a:t>
                      </a:r>
                      <a:endParaRPr sz="1400" u="none" cap="none" strike="noStrike">
                        <a:latin typeface="Public Sans"/>
                        <a:ea typeface="Public Sans"/>
                        <a:cs typeface="Public Sans"/>
                        <a:sym typeface="Public Sans"/>
                      </a:endParaRPr>
                    </a:p>
                  </a:txBody>
                  <a:tcPr marT="62225" marB="62225" marR="62225" marL="62225">
                    <a:lnL cap="flat" cmpd="sng" w="12700">
                      <a:solidFill>
                        <a:srgbClr val="C5C6C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5C6C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5C6C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5C6C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303F"/>
                        </a:buClr>
                        <a:buSzPts val="1400"/>
                        <a:buFont typeface="Public Sans"/>
                        <a:buNone/>
                      </a:pPr>
                      <a:r>
                        <a:rPr lang="en-US" sz="1400" u="none" cap="none" strike="noStrike">
                          <a:solidFill>
                            <a:srgbClr val="14303F"/>
                          </a:solidFill>
                          <a:latin typeface="Public Sans"/>
                          <a:ea typeface="Public Sans"/>
                          <a:cs typeface="Public Sans"/>
                          <a:sym typeface="Public Sans"/>
                        </a:rPr>
                        <a:t>bis 20.000 €</a:t>
                      </a:r>
                      <a:endParaRPr sz="1400" u="none" cap="none" strike="noStrike">
                        <a:latin typeface="Public Sans"/>
                        <a:ea typeface="Public Sans"/>
                        <a:cs typeface="Public Sans"/>
                        <a:sym typeface="Public Sans"/>
                      </a:endParaRPr>
                    </a:p>
                  </a:txBody>
                  <a:tcPr marT="62225" marB="62225" marR="62225" marL="62225">
                    <a:lnL cap="flat" cmpd="sng" w="12700">
                      <a:solidFill>
                        <a:srgbClr val="C5C6C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5C6C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5C6C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5C6C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303F"/>
                        </a:buClr>
                        <a:buSzPts val="1400"/>
                        <a:buFont typeface="Public Sans"/>
                        <a:buNone/>
                      </a:pPr>
                      <a:r>
                        <a:rPr lang="en-US" sz="1400" u="none" cap="none" strike="noStrike">
                          <a:solidFill>
                            <a:srgbClr val="14303F"/>
                          </a:solidFill>
                          <a:latin typeface="Public Sans"/>
                          <a:ea typeface="Public Sans"/>
                          <a:cs typeface="Public Sans"/>
                          <a:sym typeface="Public Sans"/>
                        </a:rPr>
                        <a:t>Schätzung</a:t>
                      </a:r>
                      <a:endParaRPr sz="1400" u="none" cap="none" strike="noStrike">
                        <a:latin typeface="Public Sans"/>
                        <a:ea typeface="Public Sans"/>
                        <a:cs typeface="Public Sans"/>
                        <a:sym typeface="Public Sans"/>
                      </a:endParaRPr>
                    </a:p>
                  </a:txBody>
                  <a:tcPr marT="62225" marB="62225" marR="62225" marL="62225">
                    <a:lnL cap="flat" cmpd="sng" w="12700">
                      <a:solidFill>
                        <a:srgbClr val="C5C6C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5C6C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5C6C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5C6C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46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303F"/>
                        </a:buClr>
                        <a:buSzPts val="1400"/>
                        <a:buFont typeface="Public Sans"/>
                        <a:buNone/>
                      </a:pPr>
                      <a:r>
                        <a:rPr lang="en-US" sz="1400" u="none" cap="none" strike="noStrike">
                          <a:solidFill>
                            <a:srgbClr val="14303F"/>
                          </a:solidFill>
                          <a:latin typeface="Public Sans"/>
                          <a:ea typeface="Public Sans"/>
                          <a:cs typeface="Public Sans"/>
                          <a:sym typeface="Public Sans"/>
                        </a:rPr>
                        <a:t>Dachträger-Auflager, 3 Stellen, inkl. Gerüst</a:t>
                      </a:r>
                      <a:endParaRPr sz="1400" u="none" cap="none" strike="noStrike">
                        <a:latin typeface="Public Sans"/>
                        <a:ea typeface="Public Sans"/>
                        <a:cs typeface="Public Sans"/>
                        <a:sym typeface="Public Sans"/>
                      </a:endParaRPr>
                    </a:p>
                  </a:txBody>
                  <a:tcPr marT="62225" marB="62225" marR="62225" marL="62225">
                    <a:lnL cap="flat" cmpd="sng" w="12700">
                      <a:solidFill>
                        <a:srgbClr val="C5C6C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5C6C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5C6C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5C6C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303F"/>
                        </a:buClr>
                        <a:buSzPts val="1400"/>
                        <a:buFont typeface="Public Sans"/>
                        <a:buNone/>
                      </a:pPr>
                      <a:r>
                        <a:rPr lang="en-US" sz="1400" u="none" cap="none" strike="noStrike">
                          <a:solidFill>
                            <a:srgbClr val="14303F"/>
                          </a:solidFill>
                          <a:latin typeface="Public Sans"/>
                          <a:ea typeface="Public Sans"/>
                          <a:cs typeface="Public Sans"/>
                          <a:sym typeface="Public Sans"/>
                        </a:rPr>
                        <a:t>10.000–15.000 €</a:t>
                      </a:r>
                      <a:endParaRPr sz="1400" u="none" cap="none" strike="noStrike">
                        <a:latin typeface="Public Sans"/>
                        <a:ea typeface="Public Sans"/>
                        <a:cs typeface="Public Sans"/>
                        <a:sym typeface="Public Sans"/>
                      </a:endParaRPr>
                    </a:p>
                  </a:txBody>
                  <a:tcPr marT="62225" marB="62225" marR="62225" marL="62225">
                    <a:lnL cap="flat" cmpd="sng" w="12700">
                      <a:solidFill>
                        <a:srgbClr val="C5C6C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5C6C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5C6C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5C6C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303F"/>
                        </a:buClr>
                        <a:buSzPts val="1400"/>
                        <a:buFont typeface="Public Sans"/>
                        <a:buNone/>
                      </a:pPr>
                      <a:r>
                        <a:rPr lang="en-US" sz="1400" u="none" cap="none" strike="noStrike">
                          <a:solidFill>
                            <a:srgbClr val="14303F"/>
                          </a:solidFill>
                          <a:latin typeface="Public Sans"/>
                          <a:ea typeface="Public Sans"/>
                          <a:cs typeface="Public Sans"/>
                          <a:sym typeface="Public Sans"/>
                        </a:rPr>
                        <a:t>Schätzung</a:t>
                      </a:r>
                      <a:endParaRPr sz="1400" u="none" cap="none" strike="noStrike">
                        <a:latin typeface="Public Sans"/>
                        <a:ea typeface="Public Sans"/>
                        <a:cs typeface="Public Sans"/>
                        <a:sym typeface="Public Sans"/>
                      </a:endParaRPr>
                    </a:p>
                  </a:txBody>
                  <a:tcPr marT="62225" marB="62225" marR="62225" marL="62225">
                    <a:lnL cap="flat" cmpd="sng" w="12700">
                      <a:solidFill>
                        <a:srgbClr val="C5C6C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5C6C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5C6C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5C6C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46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303F"/>
                        </a:buClr>
                        <a:buSzPts val="1400"/>
                        <a:buFont typeface="Public Sans"/>
                        <a:buNone/>
                      </a:pPr>
                      <a:r>
                        <a:rPr lang="en-US" sz="1400" u="none" cap="none" strike="noStrike">
                          <a:solidFill>
                            <a:srgbClr val="14303F"/>
                          </a:solidFill>
                          <a:latin typeface="Public Sans"/>
                          <a:ea typeface="Public Sans"/>
                          <a:cs typeface="Public Sans"/>
                          <a:sym typeface="Public Sans"/>
                        </a:rPr>
                        <a:t>Duschen</a:t>
                      </a:r>
                      <a:endParaRPr sz="1400" u="none" cap="none" strike="noStrike">
                        <a:latin typeface="Public Sans"/>
                        <a:ea typeface="Public Sans"/>
                        <a:cs typeface="Public Sans"/>
                        <a:sym typeface="Public Sans"/>
                      </a:endParaRPr>
                    </a:p>
                  </a:txBody>
                  <a:tcPr marT="62225" marB="62225" marR="62225" marL="62225">
                    <a:lnL cap="flat" cmpd="sng" w="12700">
                      <a:solidFill>
                        <a:srgbClr val="C5C6C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5C6C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5C6C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5C6C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303F"/>
                        </a:buClr>
                        <a:buSzPts val="1400"/>
                        <a:buFont typeface="Public Sans"/>
                        <a:buNone/>
                      </a:pPr>
                      <a:r>
                        <a:rPr lang="en-US" sz="1400" u="none" cap="none" strike="noStrike">
                          <a:solidFill>
                            <a:srgbClr val="14303F"/>
                          </a:solidFill>
                          <a:latin typeface="Public Sans"/>
                          <a:ea typeface="Public Sans"/>
                          <a:cs typeface="Public Sans"/>
                          <a:sym typeface="Public Sans"/>
                        </a:rPr>
                        <a:t>5.000 €</a:t>
                      </a:r>
                      <a:endParaRPr sz="1400" u="none" cap="none" strike="noStrike">
                        <a:latin typeface="Public Sans"/>
                        <a:ea typeface="Public Sans"/>
                        <a:cs typeface="Public Sans"/>
                        <a:sym typeface="Public Sans"/>
                      </a:endParaRPr>
                    </a:p>
                  </a:txBody>
                  <a:tcPr marT="62225" marB="62225" marR="62225" marL="62225">
                    <a:lnL cap="flat" cmpd="sng" w="12700">
                      <a:solidFill>
                        <a:srgbClr val="C5C6C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5C6C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5C6C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5C6C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303F"/>
                        </a:buClr>
                        <a:buSzPts val="1400"/>
                        <a:buFont typeface="Public Sans"/>
                        <a:buNone/>
                      </a:pPr>
                      <a:r>
                        <a:rPr lang="en-US" sz="1400" u="none" cap="none" strike="noStrike">
                          <a:solidFill>
                            <a:srgbClr val="14303F"/>
                          </a:solidFill>
                          <a:latin typeface="Public Sans"/>
                          <a:ea typeface="Public Sans"/>
                          <a:cs typeface="Public Sans"/>
                          <a:sym typeface="Public Sans"/>
                        </a:rPr>
                        <a:t>Schätzung</a:t>
                      </a:r>
                      <a:endParaRPr sz="1400" u="none" cap="none" strike="noStrike">
                        <a:latin typeface="Public Sans"/>
                        <a:ea typeface="Public Sans"/>
                        <a:cs typeface="Public Sans"/>
                        <a:sym typeface="Public Sans"/>
                      </a:endParaRPr>
                    </a:p>
                  </a:txBody>
                  <a:tcPr marT="62225" marB="62225" marR="62225" marL="62225">
                    <a:lnL cap="flat" cmpd="sng" w="12700">
                      <a:solidFill>
                        <a:srgbClr val="C5C6C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5C6C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5C6C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5C6C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46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303F"/>
                        </a:buClr>
                        <a:buSzPts val="1400"/>
                        <a:buFont typeface="Public Sans"/>
                        <a:buNone/>
                      </a:pPr>
                      <a:r>
                        <a:rPr lang="en-US" sz="1400" u="none" cap="none" strike="noStrike">
                          <a:solidFill>
                            <a:srgbClr val="14303F"/>
                          </a:solidFill>
                          <a:latin typeface="Public Sans"/>
                          <a:ea typeface="Public Sans"/>
                          <a:cs typeface="Public Sans"/>
                          <a:sym typeface="Public Sans"/>
                        </a:rPr>
                        <a:t>Becken, Fliesen, Sprungturm</a:t>
                      </a:r>
                      <a:endParaRPr sz="1400" u="none" cap="none" strike="noStrike">
                        <a:latin typeface="Public Sans"/>
                        <a:ea typeface="Public Sans"/>
                        <a:cs typeface="Public Sans"/>
                        <a:sym typeface="Public Sans"/>
                      </a:endParaRPr>
                    </a:p>
                  </a:txBody>
                  <a:tcPr marT="62225" marB="62225" marR="62225" marL="62225">
                    <a:lnL cap="flat" cmpd="sng" w="12700">
                      <a:solidFill>
                        <a:srgbClr val="C5C6C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5C6C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5C6C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5C6C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303F"/>
                        </a:buClr>
                        <a:buSzPts val="1400"/>
                        <a:buFont typeface="Public Sans"/>
                        <a:buNone/>
                      </a:pPr>
                      <a:r>
                        <a:rPr lang="en-US" sz="1400" u="none" cap="none" strike="noStrike">
                          <a:solidFill>
                            <a:srgbClr val="14303F"/>
                          </a:solidFill>
                          <a:latin typeface="Public Sans"/>
                          <a:ea typeface="Public Sans"/>
                          <a:cs typeface="Public Sans"/>
                          <a:sym typeface="Public Sans"/>
                        </a:rPr>
                        <a:t>5.000 €</a:t>
                      </a:r>
                      <a:endParaRPr sz="1400" u="none" cap="none" strike="noStrike">
                        <a:latin typeface="Public Sans"/>
                        <a:ea typeface="Public Sans"/>
                        <a:cs typeface="Public Sans"/>
                        <a:sym typeface="Public Sans"/>
                      </a:endParaRPr>
                    </a:p>
                  </a:txBody>
                  <a:tcPr marT="62225" marB="62225" marR="62225" marL="62225">
                    <a:lnL cap="flat" cmpd="sng" w="12700">
                      <a:solidFill>
                        <a:srgbClr val="C5C6C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5C6C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5C6C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5C6C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303F"/>
                        </a:buClr>
                        <a:buSzPts val="1400"/>
                        <a:buFont typeface="Public Sans"/>
                        <a:buNone/>
                      </a:pPr>
                      <a:r>
                        <a:rPr lang="en-US" sz="1400" u="none" cap="none" strike="noStrike">
                          <a:solidFill>
                            <a:srgbClr val="14303F"/>
                          </a:solidFill>
                          <a:latin typeface="Public Sans"/>
                          <a:ea typeface="Public Sans"/>
                          <a:cs typeface="Public Sans"/>
                          <a:sym typeface="Public Sans"/>
                        </a:rPr>
                        <a:t>Schätzung</a:t>
                      </a:r>
                      <a:endParaRPr sz="1400" u="none" cap="none" strike="noStrike">
                        <a:latin typeface="Public Sans"/>
                        <a:ea typeface="Public Sans"/>
                        <a:cs typeface="Public Sans"/>
                        <a:sym typeface="Public Sans"/>
                      </a:endParaRPr>
                    </a:p>
                  </a:txBody>
                  <a:tcPr marT="62225" marB="62225" marR="62225" marL="62225">
                    <a:lnL cap="flat" cmpd="sng" w="12700">
                      <a:solidFill>
                        <a:srgbClr val="C5C6C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5C6C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5C6C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5C6C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46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303F"/>
                        </a:buClr>
                        <a:buSzPts val="1400"/>
                        <a:buFont typeface="Public Sans"/>
                        <a:buNone/>
                      </a:pPr>
                      <a:r>
                        <a:rPr lang="en-US" sz="1400" u="none" cap="none" strike="noStrike">
                          <a:solidFill>
                            <a:srgbClr val="14303F"/>
                          </a:solidFill>
                          <a:latin typeface="Public Sans"/>
                          <a:ea typeface="Public Sans"/>
                          <a:cs typeface="Public Sans"/>
                          <a:sym typeface="Public Sans"/>
                        </a:rPr>
                        <a:t>Leinen und Leinenwagen</a:t>
                      </a:r>
                      <a:endParaRPr sz="1400" u="none" cap="none" strike="noStrike">
                        <a:latin typeface="Public Sans"/>
                        <a:ea typeface="Public Sans"/>
                        <a:cs typeface="Public Sans"/>
                        <a:sym typeface="Public Sans"/>
                      </a:endParaRPr>
                    </a:p>
                  </a:txBody>
                  <a:tcPr marT="62225" marB="62225" marR="62225" marL="62225">
                    <a:lnL cap="flat" cmpd="sng" w="12700">
                      <a:solidFill>
                        <a:srgbClr val="C5C6C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5C6C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5C6C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5C6C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303F"/>
                        </a:buClr>
                        <a:buSzPts val="1400"/>
                        <a:buFont typeface="Public Sans"/>
                        <a:buNone/>
                      </a:pPr>
                      <a:r>
                        <a:rPr lang="en-US" sz="1400" u="none" cap="none" strike="noStrike">
                          <a:solidFill>
                            <a:srgbClr val="14303F"/>
                          </a:solidFill>
                          <a:latin typeface="Public Sans"/>
                          <a:ea typeface="Public Sans"/>
                          <a:cs typeface="Public Sans"/>
                          <a:sym typeface="Public Sans"/>
                        </a:rPr>
                        <a:t>5.000 €</a:t>
                      </a:r>
                      <a:endParaRPr sz="1400" u="none" cap="none" strike="noStrike">
                        <a:latin typeface="Public Sans"/>
                        <a:ea typeface="Public Sans"/>
                        <a:cs typeface="Public Sans"/>
                        <a:sym typeface="Public Sans"/>
                      </a:endParaRPr>
                    </a:p>
                  </a:txBody>
                  <a:tcPr marT="62225" marB="62225" marR="62225" marL="62225">
                    <a:lnL cap="flat" cmpd="sng" w="12700">
                      <a:solidFill>
                        <a:srgbClr val="C5C6C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5C6C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5C6C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5C6C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303F"/>
                        </a:buClr>
                        <a:buSzPts val="1400"/>
                        <a:buFont typeface="Public Sans"/>
                        <a:buNone/>
                      </a:pPr>
                      <a:r>
                        <a:rPr lang="en-US" sz="1400" u="none" cap="none" strike="noStrike">
                          <a:solidFill>
                            <a:srgbClr val="14303F"/>
                          </a:solidFill>
                          <a:latin typeface="Public Sans"/>
                          <a:ea typeface="Public Sans"/>
                          <a:cs typeface="Public Sans"/>
                          <a:sym typeface="Public Sans"/>
                        </a:rPr>
                        <a:t>Schätzung</a:t>
                      </a:r>
                      <a:endParaRPr sz="1400" u="none" cap="none" strike="noStrike">
                        <a:latin typeface="Public Sans"/>
                        <a:ea typeface="Public Sans"/>
                        <a:cs typeface="Public Sans"/>
                        <a:sym typeface="Public Sans"/>
                      </a:endParaRPr>
                    </a:p>
                  </a:txBody>
                  <a:tcPr marT="62225" marB="62225" marR="62225" marL="62225">
                    <a:lnL cap="flat" cmpd="sng" w="12700">
                      <a:solidFill>
                        <a:srgbClr val="C5C6C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5C6C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5C6C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5C6C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46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303F"/>
                        </a:buClr>
                        <a:buSzPts val="1400"/>
                        <a:buFont typeface="Public Sans"/>
                        <a:buNone/>
                      </a:pPr>
                      <a:r>
                        <a:rPr lang="en-US" sz="1400" u="none" cap="none" strike="noStrike">
                          <a:solidFill>
                            <a:srgbClr val="14303F"/>
                          </a:solidFill>
                          <a:latin typeface="Public Sans"/>
                          <a:ea typeface="Public Sans"/>
                          <a:cs typeface="Public Sans"/>
                          <a:sym typeface="Public Sans"/>
                        </a:rPr>
                        <a:t>Notar</a:t>
                      </a:r>
                      <a:endParaRPr sz="1400" u="none" cap="none" strike="noStrike">
                        <a:latin typeface="Public Sans"/>
                        <a:ea typeface="Public Sans"/>
                        <a:cs typeface="Public Sans"/>
                        <a:sym typeface="Public Sans"/>
                      </a:endParaRPr>
                    </a:p>
                  </a:txBody>
                  <a:tcPr marT="62225" marB="62225" marR="62225" marL="62225">
                    <a:lnL cap="flat" cmpd="sng" w="12700">
                      <a:solidFill>
                        <a:srgbClr val="C5C6C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5C6C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5C6C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5C6C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303F"/>
                        </a:buClr>
                        <a:buSzPts val="1400"/>
                        <a:buFont typeface="Public Sans"/>
                        <a:buNone/>
                      </a:pPr>
                      <a:r>
                        <a:rPr lang="en-US" sz="1400" u="none" cap="none" strike="noStrike">
                          <a:solidFill>
                            <a:srgbClr val="14303F"/>
                          </a:solidFill>
                          <a:latin typeface="Public Sans"/>
                          <a:ea typeface="Public Sans"/>
                          <a:cs typeface="Public Sans"/>
                          <a:sym typeface="Public Sans"/>
                        </a:rPr>
                        <a:t>500 €</a:t>
                      </a:r>
                      <a:endParaRPr sz="1400" u="none" cap="none" strike="noStrike">
                        <a:latin typeface="Public Sans"/>
                        <a:ea typeface="Public Sans"/>
                        <a:cs typeface="Public Sans"/>
                        <a:sym typeface="Public Sans"/>
                      </a:endParaRPr>
                    </a:p>
                  </a:txBody>
                  <a:tcPr marT="62225" marB="62225" marR="62225" marL="62225">
                    <a:lnL cap="flat" cmpd="sng" w="12700">
                      <a:solidFill>
                        <a:srgbClr val="C5C6C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5C6C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5C6C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5C6C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303F"/>
                        </a:buClr>
                        <a:buSzPts val="1400"/>
                        <a:buFont typeface="Public Sans"/>
                        <a:buNone/>
                      </a:pPr>
                      <a:r>
                        <a:rPr lang="en-US" sz="1400" u="none" cap="none" strike="noStrike">
                          <a:solidFill>
                            <a:srgbClr val="14303F"/>
                          </a:solidFill>
                          <a:latin typeface="Public Sans"/>
                          <a:ea typeface="Public Sans"/>
                          <a:cs typeface="Public Sans"/>
                          <a:sym typeface="Public Sans"/>
                        </a:rPr>
                        <a:t>Schätzung</a:t>
                      </a:r>
                      <a:endParaRPr sz="1400" u="none" cap="none" strike="noStrike">
                        <a:latin typeface="Public Sans"/>
                        <a:ea typeface="Public Sans"/>
                        <a:cs typeface="Public Sans"/>
                        <a:sym typeface="Public Sans"/>
                      </a:endParaRPr>
                    </a:p>
                  </a:txBody>
                  <a:tcPr marT="62225" marB="62225" marR="62225" marL="62225">
                    <a:lnL cap="flat" cmpd="sng" w="12700">
                      <a:solidFill>
                        <a:srgbClr val="C5C6C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5C6C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5C6C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5C6C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46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303F"/>
                        </a:buClr>
                        <a:buSzPts val="1400"/>
                        <a:buFont typeface="Public Sans"/>
                        <a:buNone/>
                      </a:pPr>
                      <a:r>
                        <a:rPr lang="en-US" sz="1400" u="none" cap="none" strike="noStrike">
                          <a:solidFill>
                            <a:srgbClr val="14303F"/>
                          </a:solidFill>
                          <a:latin typeface="Public Sans"/>
                          <a:ea typeface="Public Sans"/>
                          <a:cs typeface="Public Sans"/>
                          <a:sym typeface="Public Sans"/>
                        </a:rPr>
                        <a:t>Summe</a:t>
                      </a:r>
                      <a:endParaRPr sz="1400" u="none" cap="none" strike="noStrike">
                        <a:latin typeface="Public Sans"/>
                        <a:ea typeface="Public Sans"/>
                        <a:cs typeface="Public Sans"/>
                        <a:sym typeface="Public Sans"/>
                      </a:endParaRPr>
                    </a:p>
                  </a:txBody>
                  <a:tcPr marT="62225" marB="62225" marR="62225" marL="62225">
                    <a:lnL cap="flat" cmpd="sng" w="12700">
                      <a:solidFill>
                        <a:srgbClr val="C5C6C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8BEC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5C6C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8BEC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EE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303F"/>
                        </a:buClr>
                        <a:buSzPts val="1400"/>
                        <a:buFont typeface="Public Sans"/>
                        <a:buNone/>
                      </a:pPr>
                      <a:r>
                        <a:rPr lang="en-US" sz="1400" u="none" cap="none" strike="noStrike">
                          <a:solidFill>
                            <a:srgbClr val="14303F"/>
                          </a:solidFill>
                          <a:latin typeface="Public Sans"/>
                          <a:ea typeface="Public Sans"/>
                          <a:cs typeface="Public Sans"/>
                          <a:sym typeface="Public Sans"/>
                        </a:rPr>
                        <a:t>≈ 53.000 €</a:t>
                      </a:r>
                      <a:endParaRPr sz="1400" u="none" cap="none" strike="noStrike">
                        <a:latin typeface="Public Sans"/>
                        <a:ea typeface="Public Sans"/>
                        <a:cs typeface="Public Sans"/>
                        <a:sym typeface="Public Sans"/>
                      </a:endParaRPr>
                    </a:p>
                  </a:txBody>
                  <a:tcPr marT="62225" marB="62225" marR="62225" marL="62225">
                    <a:lnL cap="flat" cmpd="sng" w="12700">
                      <a:solidFill>
                        <a:srgbClr val="B8BEC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8BEC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5C6C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8BEC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EE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303F"/>
                        </a:buClr>
                        <a:buSzPts val="1400"/>
                        <a:buFont typeface="Public Sans"/>
                        <a:buNone/>
                      </a:pPr>
                      <a:r>
                        <a:rPr lang="en-US" sz="1400" u="none" cap="none" strike="noStrike">
                          <a:solidFill>
                            <a:srgbClr val="14303F"/>
                          </a:solidFill>
                          <a:latin typeface="Public Sans"/>
                          <a:ea typeface="Public Sans"/>
                          <a:cs typeface="Public Sans"/>
                          <a:sym typeface="Public Sans"/>
                        </a:rPr>
                        <a:t>bis ≈ 58.000 €</a:t>
                      </a:r>
                      <a:endParaRPr sz="1400" u="none" cap="none" strike="noStrike">
                        <a:latin typeface="Public Sans"/>
                        <a:ea typeface="Public Sans"/>
                        <a:cs typeface="Public Sans"/>
                        <a:sym typeface="Public Sans"/>
                      </a:endParaRPr>
                    </a:p>
                  </a:txBody>
                  <a:tcPr marT="62225" marB="62225" marR="62225" marL="62225">
                    <a:lnL cap="flat" cmpd="sng" w="12700">
                      <a:solidFill>
                        <a:srgbClr val="B8BEC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8BEC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5C6C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8BEC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EEF2"/>
                    </a:solidFill>
                  </a:tcPr>
                </a:tc>
              </a:tr>
            </a:tbl>
          </a:graphicData>
        </a:graphic>
      </p:graphicFrame>
      <p:sp>
        <p:nvSpPr>
          <p:cNvPr id="49" name="Google Shape;49;p2"/>
          <p:cNvSpPr/>
          <p:nvPr/>
        </p:nvSpPr>
        <p:spPr>
          <a:xfrm>
            <a:off x="8128000" y="1985645"/>
            <a:ext cx="3251200" cy="3948430"/>
          </a:xfrm>
          <a:prstGeom prst="roundRect">
            <a:avLst>
              <a:gd fmla="val 3125" name="adj"/>
            </a:avLst>
          </a:prstGeom>
          <a:solidFill>
            <a:srgbClr val="0A51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2"/>
          <p:cNvSpPr/>
          <p:nvPr/>
        </p:nvSpPr>
        <p:spPr>
          <a:xfrm>
            <a:off x="8356600" y="2214245"/>
            <a:ext cx="28778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D6E6EE"/>
              </a:buClr>
              <a:buSzPts val="1400"/>
              <a:buFont typeface="Public Sans"/>
              <a:buNone/>
            </a:pPr>
            <a:r>
              <a:rPr b="0" i="0" lang="en-US" sz="1400" u="none" cap="none" strike="noStrike">
                <a:solidFill>
                  <a:srgbClr val="D6E6EE"/>
                </a:solidFill>
                <a:latin typeface="Public Sans"/>
                <a:ea typeface="Public Sans"/>
                <a:cs typeface="Public Sans"/>
                <a:sym typeface="Public Sans"/>
              </a:rPr>
              <a:t>Reparaturen</a:t>
            </a:r>
            <a:endParaRPr b="0" i="0" sz="1400" u="none" cap="none" strike="noStrike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51" name="Google Shape;51;p2"/>
          <p:cNvSpPr/>
          <p:nvPr/>
        </p:nvSpPr>
        <p:spPr>
          <a:xfrm>
            <a:off x="8356600" y="2564765"/>
            <a:ext cx="2877820" cy="416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7F8F6"/>
              </a:buClr>
              <a:buSzPts val="2200"/>
              <a:buFont typeface="Public Sans"/>
              <a:buNone/>
            </a:pPr>
            <a:r>
              <a:rPr b="1" i="0" lang="en-US" sz="2200" u="none" cap="none" strike="noStrike">
                <a:solidFill>
                  <a:srgbClr val="F7F8F6"/>
                </a:solidFill>
                <a:latin typeface="Public Sans"/>
                <a:ea typeface="Public Sans"/>
                <a:cs typeface="Public Sans"/>
                <a:sym typeface="Public Sans"/>
              </a:rPr>
              <a:t>≈ 53.000 €</a:t>
            </a:r>
            <a:endParaRPr b="0" i="0" sz="2200" u="none" cap="none" strike="noStrike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52" name="Google Shape;52;p2"/>
          <p:cNvSpPr/>
          <p:nvPr/>
        </p:nvSpPr>
        <p:spPr>
          <a:xfrm>
            <a:off x="8356600" y="3057525"/>
            <a:ext cx="28778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D6E6EE"/>
              </a:buClr>
              <a:buSzPts val="1400"/>
              <a:buFont typeface="Public Sans"/>
              <a:buNone/>
            </a:pPr>
            <a:r>
              <a:rPr b="0" i="0" lang="en-US" sz="1400" u="none" cap="none" strike="noStrike">
                <a:solidFill>
                  <a:srgbClr val="D6E6EE"/>
                </a:solidFill>
                <a:latin typeface="Public Sans"/>
                <a:ea typeface="Public Sans"/>
                <a:cs typeface="Public Sans"/>
                <a:sym typeface="Public Sans"/>
              </a:rPr>
              <a:t>+ Betrieb pro Jahr</a:t>
            </a:r>
            <a:endParaRPr b="0" i="0" sz="1400" u="none" cap="none" strike="noStrike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53" name="Google Shape;53;p2"/>
          <p:cNvSpPr/>
          <p:nvPr/>
        </p:nvSpPr>
        <p:spPr>
          <a:xfrm>
            <a:off x="8356600" y="3408045"/>
            <a:ext cx="2877820" cy="416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7F8F6"/>
              </a:buClr>
              <a:buSzPts val="2200"/>
              <a:buFont typeface="Public Sans"/>
              <a:buNone/>
            </a:pPr>
            <a:r>
              <a:rPr b="1" i="0" lang="en-US" sz="2200" u="none" cap="none" strike="noStrike">
                <a:solidFill>
                  <a:srgbClr val="F7F8F6"/>
                </a:solidFill>
                <a:latin typeface="Public Sans"/>
                <a:ea typeface="Public Sans"/>
                <a:cs typeface="Public Sans"/>
                <a:sym typeface="Public Sans"/>
              </a:rPr>
              <a:t>≈ 250.000 €</a:t>
            </a:r>
            <a:endParaRPr b="0" i="0" sz="2200" u="none" cap="none" strike="noStrike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pic>
        <p:nvPicPr>
          <p:cNvPr descr="line" id="54" name="Google Shape;54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56600" y="3900805"/>
            <a:ext cx="2794000" cy="12700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2"/>
          <p:cNvSpPr/>
          <p:nvPr/>
        </p:nvSpPr>
        <p:spPr>
          <a:xfrm>
            <a:off x="8356600" y="4015105"/>
            <a:ext cx="28778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D6E6EE"/>
              </a:buClr>
              <a:buSzPts val="1400"/>
              <a:buFont typeface="Public Sans"/>
              <a:buNone/>
            </a:pPr>
            <a:r>
              <a:rPr b="0" i="0" lang="en-US" sz="1400" u="none" cap="none" strike="noStrike">
                <a:solidFill>
                  <a:srgbClr val="D6E6EE"/>
                </a:solidFill>
                <a:latin typeface="Public Sans"/>
                <a:ea typeface="Public Sans"/>
                <a:cs typeface="Public Sans"/>
                <a:sym typeface="Public Sans"/>
              </a:rPr>
              <a:t>Bedarf erstes Jahr</a:t>
            </a:r>
            <a:endParaRPr b="0" i="0" sz="1400" u="none" cap="none" strike="noStrike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56" name="Google Shape;56;p2"/>
          <p:cNvSpPr/>
          <p:nvPr/>
        </p:nvSpPr>
        <p:spPr>
          <a:xfrm>
            <a:off x="8356600" y="4365625"/>
            <a:ext cx="2877820" cy="416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7F8F6"/>
              </a:buClr>
              <a:buSzPts val="2200"/>
              <a:buFont typeface="Public Sans"/>
              <a:buNone/>
            </a:pPr>
            <a:r>
              <a:rPr b="1" i="0" lang="en-US" sz="2200" u="none" cap="none" strike="noStrike">
                <a:solidFill>
                  <a:srgbClr val="F7F8F6"/>
                </a:solidFill>
                <a:latin typeface="Public Sans"/>
                <a:ea typeface="Public Sans"/>
                <a:cs typeface="Public Sans"/>
                <a:sym typeface="Public Sans"/>
              </a:rPr>
              <a:t>≈ 300.000 €</a:t>
            </a:r>
            <a:endParaRPr b="0" i="0" sz="2200" u="none" cap="none" strike="noStrike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57" name="Google Shape;57;p2"/>
          <p:cNvSpPr/>
          <p:nvPr/>
        </p:nvSpPr>
        <p:spPr>
          <a:xfrm>
            <a:off x="8356600" y="4858386"/>
            <a:ext cx="2794000" cy="847090"/>
          </a:xfrm>
          <a:prstGeom prst="roundRect">
            <a:avLst>
              <a:gd fmla="val 7496" name="adj"/>
            </a:avLst>
          </a:prstGeom>
          <a:solidFill>
            <a:srgbClr val="F2C14E"/>
          </a:solidFill>
          <a:ln>
            <a:noFill/>
          </a:ln>
        </p:spPr>
        <p:txBody>
          <a:bodyPr anchorCtr="0" anchor="t" bIns="57600" lIns="108400" spcFirstLastPara="1" rIns="32200" wrap="square" tIns="83000">
            <a:norm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4303F"/>
              </a:buClr>
              <a:buSzPts val="1300"/>
              <a:buFont typeface="Public Sans"/>
              <a:buNone/>
            </a:pPr>
            <a:r>
              <a:rPr b="1" i="0" lang="en-US" sz="1300" u="none" cap="none" strike="noStrike">
                <a:solidFill>
                  <a:srgbClr val="14303F"/>
                </a:solidFill>
                <a:latin typeface="Public Sans"/>
                <a:ea typeface="Public Sans"/>
                <a:cs typeface="Public Sans"/>
                <a:sym typeface="Public Sans"/>
              </a:rPr>
              <a:t>Fundraising in jedem Fall: Zusagen bringen erst im Betrieb Geld.</a:t>
            </a:r>
            <a:endParaRPr b="0" i="0" sz="1300" u="none" cap="none" strike="noStrike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58" name="Google Shape;58;p2"/>
          <p:cNvSpPr/>
          <p:nvPr/>
        </p:nvSpPr>
        <p:spPr>
          <a:xfrm>
            <a:off x="812800" y="6238241"/>
            <a:ext cx="10883392" cy="238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B7A82"/>
              </a:buClr>
              <a:buSzPts val="1200"/>
              <a:buFont typeface="Public Sans"/>
              <a:buNone/>
            </a:pPr>
            <a:r>
              <a:rPr b="0" i="0" lang="en-US" sz="1200" u="none" cap="none" strike="noStrike">
                <a:solidFill>
                  <a:srgbClr val="6B7A82"/>
                </a:solidFill>
                <a:latin typeface="Public Sans"/>
                <a:ea typeface="Public Sans"/>
                <a:cs typeface="Public Sans"/>
                <a:sym typeface="Public Sans"/>
              </a:rPr>
              <a:t>Auch mit vollen Zusagen fehlt uns am Anfang das Kapital für die Reparaturen – ohne Startgeld kein Betrieb.</a:t>
            </a:r>
            <a:endParaRPr b="0" i="0" sz="1200" u="none" cap="none" strike="noStrike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8F6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3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A5173"/>
              </a:buClr>
              <a:buSzPts val="1200"/>
              <a:buFont typeface="Public Sans"/>
              <a:buNone/>
            </a:pPr>
            <a:r>
              <a:rPr b="1" i="0" lang="en-US" sz="1200" u="none" cap="none" strike="noStrike">
                <a:solidFill>
                  <a:srgbClr val="0A5173"/>
                </a:solidFill>
                <a:latin typeface="Public Sans"/>
                <a:ea typeface="Public Sans"/>
                <a:cs typeface="Public Sans"/>
                <a:sym typeface="Public Sans"/>
              </a:rPr>
              <a:t>2 · ZUSAGEN</a:t>
            </a:r>
            <a:endParaRPr b="0" i="0" sz="1200" u="none" cap="none" strike="noStrike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65" name="Google Shape;65;p3"/>
          <p:cNvSpPr txBox="1"/>
          <p:nvPr>
            <p:ph type="title"/>
          </p:nvPr>
        </p:nvSpPr>
        <p:spPr>
          <a:xfrm>
            <a:off x="812800" y="1280161"/>
            <a:ext cx="10883392" cy="492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4303F"/>
              </a:buClr>
              <a:buSzPts val="3200"/>
              <a:buFont typeface="Public Sans"/>
              <a:buNone/>
            </a:pPr>
            <a:r>
              <a:rPr b="1" i="0" lang="en-US" sz="3200">
                <a:solidFill>
                  <a:srgbClr val="14303F"/>
                </a:solidFill>
                <a:latin typeface="Public Sans"/>
                <a:ea typeface="Public Sans"/>
                <a:cs typeface="Public Sans"/>
                <a:sym typeface="Public Sans"/>
              </a:rPr>
              <a:t>Aus Zusagen müssen Verträge werden</a:t>
            </a:r>
            <a:endParaRPr sz="3200"/>
          </a:p>
        </p:txBody>
      </p:sp>
      <p:sp>
        <p:nvSpPr>
          <p:cNvPr id="66" name="Google Shape;66;p3"/>
          <p:cNvSpPr/>
          <p:nvPr/>
        </p:nvSpPr>
        <p:spPr>
          <a:xfrm>
            <a:off x="815975" y="2004695"/>
            <a:ext cx="4057650" cy="3392311"/>
          </a:xfrm>
          <a:prstGeom prst="roundRect">
            <a:avLst>
              <a:gd fmla="val 2901" name="adj"/>
            </a:avLst>
          </a:prstGeom>
          <a:solidFill>
            <a:srgbClr val="FFFFFF"/>
          </a:solidFill>
          <a:ln cap="flat" cmpd="sng" w="9525">
            <a:solidFill>
              <a:srgbClr val="D9E2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3"/>
          <p:cNvSpPr/>
          <p:nvPr/>
        </p:nvSpPr>
        <p:spPr>
          <a:xfrm>
            <a:off x="1071316" y="2260036"/>
            <a:ext cx="3653378" cy="665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Clr>
                <a:srgbClr val="0A5173"/>
              </a:buClr>
              <a:buSzPts val="4800"/>
              <a:buFont typeface="Public Sans"/>
              <a:buNone/>
            </a:pPr>
            <a:r>
              <a:rPr b="1" i="0" lang="en-US" sz="4800" u="none" cap="none" strike="noStrike">
                <a:solidFill>
                  <a:srgbClr val="0A5173"/>
                </a:solidFill>
                <a:latin typeface="Public Sans"/>
                <a:ea typeface="Public Sans"/>
                <a:cs typeface="Public Sans"/>
                <a:sym typeface="Public Sans"/>
              </a:rPr>
              <a:t>138</a:t>
            </a:r>
            <a:endParaRPr b="0" i="0" sz="4800" u="none" cap="none" strike="noStrike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68" name="Google Shape;68;p3"/>
          <p:cNvSpPr/>
          <p:nvPr/>
        </p:nvSpPr>
        <p:spPr>
          <a:xfrm>
            <a:off x="1071316" y="2976316"/>
            <a:ext cx="3653378" cy="523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4303F"/>
              </a:buClr>
              <a:buSzPts val="1400"/>
              <a:buFont typeface="Public Sans"/>
              <a:buNone/>
            </a:pPr>
            <a:r>
              <a:rPr b="1" i="0" lang="en-US" sz="1400" u="none" cap="none" strike="noStrike">
                <a:solidFill>
                  <a:srgbClr val="14303F"/>
                </a:solidFill>
                <a:latin typeface="Public Sans"/>
                <a:ea typeface="Public Sans"/>
                <a:cs typeface="Public Sans"/>
                <a:sym typeface="Public Sans"/>
              </a:rPr>
              <a:t>Bahnstunden pro Woche</a:t>
            </a:r>
            <a:r>
              <a:rPr b="0" i="0" lang="en-US" sz="1400" u="none" cap="none" strike="noStrike">
                <a:solidFill>
                  <a:srgbClr val="14303F"/>
                </a:solidFill>
                <a:latin typeface="Public Sans"/>
                <a:ea typeface="Public Sans"/>
                <a:cs typeface="Public Sans"/>
                <a:sym typeface="Public Sans"/>
              </a:rPr>
              <a:t>, mündlich zugesagt</a:t>
            </a:r>
            <a:endParaRPr b="0" i="0" sz="1400" u="none" cap="none" strike="noStrike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69" name="Google Shape;69;p3"/>
          <p:cNvSpPr/>
          <p:nvPr/>
        </p:nvSpPr>
        <p:spPr>
          <a:xfrm>
            <a:off x="1071316" y="3550355"/>
            <a:ext cx="3653378" cy="238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200"/>
              <a:buFont typeface="Public Sans"/>
              <a:buNone/>
            </a:pPr>
            <a:r>
              <a:rPr b="0" i="0" lang="en-US" sz="1200" u="none" cap="none" strike="noStrike">
                <a:solidFill>
                  <a:srgbClr val="4A5568"/>
                </a:solidFill>
                <a:latin typeface="Public Sans"/>
                <a:ea typeface="Public Sans"/>
                <a:cs typeface="Public Sans"/>
                <a:sym typeface="Public Sans"/>
              </a:rPr>
              <a:t>× 44 Wochen × 28 € je Bahnstunde</a:t>
            </a:r>
            <a:endParaRPr b="0" i="0" sz="1200" u="none" cap="none" strike="noStrike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70" name="Google Shape;70;p3"/>
          <p:cNvSpPr/>
          <p:nvPr/>
        </p:nvSpPr>
        <p:spPr>
          <a:xfrm>
            <a:off x="1071316" y="3839916"/>
            <a:ext cx="3653378" cy="416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A5173"/>
              </a:buClr>
              <a:buSzPts val="2200"/>
              <a:buFont typeface="Public Sans"/>
              <a:buNone/>
            </a:pPr>
            <a:r>
              <a:rPr b="1" i="0" lang="en-US" sz="2200" u="none" cap="none" strike="noStrike">
                <a:solidFill>
                  <a:srgbClr val="0A5173"/>
                </a:solidFill>
                <a:latin typeface="Public Sans"/>
                <a:ea typeface="Public Sans"/>
                <a:cs typeface="Public Sans"/>
                <a:sym typeface="Public Sans"/>
              </a:rPr>
              <a:t>≈ 170.000 € / Jahr</a:t>
            </a:r>
            <a:endParaRPr b="0" i="0" sz="2200" u="none" cap="none" strike="noStrike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pic>
        <p:nvPicPr>
          <p:cNvPr descr="line" id="71" name="Google Shape;71;p3"/>
          <p:cNvPicPr preferRelativeResize="0"/>
          <p:nvPr/>
        </p:nvPicPr>
        <p:blipFill rotWithShape="1">
          <a:blip r:embed="rId3">
            <a:alphaModFix/>
          </a:blip>
          <a:srcRect b="-39" l="0" r="0" t="-39"/>
          <a:stretch/>
        </p:blipFill>
        <p:spPr>
          <a:xfrm>
            <a:off x="1071316" y="4307277"/>
            <a:ext cx="3546969" cy="6350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3"/>
          <p:cNvSpPr/>
          <p:nvPr/>
        </p:nvSpPr>
        <p:spPr>
          <a:xfrm>
            <a:off x="1071316" y="4389827"/>
            <a:ext cx="3653378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4303F"/>
              </a:buClr>
              <a:buSzPts val="1400"/>
              <a:buFont typeface="Public Sans"/>
              <a:buNone/>
            </a:pPr>
            <a:r>
              <a:rPr b="1" i="0" lang="en-US" sz="1400" u="none" cap="none" strike="noStrike">
                <a:solidFill>
                  <a:srgbClr val="14303F"/>
                </a:solidFill>
                <a:latin typeface="Public Sans"/>
                <a:ea typeface="Public Sans"/>
                <a:cs typeface="Public Sans"/>
                <a:sym typeface="Public Sans"/>
              </a:rPr>
              <a:t>+ 17.000 € / Jahr</a:t>
            </a:r>
            <a:r>
              <a:rPr b="0" i="0" lang="en-US" sz="1400" u="none" cap="none" strike="noStrike">
                <a:solidFill>
                  <a:srgbClr val="14303F"/>
                </a:solidFill>
                <a:latin typeface="Public Sans"/>
                <a:ea typeface="Public Sans"/>
                <a:cs typeface="Public Sans"/>
                <a:sym typeface="Public Sans"/>
              </a:rPr>
              <a:t> ab Schuljahr 2027/28</a:t>
            </a:r>
            <a:endParaRPr b="0" i="0" sz="1400" u="none" cap="none" strike="noStrike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73" name="Google Shape;73;p3"/>
          <p:cNvSpPr/>
          <p:nvPr/>
        </p:nvSpPr>
        <p:spPr>
          <a:xfrm>
            <a:off x="1071316" y="4714946"/>
            <a:ext cx="3653378" cy="452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200"/>
              <a:buFont typeface="Public Sans"/>
              <a:buNone/>
            </a:pPr>
            <a:r>
              <a:rPr b="0" i="0" lang="en-US" sz="1200" u="none" cap="none" strike="noStrike">
                <a:solidFill>
                  <a:srgbClr val="4A5568"/>
                </a:solidFill>
                <a:latin typeface="Public Sans"/>
                <a:ea typeface="Public Sans"/>
                <a:cs typeface="Public Sans"/>
                <a:sym typeface="Public Sans"/>
              </a:rPr>
              <a:t>Seckenheimer Schulen, 5 volle Stunden am Morgen</a:t>
            </a:r>
            <a:endParaRPr b="0" i="0" sz="1200" u="none" cap="none" strike="noStrike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74" name="Google Shape;74;p3"/>
          <p:cNvSpPr/>
          <p:nvPr/>
        </p:nvSpPr>
        <p:spPr>
          <a:xfrm>
            <a:off x="5181600" y="2001520"/>
            <a:ext cx="6197600" cy="487680"/>
          </a:xfrm>
          <a:prstGeom prst="roundRect">
            <a:avLst>
              <a:gd fmla="val 13021" name="adj"/>
            </a:avLst>
          </a:prstGeom>
          <a:solidFill>
            <a:srgbClr val="F2C14E"/>
          </a:solidFill>
          <a:ln>
            <a:noFill/>
          </a:ln>
        </p:spPr>
        <p:txBody>
          <a:bodyPr anchorCtr="0" anchor="t" bIns="57600" lIns="133800" spcFirstLastPara="1" rIns="0" wrap="square" tIns="8300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4303F"/>
              </a:buClr>
              <a:buSzPts val="1600"/>
              <a:buFont typeface="Public Sans"/>
              <a:buNone/>
            </a:pPr>
            <a:r>
              <a:rPr b="1" i="0" lang="en-US" sz="1600" u="none" cap="none" strike="noStrike">
                <a:solidFill>
                  <a:srgbClr val="14303F"/>
                </a:solidFill>
                <a:latin typeface="Public Sans"/>
                <a:ea typeface="Public Sans"/>
                <a:cs typeface="Public Sans"/>
                <a:sym typeface="Public Sans"/>
              </a:rPr>
              <a:t>Offen im ersten Jahr: ≈ 130.000 €</a:t>
            </a:r>
            <a:endParaRPr b="0" i="0" sz="1600" u="none" cap="none" strike="noStrike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75" name="Google Shape;75;p3"/>
          <p:cNvSpPr/>
          <p:nvPr/>
        </p:nvSpPr>
        <p:spPr>
          <a:xfrm>
            <a:off x="5181600" y="2641600"/>
            <a:ext cx="6383528" cy="360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4303F"/>
              </a:buClr>
              <a:buSzPts val="2200"/>
              <a:buFont typeface="Public Sans"/>
              <a:buNone/>
            </a:pPr>
            <a:r>
              <a:rPr b="1" i="0" lang="en-US" sz="2200" u="none" cap="none" strike="noStrike">
                <a:solidFill>
                  <a:srgbClr val="14303F"/>
                </a:solidFill>
                <a:latin typeface="Public Sans"/>
                <a:ea typeface="Public Sans"/>
                <a:cs typeface="Public Sans"/>
                <a:sym typeface="Public Sans"/>
              </a:rPr>
              <a:t>Jetzt Gas geben: Vereinsliste aufteilen</a:t>
            </a:r>
            <a:endParaRPr b="0" i="0" sz="2200" u="none" cap="none" strike="noStrike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76" name="Google Shape;76;p3"/>
          <p:cNvSpPr/>
          <p:nvPr/>
        </p:nvSpPr>
        <p:spPr>
          <a:xfrm>
            <a:off x="5182976" y="3129280"/>
            <a:ext cx="6374532" cy="14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252624" lvl="0" marL="252624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4303F"/>
              </a:buClr>
              <a:buSzPts val="1600"/>
              <a:buFont typeface="Public Sans"/>
              <a:buAutoNum type="arabicPeriod"/>
            </a:pPr>
            <a:r>
              <a:rPr b="0" i="0" lang="en-US" sz="1600" u="none" cap="none" strike="noStrike">
                <a:solidFill>
                  <a:srgbClr val="14303F"/>
                </a:solidFill>
                <a:latin typeface="Public Sans"/>
                <a:ea typeface="Public Sans"/>
                <a:cs typeface="Public Sans"/>
                <a:sym typeface="Public Sans"/>
              </a:rPr>
              <a:t>Jede/r nimmt sich rund 10 Vereine aus der Liste und trägt sich ein.</a:t>
            </a:r>
            <a:endParaRPr b="0" i="0" sz="1600" u="none" cap="none" strike="noStrike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indent="-252624" lvl="0" marL="252624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4303F"/>
              </a:buClr>
              <a:buSzPts val="1600"/>
              <a:buFont typeface="Public Sans"/>
              <a:buAutoNum type="arabicPeriod"/>
            </a:pPr>
            <a:r>
              <a:rPr b="0" i="0" lang="en-US" sz="1600" u="none" cap="none" strike="noStrike">
                <a:solidFill>
                  <a:srgbClr val="14303F"/>
                </a:solidFill>
                <a:latin typeface="Public Sans"/>
                <a:ea typeface="Public Sans"/>
                <a:cs typeface="Public Sans"/>
                <a:sym typeface="Public Sans"/>
              </a:rPr>
              <a:t>Anrufen: Bedarf, Zeiten und Stundenumfang bestätigen lassen.</a:t>
            </a:r>
            <a:endParaRPr b="0" i="0" sz="1600" u="none" cap="none" strike="noStrike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indent="-252624" lvl="0" marL="252624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4303F"/>
              </a:buClr>
              <a:buSzPts val="1600"/>
              <a:buFont typeface="Public Sans"/>
              <a:buAutoNum type="arabicPeriod"/>
            </a:pPr>
            <a:r>
              <a:rPr b="0" i="0" lang="en-US" sz="1600" u="none" cap="none" strike="noStrike">
                <a:solidFill>
                  <a:srgbClr val="14303F"/>
                </a:solidFill>
                <a:latin typeface="Public Sans"/>
                <a:ea typeface="Public Sans"/>
                <a:cs typeface="Public Sans"/>
                <a:sym typeface="Public Sans"/>
              </a:rPr>
              <a:t>Ergebnis in die Liste eintragen – bis [Datum].</a:t>
            </a:r>
            <a:endParaRPr b="0" i="0" sz="1600" u="none" cap="none" strike="noStrike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77" name="Google Shape;77;p3"/>
          <p:cNvSpPr/>
          <p:nvPr/>
        </p:nvSpPr>
        <p:spPr>
          <a:xfrm>
            <a:off x="812800" y="6238241"/>
            <a:ext cx="10883392" cy="238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B7A82"/>
              </a:buClr>
              <a:buSzPts val="1200"/>
              <a:buFont typeface="Public Sans"/>
              <a:buNone/>
            </a:pPr>
            <a:r>
              <a:rPr b="0" i="0" lang="en-US" sz="1200" u="none" cap="none" strike="noStrike">
                <a:solidFill>
                  <a:srgbClr val="6B7A82"/>
                </a:solidFill>
                <a:latin typeface="Public Sans"/>
                <a:ea typeface="Public Sans"/>
                <a:cs typeface="Public Sans"/>
                <a:sym typeface="Public Sans"/>
              </a:rPr>
              <a:t>Bedarf erstes Jahr ≈ 300.000 € minus ≈ 170.000 € aus Zusagen · Start nur mit durchfinanziertem erstem Jahr</a:t>
            </a:r>
            <a:endParaRPr b="0" i="0" sz="1200" u="none" cap="none" strike="noStrike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8F6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Factsheet Sportbad Mannheim, eine Seite mit Foto des Bades" id="83" name="Google Shape;83;p4"/>
          <p:cNvPicPr preferRelativeResize="0"/>
          <p:nvPr/>
        </p:nvPicPr>
        <p:blipFill rotWithShape="1">
          <a:blip r:embed="rId3">
            <a:alphaModFix/>
          </a:blip>
          <a:srcRect b="-37" l="0" r="0" t="-37"/>
          <a:stretch/>
        </p:blipFill>
        <p:spPr>
          <a:xfrm>
            <a:off x="7499350" y="615950"/>
            <a:ext cx="3873500" cy="5016500"/>
          </a:xfrm>
          <a:prstGeom prst="rect">
            <a:avLst/>
          </a:prstGeom>
          <a:noFill/>
          <a:ln>
            <a:noFill/>
          </a:ln>
          <a:effectLst>
            <a:outerShdw blurRad="203200" rotWithShape="0" algn="bl" dir="5400000" dist="50800">
              <a:srgbClr val="14303F">
                <a:alpha val="14902"/>
              </a:srgbClr>
            </a:outerShdw>
          </a:effectLst>
        </p:spPr>
      </p:pic>
      <p:sp>
        <p:nvSpPr>
          <p:cNvPr id="84" name="Google Shape;84;p4"/>
          <p:cNvSpPr/>
          <p:nvPr/>
        </p:nvSpPr>
        <p:spPr>
          <a:xfrm>
            <a:off x="7496175" y="612775"/>
            <a:ext cx="3879850" cy="5022850"/>
          </a:xfrm>
          <a:prstGeom prst="rect">
            <a:avLst/>
          </a:prstGeom>
          <a:noFill/>
          <a:ln cap="flat" cmpd="sng" w="9525">
            <a:solidFill>
              <a:srgbClr val="D9E2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4"/>
          <p:cNvSpPr/>
          <p:nvPr/>
        </p:nvSpPr>
        <p:spPr>
          <a:xfrm>
            <a:off x="812800" y="812800"/>
            <a:ext cx="6278880" cy="238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A5173"/>
              </a:buClr>
              <a:buSzPts val="1200"/>
              <a:buFont typeface="Public Sans"/>
              <a:buNone/>
            </a:pPr>
            <a:r>
              <a:rPr b="1" i="0" lang="en-US" sz="1200" u="none" cap="none" strike="noStrike">
                <a:solidFill>
                  <a:srgbClr val="0A5173"/>
                </a:solidFill>
                <a:latin typeface="Public Sans"/>
                <a:ea typeface="Public Sans"/>
                <a:cs typeface="Public Sans"/>
                <a:sym typeface="Public Sans"/>
              </a:rPr>
              <a:t>2 · GROSSSPENDER</a:t>
            </a:r>
            <a:endParaRPr b="0" i="0" sz="1200" u="none" cap="none" strike="noStrike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86" name="Google Shape;86;p4"/>
          <p:cNvSpPr txBox="1"/>
          <p:nvPr>
            <p:ph type="title"/>
          </p:nvPr>
        </p:nvSpPr>
        <p:spPr>
          <a:xfrm>
            <a:off x="812800" y="1280161"/>
            <a:ext cx="6278880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4303F"/>
              </a:buClr>
              <a:buSzPts val="3200"/>
              <a:buFont typeface="Public Sans"/>
              <a:buNone/>
            </a:pPr>
            <a:r>
              <a:rPr b="1" i="0" lang="en-US" sz="3200">
                <a:solidFill>
                  <a:srgbClr val="14303F"/>
                </a:solidFill>
                <a:latin typeface="Public Sans"/>
                <a:ea typeface="Public Sans"/>
                <a:cs typeface="Public Sans"/>
                <a:sym typeface="Public Sans"/>
              </a:rPr>
              <a:t>Zweiter Auftrag: Großspender im eigenen Umfeld</a:t>
            </a:r>
            <a:endParaRPr sz="3200"/>
          </a:p>
        </p:txBody>
      </p:sp>
      <p:sp>
        <p:nvSpPr>
          <p:cNvPr id="87" name="Google Shape;87;p4"/>
          <p:cNvSpPr/>
          <p:nvPr/>
        </p:nvSpPr>
        <p:spPr>
          <a:xfrm>
            <a:off x="889508" y="2468880"/>
            <a:ext cx="6194552" cy="2301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177292" lvl="0" marL="177292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4303F"/>
              </a:buClr>
              <a:buSzPts val="1600"/>
              <a:buFont typeface="Public Sans"/>
              <a:buChar char="•"/>
            </a:pPr>
            <a:r>
              <a:rPr b="0" i="0" lang="en-US" sz="1600" u="none" cap="none" strike="noStrike">
                <a:solidFill>
                  <a:srgbClr val="14303F"/>
                </a:solidFill>
                <a:latin typeface="Public Sans"/>
                <a:ea typeface="Public Sans"/>
                <a:cs typeface="Public Sans"/>
                <a:sym typeface="Public Sans"/>
              </a:rPr>
              <a:t>Wen? Unternehmer, Kanzleien, Praxen – alle, die größere Summen geben könnten.</a:t>
            </a:r>
            <a:endParaRPr b="0" i="0" sz="1600" u="none" cap="none" strike="noStrike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indent="-177292" lvl="0" marL="177292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4303F"/>
              </a:buClr>
              <a:buSzPts val="1600"/>
              <a:buFont typeface="Public Sans"/>
              <a:buChar char="•"/>
            </a:pPr>
            <a:r>
              <a:rPr b="0" i="0" lang="en-US" sz="1600" u="none" cap="none" strike="noStrike">
                <a:solidFill>
                  <a:srgbClr val="14303F"/>
                </a:solidFill>
                <a:latin typeface="Public Sans"/>
                <a:ea typeface="Public Sans"/>
                <a:cs typeface="Public Sans"/>
                <a:sym typeface="Public Sans"/>
              </a:rPr>
              <a:t>Das Factsheet ist die Gesprächsgrundlage: wer wir sind, was es kostet, was wir brauchen.</a:t>
            </a:r>
            <a:endParaRPr b="0" i="0" sz="1600" u="none" cap="none" strike="noStrike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indent="-177292" lvl="0" marL="177292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4303F"/>
              </a:buClr>
              <a:buSzPts val="1600"/>
              <a:buFont typeface="Public Sans"/>
              <a:buChar char="•"/>
            </a:pPr>
            <a:r>
              <a:rPr b="0" i="0" lang="en-US" sz="1600" u="none" cap="none" strike="noStrike">
                <a:solidFill>
                  <a:srgbClr val="14303F"/>
                </a:solidFill>
                <a:latin typeface="Public Sans"/>
                <a:ea typeface="Public Sans"/>
                <a:cs typeface="Public Sans"/>
                <a:sym typeface="Public Sans"/>
              </a:rPr>
              <a:t>Gegenleistung für Sponsoren: Banner in der Halle, Präsenz auf der Website.</a:t>
            </a:r>
            <a:endParaRPr b="0" i="0" sz="1600" u="none" cap="none" strike="noStrike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indent="-177292" lvl="0" marL="177292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4303F"/>
              </a:buClr>
              <a:buSzPts val="1600"/>
              <a:buFont typeface="Public Sans"/>
              <a:buChar char="•"/>
            </a:pPr>
            <a:r>
              <a:rPr b="0" i="0" lang="en-US" sz="1600" u="none" cap="none" strike="noStrike">
                <a:solidFill>
                  <a:srgbClr val="14303F"/>
                </a:solidFill>
                <a:latin typeface="Public Sans"/>
                <a:ea typeface="Public Sans"/>
                <a:cs typeface="Public Sans"/>
                <a:sym typeface="Public Sans"/>
              </a:rPr>
              <a:t>Kontakte an Marketing &amp; Sponsoring melden – große Gespräche führt der Vorstand mit.</a:t>
            </a:r>
            <a:endParaRPr b="0" i="0" sz="1600" u="none" cap="none" strike="noStrike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88" name="Google Shape;88;p4"/>
          <p:cNvSpPr/>
          <p:nvPr/>
        </p:nvSpPr>
        <p:spPr>
          <a:xfrm>
            <a:off x="812800" y="6238239"/>
            <a:ext cx="6278880" cy="238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B7A82"/>
              </a:buClr>
              <a:buSzPts val="1200"/>
              <a:buFont typeface="Public Sans"/>
              <a:buNone/>
            </a:pPr>
            <a:r>
              <a:rPr b="0" i="0" lang="en-US" sz="1200" u="none" cap="none" strike="noStrike">
                <a:solidFill>
                  <a:srgbClr val="6B7A82"/>
                </a:solidFill>
                <a:latin typeface="Public Sans"/>
                <a:ea typeface="Public Sans"/>
                <a:cs typeface="Public Sans"/>
                <a:sym typeface="Public Sans"/>
              </a:rPr>
              <a:t>Factsheet als Word-Datei zum Weitergeben</a:t>
            </a:r>
            <a:endParaRPr b="0" i="0" sz="1200" u="none" cap="none" strike="noStrike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8F6"/>
        </a:solid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5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A5173"/>
              </a:buClr>
              <a:buSzPts val="1200"/>
              <a:buFont typeface="Public Sans"/>
              <a:buNone/>
            </a:pPr>
            <a:r>
              <a:rPr b="1" i="0" lang="en-US" sz="1200" u="none" cap="none" strike="noStrike">
                <a:solidFill>
                  <a:srgbClr val="0A5173"/>
                </a:solidFill>
                <a:latin typeface="Public Sans"/>
                <a:ea typeface="Public Sans"/>
                <a:cs typeface="Public Sans"/>
                <a:sym typeface="Public Sans"/>
              </a:rPr>
              <a:t>3 · FACHGRUPPEN</a:t>
            </a:r>
            <a:endParaRPr b="0" i="0" sz="1200" u="none" cap="none" strike="noStrike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95" name="Google Shape;95;p5"/>
          <p:cNvSpPr txBox="1"/>
          <p:nvPr>
            <p:ph type="title"/>
          </p:nvPr>
        </p:nvSpPr>
        <p:spPr>
          <a:xfrm>
            <a:off x="812800" y="1229361"/>
            <a:ext cx="10883392" cy="492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4303F"/>
              </a:buClr>
              <a:buSzPts val="3200"/>
              <a:buFont typeface="Public Sans"/>
              <a:buNone/>
            </a:pPr>
            <a:r>
              <a:rPr b="1" i="0" lang="en-US" sz="3200">
                <a:solidFill>
                  <a:srgbClr val="14303F"/>
                </a:solidFill>
                <a:latin typeface="Public Sans"/>
                <a:ea typeface="Public Sans"/>
                <a:cs typeface="Public Sans"/>
                <a:sym typeface="Public Sans"/>
              </a:rPr>
              <a:t>Jede Fachgruppe hat eine Themenliste</a:t>
            </a:r>
            <a:endParaRPr sz="3200"/>
          </a:p>
        </p:txBody>
      </p:sp>
      <p:sp>
        <p:nvSpPr>
          <p:cNvPr id="96" name="Google Shape;96;p5"/>
          <p:cNvSpPr/>
          <p:nvPr/>
        </p:nvSpPr>
        <p:spPr>
          <a:xfrm>
            <a:off x="815975" y="1903096"/>
            <a:ext cx="3431117" cy="787541"/>
          </a:xfrm>
          <a:prstGeom prst="roundRect">
            <a:avLst>
              <a:gd fmla="val 9273" name="adj"/>
            </a:avLst>
          </a:prstGeom>
          <a:solidFill>
            <a:srgbClr val="FFFFFF"/>
          </a:solidFill>
          <a:ln cap="flat" cmpd="sng" w="9525">
            <a:solidFill>
              <a:srgbClr val="D9E2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5"/>
          <p:cNvSpPr/>
          <p:nvPr/>
        </p:nvSpPr>
        <p:spPr>
          <a:xfrm>
            <a:off x="995116" y="2056836"/>
            <a:ext cx="3165021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A5173"/>
              </a:buClr>
              <a:buSzPts val="1500"/>
              <a:buFont typeface="Public Sans"/>
              <a:buNone/>
            </a:pPr>
            <a:r>
              <a:rPr b="1" i="0" lang="en-US" sz="1500" u="none" cap="none" strike="noStrike">
                <a:solidFill>
                  <a:srgbClr val="0A5173"/>
                </a:solidFill>
                <a:latin typeface="Public Sans"/>
                <a:ea typeface="Public Sans"/>
                <a:cs typeface="Public Sans"/>
                <a:sym typeface="Public Sans"/>
              </a:rPr>
              <a:t>Vorstand</a:t>
            </a:r>
            <a:endParaRPr b="0" i="0" sz="1500" u="none" cap="none" strike="noStrike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98" name="Google Shape;98;p5"/>
          <p:cNvSpPr/>
          <p:nvPr/>
        </p:nvSpPr>
        <p:spPr>
          <a:xfrm>
            <a:off x="995116" y="2323536"/>
            <a:ext cx="3165021" cy="238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200"/>
              <a:buFont typeface="Public Sans"/>
              <a:buNone/>
            </a:pPr>
            <a:r>
              <a:rPr b="0" i="0" lang="en-US" sz="1200" u="none" cap="none" strike="noStrike">
                <a:solidFill>
                  <a:srgbClr val="4A5568"/>
                </a:solidFill>
                <a:latin typeface="Public Sans"/>
                <a:ea typeface="Public Sans"/>
                <a:cs typeface="Public Sans"/>
                <a:sym typeface="Public Sans"/>
              </a:rPr>
              <a:t>Stadt, Großsponsoren, Verträge, Bau</a:t>
            </a:r>
            <a:endParaRPr b="0" i="0" sz="1200" u="none" cap="none" strike="noStrike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99" name="Google Shape;99;p5"/>
          <p:cNvSpPr/>
          <p:nvPr/>
        </p:nvSpPr>
        <p:spPr>
          <a:xfrm>
            <a:off x="4380442" y="1903096"/>
            <a:ext cx="3431117" cy="787541"/>
          </a:xfrm>
          <a:prstGeom prst="roundRect">
            <a:avLst>
              <a:gd fmla="val 9273" name="adj"/>
            </a:avLst>
          </a:prstGeom>
          <a:solidFill>
            <a:srgbClr val="FFFFFF"/>
          </a:solidFill>
          <a:ln cap="flat" cmpd="sng" w="9525">
            <a:solidFill>
              <a:srgbClr val="D9E2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5"/>
          <p:cNvSpPr/>
          <p:nvPr/>
        </p:nvSpPr>
        <p:spPr>
          <a:xfrm>
            <a:off x="4559582" y="2056836"/>
            <a:ext cx="3165021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A5173"/>
              </a:buClr>
              <a:buSzPts val="1500"/>
              <a:buFont typeface="Public Sans"/>
              <a:buNone/>
            </a:pPr>
            <a:r>
              <a:rPr b="1" i="0" lang="en-US" sz="1500" u="none" cap="none" strike="noStrike">
                <a:solidFill>
                  <a:srgbClr val="0A5173"/>
                </a:solidFill>
                <a:latin typeface="Public Sans"/>
                <a:ea typeface="Public Sans"/>
                <a:cs typeface="Public Sans"/>
                <a:sym typeface="Public Sans"/>
              </a:rPr>
              <a:t>Finanzen</a:t>
            </a:r>
            <a:endParaRPr b="0" i="0" sz="1500" u="none" cap="none" strike="noStrike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101" name="Google Shape;101;p5"/>
          <p:cNvSpPr/>
          <p:nvPr/>
        </p:nvSpPr>
        <p:spPr>
          <a:xfrm>
            <a:off x="4559582" y="2323536"/>
            <a:ext cx="3165021" cy="238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200"/>
              <a:buFont typeface="Public Sans"/>
              <a:buNone/>
            </a:pPr>
            <a:r>
              <a:rPr b="0" i="0" lang="en-US" sz="1200" u="none" cap="none" strike="noStrike">
                <a:solidFill>
                  <a:srgbClr val="4A5568"/>
                </a:solidFill>
                <a:latin typeface="Public Sans"/>
                <a:ea typeface="Public Sans"/>
                <a:cs typeface="Public Sans"/>
                <a:sym typeface="Public Sans"/>
              </a:rPr>
              <a:t>Konto, Beiträge, Energieeinkauf</a:t>
            </a:r>
            <a:endParaRPr b="0" i="0" sz="1200" u="none" cap="none" strike="noStrike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102" name="Google Shape;102;p5"/>
          <p:cNvSpPr/>
          <p:nvPr/>
        </p:nvSpPr>
        <p:spPr>
          <a:xfrm>
            <a:off x="7944909" y="1903096"/>
            <a:ext cx="3431117" cy="787541"/>
          </a:xfrm>
          <a:prstGeom prst="roundRect">
            <a:avLst>
              <a:gd fmla="val 9273" name="adj"/>
            </a:avLst>
          </a:prstGeom>
          <a:solidFill>
            <a:srgbClr val="FFFFFF"/>
          </a:solidFill>
          <a:ln cap="flat" cmpd="sng" w="9525">
            <a:solidFill>
              <a:srgbClr val="D9E2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5"/>
          <p:cNvSpPr/>
          <p:nvPr/>
        </p:nvSpPr>
        <p:spPr>
          <a:xfrm>
            <a:off x="8124049" y="2056836"/>
            <a:ext cx="3165021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A5173"/>
              </a:buClr>
              <a:buSzPts val="1500"/>
              <a:buFont typeface="Public Sans"/>
              <a:buNone/>
            </a:pPr>
            <a:r>
              <a:rPr b="1" i="0" lang="en-US" sz="1500" u="none" cap="none" strike="noStrike">
                <a:solidFill>
                  <a:srgbClr val="0A5173"/>
                </a:solidFill>
                <a:latin typeface="Public Sans"/>
                <a:ea typeface="Public Sans"/>
                <a:cs typeface="Public Sans"/>
                <a:sym typeface="Public Sans"/>
              </a:rPr>
              <a:t>Kassenprüfung</a:t>
            </a:r>
            <a:endParaRPr b="0" i="0" sz="1500" u="none" cap="none" strike="noStrike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104" name="Google Shape;104;p5"/>
          <p:cNvSpPr/>
          <p:nvPr/>
        </p:nvSpPr>
        <p:spPr>
          <a:xfrm>
            <a:off x="8124049" y="2323536"/>
            <a:ext cx="3165021" cy="238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200"/>
              <a:buFont typeface="Public Sans"/>
              <a:buNone/>
            </a:pPr>
            <a:r>
              <a:rPr b="0" i="0" lang="en-US" sz="1200" u="none" cap="none" strike="noStrike">
                <a:solidFill>
                  <a:srgbClr val="4A5568"/>
                </a:solidFill>
                <a:latin typeface="Public Sans"/>
                <a:ea typeface="Public Sans"/>
                <a:cs typeface="Public Sans"/>
                <a:sym typeface="Public Sans"/>
              </a:rPr>
              <a:t>unabhängige Prüfung, Bericht</a:t>
            </a:r>
            <a:endParaRPr b="0" i="0" sz="1200" u="none" cap="none" strike="noStrike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105" name="Google Shape;105;p5"/>
          <p:cNvSpPr/>
          <p:nvPr/>
        </p:nvSpPr>
        <p:spPr>
          <a:xfrm>
            <a:off x="815975" y="2823986"/>
            <a:ext cx="3431117" cy="787541"/>
          </a:xfrm>
          <a:prstGeom prst="roundRect">
            <a:avLst>
              <a:gd fmla="val 9273" name="adj"/>
            </a:avLst>
          </a:prstGeom>
          <a:solidFill>
            <a:srgbClr val="FFFFFF"/>
          </a:solidFill>
          <a:ln cap="flat" cmpd="sng" w="9525">
            <a:solidFill>
              <a:srgbClr val="D9E2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5"/>
          <p:cNvSpPr/>
          <p:nvPr/>
        </p:nvSpPr>
        <p:spPr>
          <a:xfrm>
            <a:off x="995116" y="2977728"/>
            <a:ext cx="3165021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A5173"/>
              </a:buClr>
              <a:buSzPts val="1500"/>
              <a:buFont typeface="Public Sans"/>
              <a:buNone/>
            </a:pPr>
            <a:r>
              <a:rPr b="1" i="0" lang="en-US" sz="1500" u="none" cap="none" strike="noStrike">
                <a:solidFill>
                  <a:srgbClr val="0A5173"/>
                </a:solidFill>
                <a:latin typeface="Public Sans"/>
                <a:ea typeface="Public Sans"/>
                <a:cs typeface="Public Sans"/>
                <a:sym typeface="Public Sans"/>
              </a:rPr>
              <a:t>Technik</a:t>
            </a:r>
            <a:endParaRPr b="0" i="0" sz="1500" u="none" cap="none" strike="noStrike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107" name="Google Shape;107;p5"/>
          <p:cNvSpPr/>
          <p:nvPr/>
        </p:nvSpPr>
        <p:spPr>
          <a:xfrm>
            <a:off x="995116" y="3244428"/>
            <a:ext cx="3165021" cy="238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200"/>
              <a:buFont typeface="Public Sans"/>
              <a:buNone/>
            </a:pPr>
            <a:r>
              <a:rPr b="0" i="0" lang="en-US" sz="1200" u="none" cap="none" strike="noStrike">
                <a:solidFill>
                  <a:srgbClr val="4A5568"/>
                </a:solidFill>
                <a:latin typeface="Public Sans"/>
                <a:ea typeface="Public Sans"/>
                <a:cs typeface="Public Sans"/>
                <a:sym typeface="Public Sans"/>
              </a:rPr>
              <a:t>Wartungen, Handwerker koordinieren</a:t>
            </a:r>
            <a:endParaRPr b="0" i="0" sz="1200" u="none" cap="none" strike="noStrike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108" name="Google Shape;108;p5"/>
          <p:cNvSpPr/>
          <p:nvPr/>
        </p:nvSpPr>
        <p:spPr>
          <a:xfrm>
            <a:off x="4380442" y="2823986"/>
            <a:ext cx="3431117" cy="787541"/>
          </a:xfrm>
          <a:prstGeom prst="roundRect">
            <a:avLst>
              <a:gd fmla="val 9273" name="adj"/>
            </a:avLst>
          </a:prstGeom>
          <a:solidFill>
            <a:srgbClr val="FFFFFF"/>
          </a:solidFill>
          <a:ln cap="flat" cmpd="sng" w="9525">
            <a:solidFill>
              <a:srgbClr val="D9E2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5"/>
          <p:cNvSpPr/>
          <p:nvPr/>
        </p:nvSpPr>
        <p:spPr>
          <a:xfrm>
            <a:off x="4559582" y="2977728"/>
            <a:ext cx="3165021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A5173"/>
              </a:buClr>
              <a:buSzPts val="1500"/>
              <a:buFont typeface="Public Sans"/>
              <a:buNone/>
            </a:pPr>
            <a:r>
              <a:rPr b="1" i="0" lang="en-US" sz="1500" u="none" cap="none" strike="noStrike">
                <a:solidFill>
                  <a:srgbClr val="0A5173"/>
                </a:solidFill>
                <a:latin typeface="Public Sans"/>
                <a:ea typeface="Public Sans"/>
                <a:cs typeface="Public Sans"/>
                <a:sym typeface="Public Sans"/>
              </a:rPr>
              <a:t>Personal &amp; Sicherheit</a:t>
            </a:r>
            <a:endParaRPr b="0" i="0" sz="1500" u="none" cap="none" strike="noStrike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110" name="Google Shape;110;p5"/>
          <p:cNvSpPr/>
          <p:nvPr/>
        </p:nvSpPr>
        <p:spPr>
          <a:xfrm>
            <a:off x="4559582" y="3244428"/>
            <a:ext cx="3165021" cy="238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200"/>
              <a:buFont typeface="Public Sans"/>
              <a:buNone/>
            </a:pPr>
            <a:r>
              <a:rPr b="0" i="0" lang="en-US" sz="1200" u="none" cap="none" strike="noStrike">
                <a:solidFill>
                  <a:srgbClr val="4A5568"/>
                </a:solidFill>
                <a:latin typeface="Public Sans"/>
                <a:ea typeface="Public Sans"/>
                <a:cs typeface="Public Sans"/>
                <a:sym typeface="Public Sans"/>
              </a:rPr>
              <a:t>Personal, Brandschutz, Unterweisungen</a:t>
            </a:r>
            <a:endParaRPr b="0" i="0" sz="1200" u="none" cap="none" strike="noStrike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111" name="Google Shape;111;p5"/>
          <p:cNvSpPr/>
          <p:nvPr/>
        </p:nvSpPr>
        <p:spPr>
          <a:xfrm>
            <a:off x="7944909" y="2823986"/>
            <a:ext cx="3431117" cy="787541"/>
          </a:xfrm>
          <a:prstGeom prst="roundRect">
            <a:avLst>
              <a:gd fmla="val 9273" name="adj"/>
            </a:avLst>
          </a:prstGeom>
          <a:solidFill>
            <a:srgbClr val="FFFFFF"/>
          </a:solidFill>
          <a:ln cap="flat" cmpd="sng" w="9525">
            <a:solidFill>
              <a:srgbClr val="D9E2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5"/>
          <p:cNvSpPr/>
          <p:nvPr/>
        </p:nvSpPr>
        <p:spPr>
          <a:xfrm>
            <a:off x="8124049" y="2977728"/>
            <a:ext cx="3165021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A5173"/>
              </a:buClr>
              <a:buSzPts val="1500"/>
              <a:buFont typeface="Public Sans"/>
              <a:buNone/>
            </a:pPr>
            <a:r>
              <a:rPr b="1" i="0" lang="en-US" sz="1500" u="none" cap="none" strike="noStrike">
                <a:solidFill>
                  <a:srgbClr val="0A5173"/>
                </a:solidFill>
                <a:latin typeface="Public Sans"/>
                <a:ea typeface="Public Sans"/>
                <a:cs typeface="Public Sans"/>
                <a:sym typeface="Public Sans"/>
              </a:rPr>
              <a:t>Recht &amp; Verträge</a:t>
            </a:r>
            <a:endParaRPr b="0" i="0" sz="1500" u="none" cap="none" strike="noStrike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113" name="Google Shape;113;p5"/>
          <p:cNvSpPr/>
          <p:nvPr/>
        </p:nvSpPr>
        <p:spPr>
          <a:xfrm>
            <a:off x="8124049" y="3244428"/>
            <a:ext cx="3165021" cy="238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200"/>
              <a:buFont typeface="Public Sans"/>
              <a:buNone/>
            </a:pPr>
            <a:r>
              <a:rPr b="0" i="0" lang="en-US" sz="1200" u="none" cap="none" strike="noStrike">
                <a:solidFill>
                  <a:srgbClr val="4A5568"/>
                </a:solidFill>
                <a:latin typeface="Public Sans"/>
                <a:ea typeface="Public Sans"/>
                <a:cs typeface="Public Sans"/>
                <a:sym typeface="Public Sans"/>
              </a:rPr>
              <a:t>Pacht, Nutzerverträge, Compliance</a:t>
            </a:r>
            <a:endParaRPr b="0" i="0" sz="1200" u="none" cap="none" strike="noStrike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114" name="Google Shape;114;p5"/>
          <p:cNvSpPr/>
          <p:nvPr/>
        </p:nvSpPr>
        <p:spPr>
          <a:xfrm>
            <a:off x="815975" y="3744878"/>
            <a:ext cx="3431117" cy="787541"/>
          </a:xfrm>
          <a:prstGeom prst="roundRect">
            <a:avLst>
              <a:gd fmla="val 9273" name="adj"/>
            </a:avLst>
          </a:prstGeom>
          <a:solidFill>
            <a:srgbClr val="FFFFFF"/>
          </a:solidFill>
          <a:ln cap="flat" cmpd="sng" w="9525">
            <a:solidFill>
              <a:srgbClr val="D9E2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5"/>
          <p:cNvSpPr/>
          <p:nvPr/>
        </p:nvSpPr>
        <p:spPr>
          <a:xfrm>
            <a:off x="995116" y="3898618"/>
            <a:ext cx="3165021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A5173"/>
              </a:buClr>
              <a:buSzPts val="1500"/>
              <a:buFont typeface="Public Sans"/>
              <a:buNone/>
            </a:pPr>
            <a:r>
              <a:rPr b="1" i="0" lang="en-US" sz="1500" u="none" cap="none" strike="noStrike">
                <a:solidFill>
                  <a:srgbClr val="0A5173"/>
                </a:solidFill>
                <a:latin typeface="Public Sans"/>
                <a:ea typeface="Public Sans"/>
                <a:cs typeface="Public Sans"/>
                <a:sym typeface="Public Sans"/>
              </a:rPr>
              <a:t>Mitglieder &amp; Belegung</a:t>
            </a:r>
            <a:endParaRPr b="0" i="0" sz="1500" u="none" cap="none" strike="noStrike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116" name="Google Shape;116;p5"/>
          <p:cNvSpPr/>
          <p:nvPr/>
        </p:nvSpPr>
        <p:spPr>
          <a:xfrm>
            <a:off x="995116" y="4165318"/>
            <a:ext cx="3165021" cy="238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200"/>
              <a:buFont typeface="Public Sans"/>
              <a:buNone/>
            </a:pPr>
            <a:r>
              <a:rPr b="0" i="0" lang="en-US" sz="1200" u="none" cap="none" strike="noStrike">
                <a:solidFill>
                  <a:srgbClr val="4A5568"/>
                </a:solidFill>
                <a:latin typeface="Public Sans"/>
                <a:ea typeface="Public Sans"/>
                <a:cs typeface="Public Sans"/>
                <a:sym typeface="Public Sans"/>
              </a:rPr>
              <a:t>Aufnahmen, Bestand, Badezeiten</a:t>
            </a:r>
            <a:endParaRPr b="0" i="0" sz="1200" u="none" cap="none" strike="noStrike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117" name="Google Shape;117;p5"/>
          <p:cNvSpPr/>
          <p:nvPr/>
        </p:nvSpPr>
        <p:spPr>
          <a:xfrm>
            <a:off x="4380442" y="3744878"/>
            <a:ext cx="3431117" cy="787541"/>
          </a:xfrm>
          <a:prstGeom prst="roundRect">
            <a:avLst>
              <a:gd fmla="val 9273" name="adj"/>
            </a:avLst>
          </a:prstGeom>
          <a:solidFill>
            <a:srgbClr val="FFFFFF"/>
          </a:solidFill>
          <a:ln cap="flat" cmpd="sng" w="9525">
            <a:solidFill>
              <a:srgbClr val="D9E2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5"/>
          <p:cNvSpPr/>
          <p:nvPr/>
        </p:nvSpPr>
        <p:spPr>
          <a:xfrm>
            <a:off x="4559582" y="3898618"/>
            <a:ext cx="3165021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A5173"/>
              </a:buClr>
              <a:buSzPts val="1500"/>
              <a:buFont typeface="Public Sans"/>
              <a:buNone/>
            </a:pPr>
            <a:r>
              <a:rPr b="1" i="0" lang="en-US" sz="1500" u="none" cap="none" strike="noStrike">
                <a:solidFill>
                  <a:srgbClr val="0A5173"/>
                </a:solidFill>
                <a:latin typeface="Public Sans"/>
                <a:ea typeface="Public Sans"/>
                <a:cs typeface="Public Sans"/>
                <a:sym typeface="Public Sans"/>
              </a:rPr>
              <a:t>Marketing &amp; Sponsoring</a:t>
            </a:r>
            <a:endParaRPr b="0" i="0" sz="1500" u="none" cap="none" strike="noStrike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119" name="Google Shape;119;p5"/>
          <p:cNvSpPr/>
          <p:nvPr/>
        </p:nvSpPr>
        <p:spPr>
          <a:xfrm>
            <a:off x="4559582" y="4165318"/>
            <a:ext cx="3165021" cy="238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200"/>
              <a:buFont typeface="Public Sans"/>
              <a:buNone/>
            </a:pPr>
            <a:r>
              <a:rPr b="0" i="0" lang="en-US" sz="1200" u="none" cap="none" strike="noStrike">
                <a:solidFill>
                  <a:srgbClr val="4A5568"/>
                </a:solidFill>
                <a:latin typeface="Public Sans"/>
                <a:ea typeface="Public Sans"/>
                <a:cs typeface="Public Sans"/>
                <a:sym typeface="Public Sans"/>
              </a:rPr>
              <a:t>Spendenaktion, Sponsoren, Presse</a:t>
            </a:r>
            <a:endParaRPr b="0" i="0" sz="1200" u="none" cap="none" strike="noStrike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120" name="Google Shape;120;p5"/>
          <p:cNvSpPr/>
          <p:nvPr/>
        </p:nvSpPr>
        <p:spPr>
          <a:xfrm>
            <a:off x="7944909" y="3744878"/>
            <a:ext cx="3431117" cy="787541"/>
          </a:xfrm>
          <a:prstGeom prst="roundRect">
            <a:avLst>
              <a:gd fmla="val 9273" name="adj"/>
            </a:avLst>
          </a:prstGeom>
          <a:solidFill>
            <a:srgbClr val="FFFFFF"/>
          </a:solidFill>
          <a:ln cap="flat" cmpd="sng" w="9525">
            <a:solidFill>
              <a:srgbClr val="D9E2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5"/>
          <p:cNvSpPr/>
          <p:nvPr/>
        </p:nvSpPr>
        <p:spPr>
          <a:xfrm>
            <a:off x="8124049" y="3898618"/>
            <a:ext cx="3165021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A5173"/>
              </a:buClr>
              <a:buSzPts val="1500"/>
              <a:buFont typeface="Public Sans"/>
              <a:buNone/>
            </a:pPr>
            <a:r>
              <a:rPr b="1" i="0" lang="en-US" sz="1500" u="none" cap="none" strike="noStrike">
                <a:solidFill>
                  <a:srgbClr val="0A5173"/>
                </a:solidFill>
                <a:latin typeface="Public Sans"/>
                <a:ea typeface="Public Sans"/>
                <a:cs typeface="Public Sans"/>
                <a:sym typeface="Public Sans"/>
              </a:rPr>
              <a:t>IT</a:t>
            </a:r>
            <a:endParaRPr b="0" i="0" sz="1500" u="none" cap="none" strike="noStrike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122" name="Google Shape;122;p5"/>
          <p:cNvSpPr/>
          <p:nvPr/>
        </p:nvSpPr>
        <p:spPr>
          <a:xfrm>
            <a:off x="8124049" y="4165318"/>
            <a:ext cx="3165021" cy="238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200"/>
              <a:buFont typeface="Public Sans"/>
              <a:buNone/>
            </a:pPr>
            <a:r>
              <a:rPr b="0" i="0" lang="en-US" sz="1200" u="none" cap="none" strike="noStrike">
                <a:solidFill>
                  <a:srgbClr val="4A5568"/>
                </a:solidFill>
                <a:latin typeface="Public Sans"/>
                <a:ea typeface="Public Sans"/>
                <a:cs typeface="Public Sans"/>
                <a:sym typeface="Public Sans"/>
              </a:rPr>
              <a:t>Website, Software, Buchung</a:t>
            </a:r>
            <a:endParaRPr b="0" i="0" sz="1200" u="none" cap="none" strike="noStrike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123" name="Google Shape;123;p5"/>
          <p:cNvSpPr/>
          <p:nvPr/>
        </p:nvSpPr>
        <p:spPr>
          <a:xfrm>
            <a:off x="812800" y="6238239"/>
            <a:ext cx="10883392" cy="238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B7A82"/>
              </a:buClr>
              <a:buSzPts val="1200"/>
              <a:buFont typeface="Public Sans"/>
              <a:buNone/>
            </a:pPr>
            <a:r>
              <a:rPr b="0" i="0" lang="en-US" sz="1200" u="none" cap="none" strike="noStrike">
                <a:solidFill>
                  <a:srgbClr val="6B7A82"/>
                </a:solidFill>
                <a:latin typeface="Public Sans"/>
                <a:ea typeface="Public Sans"/>
                <a:cs typeface="Public Sans"/>
                <a:sym typeface="Public Sans"/>
              </a:rPr>
              <a:t>Je eine Seite pro Fachgruppe · bitte Namen eintragen · Liaison und Energie folgen</a:t>
            </a:r>
            <a:endParaRPr b="0" i="0" sz="1200" u="none" cap="none" strike="noStrike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8F6"/>
        </a:solid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Themenliste der Fachgruppe Technik, eine Seite" id="129" name="Google Shape;129;p6"/>
          <p:cNvPicPr preferRelativeResize="0"/>
          <p:nvPr/>
        </p:nvPicPr>
        <p:blipFill rotWithShape="1">
          <a:blip r:embed="rId3">
            <a:alphaModFix/>
          </a:blip>
          <a:srcRect b="-72" l="0" r="0" t="-72"/>
          <a:stretch/>
        </p:blipFill>
        <p:spPr>
          <a:xfrm>
            <a:off x="6153150" y="819150"/>
            <a:ext cx="5219700" cy="5067300"/>
          </a:xfrm>
          <a:prstGeom prst="rect">
            <a:avLst/>
          </a:prstGeom>
          <a:noFill/>
          <a:ln>
            <a:noFill/>
          </a:ln>
          <a:effectLst>
            <a:outerShdw blurRad="203200" rotWithShape="0" algn="bl" dir="5400000" dist="50800">
              <a:srgbClr val="14303F">
                <a:alpha val="14902"/>
              </a:srgbClr>
            </a:outerShdw>
          </a:effectLst>
        </p:spPr>
      </p:pic>
      <p:sp>
        <p:nvSpPr>
          <p:cNvPr id="130" name="Google Shape;130;p6"/>
          <p:cNvSpPr/>
          <p:nvPr/>
        </p:nvSpPr>
        <p:spPr>
          <a:xfrm>
            <a:off x="6149975" y="815975"/>
            <a:ext cx="5226050" cy="5073650"/>
          </a:xfrm>
          <a:prstGeom prst="rect">
            <a:avLst/>
          </a:prstGeom>
          <a:noFill/>
          <a:ln cap="flat" cmpd="sng" w="9525">
            <a:solidFill>
              <a:srgbClr val="D9E2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6"/>
          <p:cNvSpPr/>
          <p:nvPr/>
        </p:nvSpPr>
        <p:spPr>
          <a:xfrm>
            <a:off x="812800" y="812800"/>
            <a:ext cx="5101590" cy="238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A5173"/>
              </a:buClr>
              <a:buSzPts val="1200"/>
              <a:buFont typeface="Public Sans"/>
              <a:buNone/>
            </a:pPr>
            <a:r>
              <a:rPr b="1" i="0" lang="en-US" sz="1200" u="none" cap="none" strike="noStrike">
                <a:solidFill>
                  <a:srgbClr val="0A5173"/>
                </a:solidFill>
                <a:latin typeface="Public Sans"/>
                <a:ea typeface="Public Sans"/>
                <a:cs typeface="Public Sans"/>
                <a:sym typeface="Public Sans"/>
              </a:rPr>
              <a:t>3 · BEISPIEL</a:t>
            </a:r>
            <a:endParaRPr b="0" i="0" sz="1200" u="none" cap="none" strike="noStrike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132" name="Google Shape;132;p6"/>
          <p:cNvSpPr txBox="1"/>
          <p:nvPr>
            <p:ph type="title"/>
          </p:nvPr>
        </p:nvSpPr>
        <p:spPr>
          <a:xfrm>
            <a:off x="812800" y="1280161"/>
            <a:ext cx="5101590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4303F"/>
              </a:buClr>
              <a:buSzPts val="3200"/>
              <a:buFont typeface="Public Sans"/>
              <a:buNone/>
            </a:pPr>
            <a:r>
              <a:rPr b="1" i="0" lang="en-US" sz="3200">
                <a:solidFill>
                  <a:srgbClr val="14303F"/>
                </a:solidFill>
                <a:latin typeface="Public Sans"/>
                <a:ea typeface="Public Sans"/>
                <a:cs typeface="Public Sans"/>
                <a:sym typeface="Public Sans"/>
              </a:rPr>
              <a:t>So sieht eine Themenliste aus</a:t>
            </a:r>
            <a:endParaRPr sz="3200"/>
          </a:p>
        </p:txBody>
      </p:sp>
      <p:sp>
        <p:nvSpPr>
          <p:cNvPr id="133" name="Google Shape;133;p6"/>
          <p:cNvSpPr/>
          <p:nvPr/>
        </p:nvSpPr>
        <p:spPr>
          <a:xfrm>
            <a:off x="889508" y="2468882"/>
            <a:ext cx="5017262" cy="1163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177292" lvl="0" marL="177292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4303F"/>
              </a:buClr>
              <a:buSzPts val="1600"/>
              <a:buFont typeface="Public Sans"/>
              <a:buChar char="•"/>
            </a:pPr>
            <a:r>
              <a:rPr b="0" i="0" lang="en-US" sz="1600" u="none" cap="none" strike="noStrike">
                <a:solidFill>
                  <a:srgbClr val="14303F"/>
                </a:solidFill>
                <a:latin typeface="Public Sans"/>
                <a:ea typeface="Public Sans"/>
                <a:cs typeface="Public Sans"/>
                <a:sym typeface="Public Sans"/>
              </a:rPr>
              <a:t>Rolle in einem Satz</a:t>
            </a:r>
            <a:endParaRPr b="0" i="0" sz="1600" u="none" cap="none" strike="noStrike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indent="-177292" lvl="0" marL="177292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4303F"/>
              </a:buClr>
              <a:buSzPts val="1600"/>
              <a:buFont typeface="Public Sans"/>
              <a:buChar char="•"/>
            </a:pPr>
            <a:r>
              <a:rPr b="0" i="0" lang="en-US" sz="1600" u="none" cap="none" strike="noStrike">
                <a:solidFill>
                  <a:srgbClr val="14303F"/>
                </a:solidFill>
                <a:latin typeface="Public Sans"/>
                <a:ea typeface="Public Sans"/>
                <a:cs typeface="Public Sans"/>
                <a:sym typeface="Public Sans"/>
              </a:rPr>
              <a:t>Abgrenzung: was nicht dazugehört</a:t>
            </a:r>
            <a:endParaRPr b="0" i="0" sz="1600" u="none" cap="none" strike="noStrike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indent="-177292" lvl="0" marL="177292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4303F"/>
              </a:buClr>
              <a:buSzPts val="1600"/>
              <a:buFont typeface="Public Sans"/>
              <a:buChar char="•"/>
            </a:pPr>
            <a:r>
              <a:rPr b="0" i="0" lang="en-US" sz="1600" u="none" cap="none" strike="noStrike">
                <a:solidFill>
                  <a:srgbClr val="14303F"/>
                </a:solidFill>
                <a:latin typeface="Public Sans"/>
                <a:ea typeface="Public Sans"/>
                <a:cs typeface="Public Sans"/>
                <a:sym typeface="Public Sans"/>
              </a:rPr>
              <a:t>Themen mit Zeitmarke, Prioritäten markiert</a:t>
            </a:r>
            <a:endParaRPr b="0" i="0" sz="1600" u="none" cap="none" strike="noStrike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indent="-177292" lvl="0" marL="177292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4303F"/>
              </a:buClr>
              <a:buSzPts val="1600"/>
              <a:buFont typeface="Public Sans"/>
              <a:buChar char="•"/>
            </a:pPr>
            <a:r>
              <a:rPr b="0" i="0" lang="en-US" sz="1600" u="none" cap="none" strike="noStrike">
                <a:solidFill>
                  <a:srgbClr val="14303F"/>
                </a:solidFill>
                <a:latin typeface="Public Sans"/>
                <a:ea typeface="Public Sans"/>
                <a:cs typeface="Public Sans"/>
                <a:sym typeface="Public Sans"/>
              </a:rPr>
              <a:t>„(Vorschlag)“ = im Team noch abzustimmen</a:t>
            </a:r>
            <a:endParaRPr b="0" i="0" sz="1600" u="none" cap="none" strike="noStrike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134" name="Google Shape;134;p6"/>
          <p:cNvSpPr/>
          <p:nvPr/>
        </p:nvSpPr>
        <p:spPr>
          <a:xfrm>
            <a:off x="812800" y="3860800"/>
            <a:ext cx="5101590" cy="309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A5173"/>
              </a:buClr>
              <a:buSzPts val="1600"/>
              <a:buFont typeface="Public Sans"/>
              <a:buNone/>
            </a:pPr>
            <a:r>
              <a:rPr b="1" i="0" lang="en-US" sz="1600" u="none" cap="none" strike="noStrike">
                <a:solidFill>
                  <a:srgbClr val="0A5173"/>
                </a:solidFill>
                <a:latin typeface="Public Sans"/>
                <a:ea typeface="Public Sans"/>
                <a:cs typeface="Public Sans"/>
                <a:sym typeface="Public Sans"/>
              </a:rPr>
              <a:t>Bitte in eine Fachgruppe eintragen.</a:t>
            </a:r>
            <a:endParaRPr b="0" i="0" sz="1600" u="none" cap="none" strike="noStrike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135" name="Google Shape;135;p6"/>
          <p:cNvSpPr/>
          <p:nvPr/>
        </p:nvSpPr>
        <p:spPr>
          <a:xfrm>
            <a:off x="812800" y="6238242"/>
            <a:ext cx="5101590" cy="238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B7A82"/>
              </a:buClr>
              <a:buSzPts val="1200"/>
              <a:buFont typeface="Public Sans"/>
              <a:buNone/>
            </a:pPr>
            <a:r>
              <a:rPr b="0" i="0" lang="en-US" sz="1200" u="none" cap="none" strike="noStrike">
                <a:solidFill>
                  <a:srgbClr val="6B7A82"/>
                </a:solidFill>
                <a:latin typeface="Public Sans"/>
                <a:ea typeface="Public Sans"/>
                <a:cs typeface="Public Sans"/>
                <a:sym typeface="Public Sans"/>
              </a:rPr>
              <a:t>Beispiel: Fachgruppe Technik · alle Listen als Word-Datei</a:t>
            </a:r>
            <a:endParaRPr b="0" i="0" sz="1200" u="none" cap="none" strike="noStrike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portbad Mannheim – Teamsitzung 23.10.">
  <a:themeElements>
    <a:clrScheme name="Sportbad Mannheim – Teamsitzung 23.10.">
      <a:dk1>
        <a:srgbClr val="14303F"/>
      </a:dk1>
      <a:lt1>
        <a:srgbClr val="F7F8F6"/>
      </a:lt1>
      <a:dk2>
        <a:srgbClr val="4D626D"/>
      </a:dk2>
      <a:lt2>
        <a:srgbClr val="E0E4E4"/>
      </a:lt2>
      <a:accent1>
        <a:srgbClr val="0A5173"/>
      </a:accent1>
      <a:accent2>
        <a:srgbClr val="F2C14E"/>
      </a:accent2>
      <a:accent3>
        <a:srgbClr val="4A5568"/>
      </a:accent3>
      <a:accent4>
        <a:srgbClr val="6B7A82"/>
      </a:accent4>
      <a:accent5>
        <a:srgbClr val="D6E6EE"/>
      </a:accent5>
      <a:accent6>
        <a:srgbClr val="9AA0A6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portbad Mannheim – Teamsitzung 23.10.">
  <a:themeElements>
    <a:clrScheme name="Sportbad Mannheim – Teamsitzung 23.10.">
      <a:dk1>
        <a:srgbClr val="14303F"/>
      </a:dk1>
      <a:lt1>
        <a:srgbClr val="F7F8F6"/>
      </a:lt1>
      <a:dk2>
        <a:srgbClr val="4D626D"/>
      </a:dk2>
      <a:lt2>
        <a:srgbClr val="E0E4E4"/>
      </a:lt2>
      <a:accent1>
        <a:srgbClr val="0A5173"/>
      </a:accent1>
      <a:accent2>
        <a:srgbClr val="F2C14E"/>
      </a:accent2>
      <a:accent3>
        <a:srgbClr val="4A5568"/>
      </a:accent3>
      <a:accent4>
        <a:srgbClr val="6B7A82"/>
      </a:accent4>
      <a:accent5>
        <a:srgbClr val="D6E6EE"/>
      </a:accent5>
      <a:accent6>
        <a:srgbClr val="9AA0A6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2026-10-22T11:38:12Z</dcterms:created>
</cp:coreProperties>
</file>