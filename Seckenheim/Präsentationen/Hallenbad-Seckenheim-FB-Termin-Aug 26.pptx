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fVE1WvqFj0hNBRscHpWCts/Tp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629e5cc7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f629e5cc7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f629e5cc7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29e5cc77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629e5cc77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f629e5cc77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629e5cc77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629e5cc77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f629e5cc77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C5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1965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93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93A8"/>
                </a:solidFill>
                <a:latin typeface="Calibri"/>
                <a:ea typeface="Calibri"/>
                <a:cs typeface="Calibri"/>
                <a:sym typeface="Calibri"/>
              </a:rPr>
              <a:t>VERTRAULICH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23774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Hallenbad Seckenheim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85800" y="338328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E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CFE6EE"/>
                </a:solidFill>
                <a:latin typeface="Cambria"/>
                <a:ea typeface="Cambria"/>
                <a:cs typeface="Cambria"/>
                <a:sym typeface="Cambria"/>
              </a:rPr>
              <a:t>Sachstand &amp; Zeitplan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" y="397764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E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6EE"/>
                </a:solidFill>
                <a:latin typeface="Calibri"/>
                <a:ea typeface="Calibri"/>
                <a:cs typeface="Calibri"/>
                <a:sym typeface="Calibri"/>
              </a:rPr>
              <a:t>Fortführung des Schwimmbetriebs in gemeinnütziger Trägerschaft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5760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93A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C93A8"/>
                </a:solidFill>
                <a:latin typeface="Calibri"/>
                <a:ea typeface="Calibri"/>
                <a:cs typeface="Calibri"/>
                <a:sym typeface="Calibri"/>
              </a:rPr>
              <a:t>August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Ausgangslage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325880"/>
            <a:ext cx="3502152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731520" y="1463040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3200"/>
              <a:buFont typeface="Cambria"/>
              <a:buNone/>
            </a:pPr>
            <a:r>
              <a:rPr b="1" i="0" lang="en-US" sz="3100" u="none" cap="none" strike="noStrike">
                <a:solidFill>
                  <a:srgbClr val="0E6D8F"/>
                </a:solidFill>
                <a:latin typeface="Cambria"/>
                <a:ea typeface="Cambria"/>
                <a:cs typeface="Cambria"/>
                <a:sym typeface="Cambria"/>
              </a:rPr>
              <a:t>5 Bahnen · 25 m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31520" y="2157984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mit 3-m-Sprungturm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343400" y="1325880"/>
            <a:ext cx="3502152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26280" y="1463040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E6D8F"/>
                </a:solidFill>
                <a:latin typeface="Cambria"/>
                <a:ea typeface="Cambria"/>
                <a:cs typeface="Cambria"/>
                <a:sym typeface="Cambria"/>
              </a:rPr>
              <a:t>~50.000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26280" y="2157984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Besuche / Jahr (2025, belegt)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138160" y="1325880"/>
            <a:ext cx="3502152" cy="155448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321040" y="1463040"/>
            <a:ext cx="3154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E6D8F"/>
                </a:solidFill>
                <a:latin typeface="Cambria"/>
                <a:ea typeface="Cambria"/>
                <a:cs typeface="Cambria"/>
                <a:sym typeface="Cambria"/>
              </a:rPr>
              <a:t>31.07.2026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321040" y="2157984"/>
            <a:ext cx="3154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Betriebsende durch die Stadt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3108960"/>
            <a:ext cx="5532120" cy="2926080"/>
          </a:xfrm>
          <a:prstGeom prst="roundRect">
            <a:avLst>
              <a:gd fmla="val 2813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22960" y="32918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Situation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" y="3628292"/>
            <a:ext cx="5074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415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Schulschwimmen wird nach den Ferien auf andere Bäder verteilt; Vormittagszeiten werden frei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02000"/>
              </a:lnSpc>
              <a:spcBef>
                <a:spcPts val="100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Verteilung der Mannheimer Vereine auf andere städtische Bäder</a:t>
            </a: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; Nach Eröffnun</a:t>
            </a:r>
            <a:r>
              <a:rPr lang="en-US" sz="13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g des Kombibades sind die Mannheimer Vereine mit Kernzeiten versorgt</a:t>
            </a:r>
            <a:endParaRPr sz="135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02000"/>
              </a:lnSpc>
              <a:spcBef>
                <a:spcPts val="100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Die meisten bisherigen gemieteten Stunden werden daher frei werden und müssen durch neue Nutzergruppen ersetzt werden</a:t>
            </a:r>
            <a:endParaRPr sz="135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177800" marR="0" rtl="0" algn="l">
              <a:lnSpc>
                <a:spcPct val="102000"/>
              </a:lnSpc>
              <a:spcBef>
                <a:spcPts val="100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Stillgelegtes Planschbecken, 1 und 3m Turm in Betrieb aber mit unklarer Substanz</a:t>
            </a:r>
            <a:endParaRPr sz="135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63640" y="3108960"/>
            <a:ext cx="5349240" cy="2926080"/>
          </a:xfrm>
          <a:prstGeom prst="roundRect">
            <a:avLst>
              <a:gd fmla="val 2813" name="adj"/>
            </a:avLst>
          </a:prstGeom>
          <a:solidFill>
            <a:srgbClr val="E7F1EC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537960" y="32918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200"/>
              <a:buFont typeface="Calibri"/>
              <a:buNone/>
            </a:pPr>
            <a:r>
              <a:rPr b="1" lang="en-US" sz="21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Zukünftiger Betrieb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37960" y="36576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Der Betrieb muss außerhalb der bisherigen kommunalen Subventionierung wirtschaftlich tragfähig sein.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August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Betriebsdaten 2025 (belegt)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1371600"/>
            <a:ext cx="5806440" cy="4663440"/>
          </a:xfrm>
          <a:prstGeom prst="roundRect">
            <a:avLst>
              <a:gd fmla="val 1765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22960" y="153619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3C54"/>
                </a:solidFill>
                <a:latin typeface="Calibri"/>
                <a:ea typeface="Calibri"/>
                <a:cs typeface="Calibri"/>
                <a:sym typeface="Calibri"/>
              </a:rPr>
              <a:t>Ausgaben nach Position (T€)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77240" y="20116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Gas / Wärme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240280" y="20574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2240280" y="20574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C879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559552" y="20116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87,3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77240" y="24688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Personal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240280" y="25146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2240280" y="2514600"/>
            <a:ext cx="2870567" cy="219456"/>
          </a:xfrm>
          <a:prstGeom prst="roundRect">
            <a:avLst>
              <a:gd fmla="val 8333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559552" y="24688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77,2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77240" y="29260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Strom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2240280" y="29718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2240280" y="2971800"/>
            <a:ext cx="732515" cy="219456"/>
          </a:xfrm>
          <a:prstGeom prst="roundRect">
            <a:avLst>
              <a:gd fmla="val 8333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5559552" y="29260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19,7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77240" y="33832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Sonstige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240280" y="34290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2240280" y="3429000"/>
            <a:ext cx="520569" cy="219456"/>
          </a:xfrm>
          <a:prstGeom prst="roundRect">
            <a:avLst>
              <a:gd fmla="val 8333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559552" y="33832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14,0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77240" y="38404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Wasser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240280" y="38862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2240280" y="3886200"/>
            <a:ext cx="490822" cy="219456"/>
          </a:xfrm>
          <a:prstGeom prst="roundRect">
            <a:avLst>
              <a:gd fmla="val 8333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559552" y="38404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13,2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77240" y="42976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Entwässerung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240280" y="43434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240280" y="4343400"/>
            <a:ext cx="461075" cy="219456"/>
          </a:xfrm>
          <a:prstGeom prst="roundRect">
            <a:avLst>
              <a:gd fmla="val 8333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559552" y="42976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12,4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77240" y="47548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Reparatur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240280" y="48006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240280" y="4800600"/>
            <a:ext cx="368117" cy="219456"/>
          </a:xfrm>
          <a:prstGeom prst="roundRect">
            <a:avLst>
              <a:gd fmla="val 8333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559552" y="47548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9,9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77240" y="52120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Müll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240280" y="5257800"/>
            <a:ext cx="3246120" cy="219456"/>
          </a:xfrm>
          <a:prstGeom prst="roundRect">
            <a:avLst>
              <a:gd fmla="val 8333" name="adj"/>
            </a:avLst>
          </a:prstGeom>
          <a:solidFill>
            <a:srgbClr val="E7ED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2240280" y="5257800"/>
            <a:ext cx="54864" cy="219456"/>
          </a:xfrm>
          <a:prstGeom prst="roundRect">
            <a:avLst>
              <a:gd fmla="val 33333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559552" y="521208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1,3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583680" y="1371600"/>
            <a:ext cx="502920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812280" y="1499616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235.</a:t>
            </a:r>
            <a:r>
              <a:rPr b="1" lang="en-US" sz="2500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000</a:t>
            </a:r>
            <a:r>
              <a:rPr b="1" i="0" lang="en-US" sz="25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 €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098280" y="1481328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50"/>
              <a:buFont typeface="Calibri"/>
              <a:buNone/>
            </a:pPr>
            <a:r>
              <a:rPr b="0" i="0" lang="en-US" sz="15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Ausgaben gesamt 2025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583680" y="2395728"/>
            <a:ext cx="5029200" cy="932688"/>
          </a:xfrm>
          <a:prstGeom prst="roundRect">
            <a:avLst>
              <a:gd fmla="val 8824" name="adj"/>
            </a:avLst>
          </a:prstGeom>
          <a:solidFill>
            <a:srgbClr val="FBEEDD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6812280" y="2523744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91B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C8791B"/>
                </a:solidFill>
                <a:latin typeface="Cambria"/>
                <a:ea typeface="Cambria"/>
                <a:cs typeface="Cambria"/>
                <a:sym typeface="Cambria"/>
              </a:rPr>
              <a:t>96.</a:t>
            </a:r>
            <a:r>
              <a:rPr b="1" lang="en-US" sz="2500">
                <a:solidFill>
                  <a:srgbClr val="C8791B"/>
                </a:solidFill>
                <a:latin typeface="Cambria"/>
                <a:ea typeface="Cambria"/>
                <a:cs typeface="Cambria"/>
                <a:sym typeface="Cambria"/>
              </a:rPr>
              <a:t>000</a:t>
            </a:r>
            <a:r>
              <a:rPr b="1" i="0" lang="en-US" sz="2500" u="none" cap="none" strike="noStrike">
                <a:solidFill>
                  <a:srgbClr val="C8791B"/>
                </a:solidFill>
                <a:latin typeface="Cambria"/>
                <a:ea typeface="Cambria"/>
                <a:cs typeface="Cambria"/>
                <a:sym typeface="Cambria"/>
              </a:rPr>
              <a:t> €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098280" y="2505456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50"/>
              <a:buFont typeface="Calibri"/>
              <a:buNone/>
            </a:pPr>
            <a:r>
              <a:rPr b="0" i="0" lang="en-US" sz="15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operative Einnahmen</a:t>
            </a:r>
            <a:endParaRPr sz="1550">
              <a:solidFill>
                <a:srgbClr val="5C6B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50"/>
              <a:buFont typeface="Calibri"/>
              <a:buNone/>
            </a:pPr>
            <a:r>
              <a:rPr b="0" i="0" lang="en-US" sz="15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41 % Deckung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583680" y="3419856"/>
            <a:ext cx="5029200" cy="932688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812280" y="3547872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r>
              <a:rPr b="1" lang="en-US" sz="2500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b="1" i="0" lang="en-US" sz="25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lang="en-US" sz="2500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000</a:t>
            </a:r>
            <a:r>
              <a:rPr b="1" i="0" lang="en-US" sz="25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 €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098280" y="3529584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150"/>
              <a:buFont typeface="Calibri"/>
              <a:buNone/>
            </a:pPr>
            <a:r>
              <a:rPr b="0" i="0" lang="en-US" sz="15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städtischer Zuschuss (entfällt künftig)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August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Kostenstruktur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48640" y="1371600"/>
            <a:ext cx="5532120" cy="3337560"/>
          </a:xfrm>
          <a:prstGeom prst="roundRect">
            <a:avLst>
              <a:gd fmla="val 2466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2" name="Google Shape;102;p5"/>
          <p:cNvSpPr/>
          <p:nvPr/>
        </p:nvSpPr>
        <p:spPr>
          <a:xfrm>
            <a:off x="822960" y="1508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Laufende Kosten 2025 (belegt), gruppiert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22960" y="1920240"/>
            <a:ext cx="109728" cy="658368"/>
          </a:xfrm>
          <a:prstGeom prst="roundRect">
            <a:avLst>
              <a:gd fmla="val 16667" name="adj"/>
            </a:avLst>
          </a:prstGeom>
          <a:solidFill>
            <a:srgbClr val="C879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4" name="Google Shape;104;p5"/>
          <p:cNvSpPr/>
          <p:nvPr/>
        </p:nvSpPr>
        <p:spPr>
          <a:xfrm>
            <a:off x="1097280" y="19019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Energie &amp; Medien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97280" y="22494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Gas, Strom, Wasser, Entwässerung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931920" y="1938528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791B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C8791B"/>
                </a:solidFill>
                <a:latin typeface="Cambria"/>
                <a:ea typeface="Cambria"/>
                <a:cs typeface="Cambria"/>
                <a:sym typeface="Cambria"/>
              </a:rPr>
              <a:t>≈ 133 T€ · 57 %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22960" y="2816352"/>
            <a:ext cx="109728" cy="658368"/>
          </a:xfrm>
          <a:prstGeom prst="roundRect">
            <a:avLst>
              <a:gd fmla="val 16667" name="adj"/>
            </a:avLst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8" name="Google Shape;108;p5"/>
          <p:cNvSpPr/>
          <p:nvPr/>
        </p:nvSpPr>
        <p:spPr>
          <a:xfrm>
            <a:off x="1097280" y="2798064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Personal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097280" y="3145536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50"/>
              <a:buFont typeface="Calibri"/>
              <a:buNone/>
            </a:pPr>
            <a:r>
              <a:rPr b="0" i="0" lang="en-US" sz="17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Bad-Team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931920" y="283464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0E6D8F"/>
                </a:solidFill>
                <a:latin typeface="Cambria"/>
                <a:ea typeface="Cambria"/>
                <a:cs typeface="Cambria"/>
                <a:sym typeface="Cambria"/>
              </a:rPr>
              <a:t>≈ 77 T€ · 33 %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22960" y="3712464"/>
            <a:ext cx="109728" cy="658368"/>
          </a:xfrm>
          <a:prstGeom prst="roundRect">
            <a:avLst>
              <a:gd fmla="val 16667" name="adj"/>
            </a:avLst>
          </a:prstGeom>
          <a:solidFill>
            <a:srgbClr val="5C6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2" name="Google Shape;112;p5"/>
          <p:cNvSpPr/>
          <p:nvPr/>
        </p:nvSpPr>
        <p:spPr>
          <a:xfrm>
            <a:off x="1097280" y="3694176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Übriges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097280" y="4041648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50"/>
              <a:buFont typeface="Calibri"/>
              <a:buNone/>
            </a:pPr>
            <a:r>
              <a:rPr b="0" i="0" lang="en-US" sz="175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Betriebskosten, Reparatur, Müll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931920" y="3730752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5C6B73"/>
                </a:solidFill>
                <a:latin typeface="Cambria"/>
                <a:ea typeface="Cambria"/>
                <a:cs typeface="Cambria"/>
                <a:sym typeface="Cambria"/>
              </a:rPr>
              <a:t>≈ 25 T€ · 11 %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263640" y="1371600"/>
            <a:ext cx="5349240" cy="3337560"/>
          </a:xfrm>
          <a:prstGeom prst="roundRect">
            <a:avLst>
              <a:gd fmla="val 2466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537960" y="15087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Künftiges Zielbudget (Planwert)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537960" y="1817663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Laufende Kosten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601200" y="1817663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≈ 243 T€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537960" y="2128559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1" lang="en-US" sz="15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belegt 235 T€, Reparatur normalisiert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537960" y="2430194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+ Investitionsrücklage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601200" y="2415540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≈ 50 T€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37960" y="2741090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1" lang="en-US" sz="18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für die schrittweise Sanierung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537960" y="3584917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+ Pacht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601200" y="3658186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offen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537960" y="3895813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1000"/>
              <a:buFont typeface="Calibri"/>
              <a:buNone/>
            </a:pPr>
            <a:r>
              <a:rPr b="0" i="1" lang="en-US" sz="18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Form noch nicht entschieden — s. 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6537960" y="4213977"/>
            <a:ext cx="4846200" cy="0"/>
          </a:xfrm>
          <a:prstGeom prst="straightConnector1">
            <a:avLst/>
          </a:prstGeom>
          <a:noFill/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5"/>
          <p:cNvSpPr/>
          <p:nvPr/>
        </p:nvSpPr>
        <p:spPr>
          <a:xfrm>
            <a:off x="6537960" y="4243168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= Größenordnung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601200" y="4243168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400"/>
              <a:buFont typeface="Cambria"/>
              <a:buNone/>
            </a:pPr>
            <a:r>
              <a:rPr b="1" i="0" lang="en-US" sz="17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≈ 300-310 T€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60" y="4892050"/>
            <a:ext cx="11109900" cy="1143000"/>
          </a:xfrm>
          <a:prstGeom prst="roundRect">
            <a:avLst>
              <a:gd fmla="val 7200" name="adj"/>
            </a:avLst>
          </a:prstGeom>
          <a:solidFill>
            <a:srgbClr val="FBEEDD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22939" y="5029200"/>
            <a:ext cx="10515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91B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C8791B"/>
                </a:solidFill>
                <a:latin typeface="Calibri"/>
                <a:ea typeface="Calibri"/>
                <a:cs typeface="Calibri"/>
                <a:sym typeface="Calibri"/>
              </a:rPr>
              <a:t>Pacht vs. Überlassung noch offen.  </a:t>
            </a:r>
            <a:r>
              <a:rPr b="0" i="0" lang="en-US" sz="16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Überlassung (ohne Pacht) ist unsererseits bevorzugt; eine Pacht wäre nur deutlich reduziert / ggf. symbolisch tragba</a:t>
            </a:r>
            <a:r>
              <a:rPr lang="en-US" sz="16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r und muss die spezifischen Umstände des Bades berücksichtigen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August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526708" y="3229153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5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Versicherungen etc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589948" y="3214499"/>
            <a:ext cx="178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≈ </a:t>
            </a:r>
            <a:r>
              <a:rPr b="1" lang="en-US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14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0 T€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Trägermodell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48640" y="1417320"/>
            <a:ext cx="3502152" cy="3246120"/>
          </a:xfrm>
          <a:prstGeom prst="roundRect">
            <a:avLst>
              <a:gd fmla="val 2535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777240" y="1627632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Gemeinnütziger Träger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822960" y="2395728"/>
            <a:ext cx="2971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685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Operativer Betrieb &amp; Personal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177800" marR="0" rtl="0"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Betreiberhaftung / Verkehrssicherung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177800" marR="0" rtl="0"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Vermietung der Bahnenzeiten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177800" marR="0" rtl="0"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Trägt sämtliche Betriebskosten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8138160" y="1417320"/>
            <a:ext cx="3502152" cy="3246120"/>
          </a:xfrm>
          <a:prstGeom prst="roundRect">
            <a:avLst>
              <a:gd fmla="val 2535" name="adj"/>
            </a:avLst>
          </a:prstGeom>
          <a:solidFill>
            <a:srgbClr val="E7F1EC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8366760" y="1627632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2E7D5B"/>
                </a:solidFill>
                <a:latin typeface="Cambria"/>
                <a:ea typeface="Cambria"/>
                <a:cs typeface="Cambria"/>
                <a:sym typeface="Cambria"/>
              </a:rPr>
              <a:t>Stadt Mannheim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8412480" y="2222003"/>
            <a:ext cx="2971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Keine Kosten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Erhalt des Schwimmstandorts</a:t>
            </a:r>
            <a:endParaRPr b="0" i="0" u="none" cap="none" strike="noStrike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lnSpc>
                <a:spcPct val="102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Möglichkeit der Benutzung für Schulklassen </a:t>
            </a:r>
            <a:endParaRPr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548640" y="4892040"/>
            <a:ext cx="11091672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822960" y="50292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Überschüsse </a:t>
            </a:r>
            <a:r>
              <a:rPr b="0" i="0" lang="en-US" sz="17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fließen vollständig in Erhalt und Verbesserung des Bades zurück (keine Ausschüttung).  </a:t>
            </a:r>
            <a:endParaRPr b="0" i="0" sz="1700" u="none" cap="none" strike="noStrike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300"/>
              <a:buFont typeface="Calibri"/>
              <a:buNone/>
            </a:pPr>
            <a:r>
              <a:t/>
            </a:r>
            <a:endParaRPr b="1" sz="1700">
              <a:solidFill>
                <a:srgbClr val="0E6D8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Rechtsform </a:t>
            </a:r>
            <a:r>
              <a:rPr b="0" i="0" lang="en-US" sz="17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— Verein vs. gGmbH — wird beim Anwaltstermin Ende August final geklärt (aktuelle Tendenz: Verein).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August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29e5cc77_0_0"/>
          <p:cNvSpPr/>
          <p:nvPr/>
        </p:nvSpPr>
        <p:spPr>
          <a:xfrm>
            <a:off x="54864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DAS KONZEPT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629e5cc77_0_0"/>
          <p:cNvSpPr/>
          <p:nvPr/>
        </p:nvSpPr>
        <p:spPr>
          <a:xfrm>
            <a:off x="548640" y="77724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Betriebskonzept: Core + Nebenzeiten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629e5cc77_0_0"/>
          <p:cNvSpPr/>
          <p:nvPr/>
        </p:nvSpPr>
        <p:spPr>
          <a:xfrm>
            <a:off x="548640" y="141732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Zuerst die knappe Prime-Time absichern, alles andere kommt „on top“.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629e5cc77_0_0"/>
          <p:cNvSpPr/>
          <p:nvPr/>
        </p:nvSpPr>
        <p:spPr>
          <a:xfrm>
            <a:off x="548640" y="2194560"/>
            <a:ext cx="5394900" cy="3017400"/>
          </a:xfrm>
          <a:prstGeom prst="roundRect">
            <a:avLst>
              <a:gd fmla="val 2424" name="adj"/>
            </a:avLst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629e5cc77_0_0"/>
          <p:cNvSpPr/>
          <p:nvPr/>
        </p:nvSpPr>
        <p:spPr>
          <a:xfrm>
            <a:off x="822960" y="239572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9DA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9DAB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629e5cc77_0_0"/>
          <p:cNvSpPr/>
          <p:nvPr/>
        </p:nvSpPr>
        <p:spPr>
          <a:xfrm>
            <a:off x="822960" y="2743200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Hauptzeiten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629e5cc77_0_0"/>
          <p:cNvSpPr/>
          <p:nvPr/>
        </p:nvSpPr>
        <p:spPr>
          <a:xfrm>
            <a:off x="822960" y="3291840"/>
            <a:ext cx="4846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Morgen- (6-8 Uhr) und Abendfenster (17–22 Uhr).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Flexibel aufgeteilt zwischen Vereinen und Premiumzeiten für Individualschwim</a:t>
            </a:r>
            <a:r>
              <a:rPr lang="en-US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mer mit Trainer</a:t>
            </a:r>
            <a:r>
              <a:rPr b="0" i="0" lang="en-US" sz="1400" u="none" cap="none" strike="noStrike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Vereinsüberlassungen über feste Nutzerzusagen absichern.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629e5cc77_0_0"/>
          <p:cNvSpPr/>
          <p:nvPr/>
        </p:nvSpPr>
        <p:spPr>
          <a:xfrm>
            <a:off x="6217920" y="2194560"/>
            <a:ext cx="5394900" cy="3017400"/>
          </a:xfrm>
          <a:prstGeom prst="roundRect">
            <a:avLst>
              <a:gd fmla="val 2424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629e5cc77_0_0"/>
          <p:cNvSpPr/>
          <p:nvPr/>
        </p:nvSpPr>
        <p:spPr>
          <a:xfrm>
            <a:off x="6492240" y="239572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NEBENZEITEN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629e5cc77_0_0"/>
          <p:cNvSpPr/>
          <p:nvPr/>
        </p:nvSpPr>
        <p:spPr>
          <a:xfrm>
            <a:off x="6492240" y="2743200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Andere Benutzer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629e5cc77_0_0"/>
          <p:cNvSpPr/>
          <p:nvPr/>
        </p:nvSpPr>
        <p:spPr>
          <a:xfrm>
            <a:off x="6492240" y="3291840"/>
            <a:ext cx="4846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Die Nebenzeiten (8 bis 17 Uhr, Wochenende) für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Schwimmschulen &amp; Kurse, Öffentlichkeit, Schulen, Reha/Gesundheit, ggfls später auch eigene Kurse.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629e5cc77_0_0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629e5cc77_0_0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629e5cc77_0_18"/>
          <p:cNvSpPr/>
          <p:nvPr/>
        </p:nvSpPr>
        <p:spPr>
          <a:xfrm>
            <a:off x="64008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NUTZUNG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629e5cc77_0_18"/>
          <p:cNvSpPr/>
          <p:nvPr/>
        </p:nvSpPr>
        <p:spPr>
          <a:xfrm>
            <a:off x="640080" y="777240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Benutzergruppen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629e5cc77_0_18"/>
          <p:cNvSpPr/>
          <p:nvPr/>
        </p:nvSpPr>
        <p:spPr>
          <a:xfrm>
            <a:off x="640080" y="1691640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Mit der Kombibad-Eröffnung verlagern sich Teile der großen Vereine dorthin. Seckenheim richtet sich gezielt auf die Nachfrage aus, die das Kombibad nicht bedien</a:t>
            </a:r>
            <a:r>
              <a:rPr lang="en-US" sz="15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en kann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629e5cc77_0_18"/>
          <p:cNvSpPr/>
          <p:nvPr/>
        </p:nvSpPr>
        <p:spPr>
          <a:xfrm>
            <a:off x="640080" y="2651760"/>
            <a:ext cx="2697600" cy="2743200"/>
          </a:xfrm>
          <a:prstGeom prst="roundRect">
            <a:avLst>
              <a:gd fmla="val 2034" name="adj"/>
            </a:avLst>
          </a:prstGeom>
          <a:solidFill>
            <a:srgbClr val="2E5E68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629e5cc77_0_18"/>
          <p:cNvSpPr/>
          <p:nvPr/>
        </p:nvSpPr>
        <p:spPr>
          <a:xfrm>
            <a:off x="914400" y="2971800"/>
            <a:ext cx="214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Schwimmschulen &amp; Kurse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629e5cc77_0_18"/>
          <p:cNvSpPr/>
          <p:nvPr/>
        </p:nvSpPr>
        <p:spPr>
          <a:xfrm>
            <a:off x="914400" y="3886200"/>
            <a:ext cx="2148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E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FE0DC"/>
                </a:solidFill>
                <a:latin typeface="Calibri"/>
                <a:ea typeface="Calibri"/>
                <a:cs typeface="Calibri"/>
                <a:sym typeface="Calibri"/>
              </a:rPr>
              <a:t>Gewerbliche Schwimmkurse und Erwachsenenkurse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629e5cc77_0_18"/>
          <p:cNvSpPr/>
          <p:nvPr/>
        </p:nvSpPr>
        <p:spPr>
          <a:xfrm>
            <a:off x="3520440" y="2651760"/>
            <a:ext cx="2697600" cy="2743200"/>
          </a:xfrm>
          <a:prstGeom prst="roundRect">
            <a:avLst>
              <a:gd fmla="val 2034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629e5cc77_0_18"/>
          <p:cNvSpPr/>
          <p:nvPr/>
        </p:nvSpPr>
        <p:spPr>
          <a:xfrm>
            <a:off x="3794760" y="2897899"/>
            <a:ext cx="214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Externe Umlandvereine</a:t>
            </a:r>
            <a:endParaRPr b="1" i="0" sz="16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und “Overflow” der städtischen Vereine</a:t>
            </a:r>
            <a:endParaRPr b="1" i="0" sz="16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629e5cc77_0_18"/>
          <p:cNvSpPr/>
          <p:nvPr/>
        </p:nvSpPr>
        <p:spPr>
          <a:xfrm>
            <a:off x="3649763" y="3886200"/>
            <a:ext cx="2424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Vereine aus Nachbarkommunen ohne eigene Wasserzeiten </a:t>
            </a:r>
            <a:endParaRPr b="0" i="0" sz="125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Zusätzliche Zeiten für die Mannheimer Vereine (z.B. am Wochenende, bzw früh am Morgen)</a:t>
            </a:r>
            <a:endParaRPr b="0" i="0" sz="125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629e5cc77_0_18"/>
          <p:cNvSpPr/>
          <p:nvPr/>
        </p:nvSpPr>
        <p:spPr>
          <a:xfrm>
            <a:off x="6400800" y="2651760"/>
            <a:ext cx="2697600" cy="2743200"/>
          </a:xfrm>
          <a:prstGeom prst="roundRect">
            <a:avLst>
              <a:gd fmla="val 2034" name="adj"/>
            </a:avLst>
          </a:prstGeom>
          <a:solidFill>
            <a:srgbClr val="2E5E68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f629e5cc77_0_18"/>
          <p:cNvSpPr/>
          <p:nvPr/>
        </p:nvSpPr>
        <p:spPr>
          <a:xfrm>
            <a:off x="6675120" y="2971800"/>
            <a:ext cx="214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Ambitionierte Privatschwimmer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629e5cc77_0_18"/>
          <p:cNvSpPr/>
          <p:nvPr/>
        </p:nvSpPr>
        <p:spPr>
          <a:xfrm>
            <a:off x="6675120" y="3886200"/>
            <a:ext cx="2148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E0DC"/>
              </a:buClr>
              <a:buSzPts val="125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Private Sportschwimmer, die feste Bahnen zu Primetimes suchen. 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E0DC"/>
              </a:buClr>
              <a:buSzPts val="125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Vorbuchbare Premium-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Bahnen</a:t>
            </a: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und Masterclasses mit Trainer 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629e5cc77_0_18"/>
          <p:cNvSpPr/>
          <p:nvPr/>
        </p:nvSpPr>
        <p:spPr>
          <a:xfrm>
            <a:off x="9281160" y="2651760"/>
            <a:ext cx="2697600" cy="2743200"/>
          </a:xfrm>
          <a:prstGeom prst="roundRect">
            <a:avLst>
              <a:gd fmla="val 2034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629e5cc77_0_18"/>
          <p:cNvSpPr/>
          <p:nvPr/>
        </p:nvSpPr>
        <p:spPr>
          <a:xfrm>
            <a:off x="9555480" y="2971800"/>
            <a:ext cx="214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Öffentliche &amp; Gesundheit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629e5cc77_0_18"/>
          <p:cNvSpPr/>
          <p:nvPr/>
        </p:nvSpPr>
        <p:spPr>
          <a:xfrm>
            <a:off x="9555480" y="3886200"/>
            <a:ext cx="2148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Wohnortnahes öffentliches Schwimmen, Reha- und Gesundheitsschwimmen, bevorzugt außerhalb der Hauptzeiten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629e5cc77_0_18"/>
          <p:cNvSpPr/>
          <p:nvPr/>
        </p:nvSpPr>
        <p:spPr>
          <a:xfrm>
            <a:off x="457200" y="6473952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629e5cc77_0_18"/>
          <p:cNvSpPr/>
          <p:nvPr/>
        </p:nvSpPr>
        <p:spPr>
          <a:xfrm>
            <a:off x="11247120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629e5cc77_0_18"/>
          <p:cNvSpPr/>
          <p:nvPr/>
        </p:nvSpPr>
        <p:spPr>
          <a:xfrm>
            <a:off x="640118" y="5545853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Mögliche UPSIDE: Seckenheimer und weitere Schulen </a:t>
            </a:r>
            <a:r>
              <a:rPr lang="en-US" sz="15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könnten</a:t>
            </a: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 auch längerfristig in Seckenheim bleiben</a:t>
            </a:r>
            <a:r>
              <a:rPr lang="en-US" sz="15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(Mietkosten gegenüber </a:t>
            </a: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der Buskosten nach Neckarau</a:t>
            </a:r>
            <a:r>
              <a:rPr lang="en-US" sz="15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629e5cc77_0_42"/>
          <p:cNvSpPr/>
          <p:nvPr/>
        </p:nvSpPr>
        <p:spPr>
          <a:xfrm>
            <a:off x="548640" y="384679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FINANZIERUNG · JAHR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629e5cc77_0_42"/>
          <p:cNvSpPr/>
          <p:nvPr/>
        </p:nvSpPr>
        <p:spPr>
          <a:xfrm>
            <a:off x="548640" y="851141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Das erste Jahr: Keine Kredite, vorfinanziert über vertragliche Zusagen, Crowdfunding und Spenden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629e5cc77_0_42"/>
          <p:cNvSpPr/>
          <p:nvPr/>
        </p:nvSpPr>
        <p:spPr>
          <a:xfrm>
            <a:off x="6355075" y="2103124"/>
            <a:ext cx="5257800" cy="2681400"/>
          </a:xfrm>
          <a:prstGeom prst="roundRect">
            <a:avLst>
              <a:gd fmla="val 2286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629e5cc77_0_42"/>
          <p:cNvSpPr/>
          <p:nvPr/>
        </p:nvSpPr>
        <p:spPr>
          <a:xfrm>
            <a:off x="6629400" y="228600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73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5732B"/>
                </a:solidFill>
                <a:latin typeface="Calibri"/>
                <a:ea typeface="Calibri"/>
                <a:cs typeface="Calibri"/>
                <a:sym typeface="Calibri"/>
              </a:rPr>
              <a:t>Einmaliges Startkapital &amp; Initiales Invest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629e5cc77_0_42"/>
          <p:cNvSpPr/>
          <p:nvPr/>
        </p:nvSpPr>
        <p:spPr>
          <a:xfrm>
            <a:off x="6675120" y="2834640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Gründung &amp; Recht &amp; Versicherungen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629e5cc77_0_42"/>
          <p:cNvSpPr/>
          <p:nvPr/>
        </p:nvSpPr>
        <p:spPr>
          <a:xfrm>
            <a:off x="9692640" y="2834640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629e5cc77_0_42"/>
          <p:cNvSpPr/>
          <p:nvPr/>
        </p:nvSpPr>
        <p:spPr>
          <a:xfrm>
            <a:off x="6675120" y="3346704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Duschen (Sanierung)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629e5cc77_0_42"/>
          <p:cNvSpPr/>
          <p:nvPr/>
        </p:nvSpPr>
        <p:spPr>
          <a:xfrm>
            <a:off x="9692640" y="3346704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20.000 €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629e5cc77_0_42"/>
          <p:cNvSpPr/>
          <p:nvPr/>
        </p:nvSpPr>
        <p:spPr>
          <a:xfrm>
            <a:off x="6675120" y="3858768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Wasserabdeckung (Schwimmfolie für weniger Energieverlust) oder Dachreparatur (Abdichtung Lichtkuppeln, …)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629e5cc77_0_42"/>
          <p:cNvSpPr/>
          <p:nvPr/>
        </p:nvSpPr>
        <p:spPr>
          <a:xfrm>
            <a:off x="9692640" y="3858768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20.000 €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f629e5cc77_0_42"/>
          <p:cNvCxnSpPr/>
          <p:nvPr/>
        </p:nvCxnSpPr>
        <p:spPr>
          <a:xfrm>
            <a:off x="6675120" y="4415921"/>
            <a:ext cx="4617600" cy="0"/>
          </a:xfrm>
          <a:prstGeom prst="straightConnector1">
            <a:avLst/>
          </a:prstGeom>
          <a:noFill/>
          <a:ln cap="flat" cmpd="sng" w="15225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g3f629e5cc77_0_42"/>
          <p:cNvSpPr/>
          <p:nvPr/>
        </p:nvSpPr>
        <p:spPr>
          <a:xfrm>
            <a:off x="6675120" y="4370832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= Startkapital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629e5cc77_0_42"/>
          <p:cNvSpPr/>
          <p:nvPr/>
        </p:nvSpPr>
        <p:spPr>
          <a:xfrm>
            <a:off x="9692640" y="4370832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629e5cc77_0_42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629e5cc77_0_42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629e5cc77_0_42"/>
          <p:cNvSpPr/>
          <p:nvPr/>
        </p:nvSpPr>
        <p:spPr>
          <a:xfrm>
            <a:off x="548650" y="4896592"/>
            <a:ext cx="5120700" cy="1371600"/>
          </a:xfrm>
          <a:prstGeom prst="roundRect">
            <a:avLst>
              <a:gd fmla="val 4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f629e5cc77_0_42"/>
          <p:cNvSpPr/>
          <p:nvPr/>
        </p:nvSpPr>
        <p:spPr>
          <a:xfrm>
            <a:off x="777250" y="5061184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06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~ </a:t>
            </a:r>
            <a:r>
              <a:rPr b="1" lang="en-US" sz="2700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3.000 €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629e5cc77_0_42"/>
          <p:cNvSpPr/>
          <p:nvPr/>
        </p:nvSpPr>
        <p:spPr>
          <a:xfrm>
            <a:off x="795538" y="5664688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Zu  erzielende Einnahmen für das </a:t>
            </a:r>
            <a:endParaRPr b="1" i="0" sz="1350" u="none" cap="none" strike="noStrike">
              <a:solidFill>
                <a:srgbClr val="0F2E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erste Jahr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629e5cc77_0_42"/>
          <p:cNvSpPr/>
          <p:nvPr/>
        </p:nvSpPr>
        <p:spPr>
          <a:xfrm>
            <a:off x="3566170" y="5399512"/>
            <a:ext cx="1965900" cy="3840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629e5cc77_0_42"/>
          <p:cNvSpPr/>
          <p:nvPr/>
        </p:nvSpPr>
        <p:spPr>
          <a:xfrm>
            <a:off x="3536595" y="5423550"/>
            <a:ext cx="19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Zielbudget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629e5cc77_0_42"/>
          <p:cNvSpPr/>
          <p:nvPr/>
        </p:nvSpPr>
        <p:spPr>
          <a:xfrm>
            <a:off x="548650" y="1840215"/>
            <a:ext cx="5120700" cy="1371600"/>
          </a:xfrm>
          <a:prstGeom prst="roundRect">
            <a:avLst>
              <a:gd fmla="val 4667" name="adj"/>
            </a:avLst>
          </a:prstGeom>
          <a:solidFill>
            <a:srgbClr val="EA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629e5cc77_0_42"/>
          <p:cNvSpPr/>
          <p:nvPr/>
        </p:nvSpPr>
        <p:spPr>
          <a:xfrm>
            <a:off x="777250" y="2004807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06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~ 243.000 €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629e5cc77_0_42"/>
          <p:cNvSpPr/>
          <p:nvPr/>
        </p:nvSpPr>
        <p:spPr>
          <a:xfrm>
            <a:off x="795538" y="2608311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Laufende Jahreskosten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629e5cc77_0_42"/>
          <p:cNvSpPr/>
          <p:nvPr/>
        </p:nvSpPr>
        <p:spPr>
          <a:xfrm>
            <a:off x="3566170" y="2343135"/>
            <a:ext cx="1965900" cy="384000"/>
          </a:xfrm>
          <a:prstGeom prst="roundRect">
            <a:avLst>
              <a:gd fmla="val 50000" name="adj"/>
            </a:avLst>
          </a:prstGeom>
          <a:solidFill>
            <a:srgbClr val="2E8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629e5cc77_0_42"/>
          <p:cNvSpPr/>
          <p:nvPr/>
        </p:nvSpPr>
        <p:spPr>
          <a:xfrm>
            <a:off x="3566170" y="2343135"/>
            <a:ext cx="19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Planwert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629e5cc77_0_42"/>
          <p:cNvSpPr/>
          <p:nvPr/>
        </p:nvSpPr>
        <p:spPr>
          <a:xfrm>
            <a:off x="548650" y="3412983"/>
            <a:ext cx="5120700" cy="1371600"/>
          </a:xfrm>
          <a:prstGeom prst="roundRect">
            <a:avLst>
              <a:gd fmla="val 4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629e5cc77_0_42"/>
          <p:cNvSpPr/>
          <p:nvPr/>
        </p:nvSpPr>
        <p:spPr>
          <a:xfrm>
            <a:off x="777250" y="3577575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06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~ </a:t>
            </a:r>
            <a:r>
              <a:rPr b="1" lang="en-US" sz="2700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0.000 €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629e5cc77_0_42"/>
          <p:cNvSpPr/>
          <p:nvPr/>
        </p:nvSpPr>
        <p:spPr>
          <a:xfrm>
            <a:off x="795538" y="4181079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Reparaturen</a:t>
            </a:r>
            <a:r>
              <a:rPr b="1" lang="en-US" sz="1350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Startkapital und </a:t>
            </a:r>
            <a:endParaRPr b="1" i="0" sz="1350" u="none" cap="none" strike="noStrike">
              <a:solidFill>
                <a:srgbClr val="0F2E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Versicherungen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629e5cc77_0_42"/>
          <p:cNvSpPr/>
          <p:nvPr/>
        </p:nvSpPr>
        <p:spPr>
          <a:xfrm>
            <a:off x="3566170" y="3915903"/>
            <a:ext cx="1965900" cy="384000"/>
          </a:xfrm>
          <a:prstGeom prst="roundRect">
            <a:avLst>
              <a:gd fmla="val 50000" name="adj"/>
            </a:avLst>
          </a:prstGeom>
          <a:solidFill>
            <a:srgbClr val="C984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629e5cc77_0_42"/>
          <p:cNvSpPr/>
          <p:nvPr/>
        </p:nvSpPr>
        <p:spPr>
          <a:xfrm>
            <a:off x="3536610" y="3930683"/>
            <a:ext cx="19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zusätzlich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629e5cc77_0_42"/>
          <p:cNvSpPr txBox="1"/>
          <p:nvPr/>
        </p:nvSpPr>
        <p:spPr>
          <a:xfrm>
            <a:off x="6376625" y="5113775"/>
            <a:ext cx="52386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Kontaktaufnahme mit Stiftungen, Schwimmschulen, Vereinen aus dem Umland läuft bereits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Das Konzept stößt insgesamt auf reges Interesse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Prüfungen &amp; Betriebssicherheit (nach heutiger Kenntnis)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48640" y="1325880"/>
            <a:ext cx="5394960" cy="397764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5" name="Google Shape;235;p7"/>
          <p:cNvSpPr/>
          <p:nvPr/>
        </p:nvSpPr>
        <p:spPr>
          <a:xfrm>
            <a:off x="822960" y="1481328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BETREIBER — neue Bewertungen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22960" y="1828800"/>
            <a:ext cx="48920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Abhangdecke: Statikgutachten (Historie alle ~5–6 J.) — neues Gutachten bis Ende 2026, zwingend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(go/no-go)</a:t>
            </a:r>
            <a:endParaRPr b="0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Flachdach: Zustandsbewertung / Begehung, ggfls Abdichtung </a:t>
            </a:r>
            <a:r>
              <a:rPr b="0" i="0" lang="en-US" sz="15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(go/</a:t>
            </a: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no-go)</a:t>
            </a:r>
            <a:endParaRPr b="0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Ablaufrinne &amp; Sprungturm-Fundament (Bewertung de</a:t>
            </a: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 Zustandes) </a:t>
            </a: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(go/no-go)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Fortlaufend bei Wiederaufnahme und bisher auch dokumentiert: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51435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Trinkwasser / Legionellen (TrinkwV, DVGW W 551)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51435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Wartung Lüftungsanlage und Brenner inkl Abgaswege 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51435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Badewasserqualität und Dosieranlage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035040" y="1325880"/>
            <a:ext cx="5605272" cy="3977640"/>
          </a:xfrm>
          <a:prstGeom prst="roundRect">
            <a:avLst>
              <a:gd fmla="val 2069" name="adj"/>
            </a:avLst>
          </a:prstGeom>
          <a:solidFill>
            <a:srgbClr val="FBEEDD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8" name="Google Shape;238;p7"/>
          <p:cNvSpPr/>
          <p:nvPr/>
        </p:nvSpPr>
        <p:spPr>
          <a:xfrm>
            <a:off x="6309360" y="14813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91B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C8791B"/>
                </a:solidFill>
                <a:latin typeface="Calibri"/>
                <a:ea typeface="Calibri"/>
                <a:cs typeface="Calibri"/>
                <a:sym typeface="Calibri"/>
              </a:rPr>
              <a:t>STADT — </a:t>
            </a:r>
            <a:r>
              <a:rPr b="1" lang="en-US" sz="1800">
                <a:solidFill>
                  <a:srgbClr val="C8791B"/>
                </a:solidFill>
                <a:latin typeface="Calibri"/>
                <a:ea typeface="Calibri"/>
                <a:cs typeface="Calibri"/>
                <a:sym typeface="Calibri"/>
              </a:rPr>
              <a:t>wichtige ungeklärte Punkte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309360" y="1828800"/>
            <a:ext cx="507492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0025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Zurverfügungstellen einer “Checkliste” der </a:t>
            </a: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durchzuführenden</a:t>
            </a: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Prüfungen in den städtischen Bädern als “Anleitung” für die neuen Betreiber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Brandschutz: einmalige </a:t>
            </a: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Begehung durch die Stadt und den neuen Betreiber; Festlegung der Maßnahmen</a:t>
            </a: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Druckanlagen &amp; Gasfeuerung (BetrSichV): Kessel, Ausdehnungsgefäße, Gasstrecke unklare Situation, evtl auch nicht anwendbar auf die Technik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Blitzschutz / Erdung </a:t>
            </a: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evtl nicht benötigt, unklare Situation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Dokumentation über Baugenehmigung, Badtechnik, Brandschutzkonzept etc. aus der Zeit des Baues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177800" marR="0" rtl="0"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FB Bildung: Sicherung der gemeinsamen Verkehrswege mit der Schule</a:t>
            </a:r>
            <a:endParaRPr sz="1500">
              <a:solidFill>
                <a:srgbClr val="1B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48650" y="5440675"/>
            <a:ext cx="11091600" cy="948000"/>
          </a:xfrm>
          <a:prstGeom prst="roundRect">
            <a:avLst>
              <a:gd fmla="val 13235" name="adj"/>
            </a:avLst>
          </a:prstGeom>
          <a:solidFill>
            <a:srgbClr val="0B3C54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822950" y="5601747"/>
            <a:ext cx="106071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 keine Dokumentation vorliegt, ist der geprüfte Zustand vor Übergabe herzustellen. Stad</a:t>
            </a:r>
            <a:r>
              <a:rPr b="1" lang="en-US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 Mannheim verfügt über umfangreiche Erfahrung aus den anderen kommunalen Bäder, um eine Einschätzung zu Prüfpflichten zu geben und Prüfungen durchzuführen, die dann vertraglich als Übergabepunkt fungieren können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August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Zusätzliche benötigte Unterstützung für weitere Punkte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48640" y="1463040"/>
            <a:ext cx="5454396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508760" y="1764792"/>
            <a:ext cx="42656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600"/>
              <a:buFont typeface="Cambria"/>
              <a:buNone/>
            </a:pPr>
            <a:r>
              <a:rPr b="1" i="0" lang="en-US" sz="20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Erhaltung 31.07. → 01.01.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868680" y="2423160"/>
            <a:ext cx="481431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Methode offen (Warmhalten oder fachgerechtes Entleeren) — entscheidend: keine Substanzschäden. Verantwortung und Kosten bei der Stadt.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185916" y="1463040"/>
            <a:ext cx="5454396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460236" y="1737360"/>
            <a:ext cx="502920" cy="50292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460236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146036" y="1764792"/>
            <a:ext cx="42656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600"/>
              <a:buFont typeface="Cambria"/>
              <a:buNone/>
            </a:pPr>
            <a:r>
              <a:rPr b="1" i="0" lang="en-US" sz="20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Zugang ab 31.07.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505956" y="2423160"/>
            <a:ext cx="481431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Schlüssel / Zutritt für Dach-, Oberlicht- und Dusch-Inspektion, sowie Begehungen mit Handwerkern.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48640" y="3840480"/>
            <a:ext cx="5454396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508760" y="4142232"/>
            <a:ext cx="42656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600"/>
              <a:buFont typeface="Cambria"/>
              <a:buNone/>
            </a:pPr>
            <a:r>
              <a:rPr b="1" i="0" lang="en-US" sz="20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Wiederinbetriebnahme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68680" y="4800600"/>
            <a:ext cx="481431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Know-how aus den städtischen Freibädern; Rechtsstatus eines Ruhemodus und nachfolgender Wieder-Inbetriebnahme (Brandschutz/Technik).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185916" y="3840480"/>
            <a:ext cx="5454396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6460236" y="4114800"/>
            <a:ext cx="502920" cy="50292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6460236" y="4114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146036" y="4142232"/>
            <a:ext cx="42656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600"/>
              <a:buFont typeface="Cambria"/>
              <a:buNone/>
            </a:pPr>
            <a:r>
              <a:rPr b="1" i="0" lang="en-US" sz="20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Vereinskontakte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505956" y="4800600"/>
            <a:ext cx="481431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Weitergabe der Vereinskontakte aus dem Rhein-Neckar-Kreis</a:t>
            </a:r>
            <a:r>
              <a:rPr lang="en-US" sz="16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, die in den städtischen Bädern nicht berücksichtigt werden können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August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Vertragskonditionen</a:t>
            </a:r>
            <a:endParaRPr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48640" y="13258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22960" y="146304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B"/>
                </a:solidFill>
                <a:latin typeface="Cambria"/>
                <a:ea typeface="Cambria"/>
                <a:cs typeface="Cambria"/>
                <a:sym typeface="Cambria"/>
              </a:rPr>
              <a:t>BETREIBER BEVORZUGT</a:t>
            </a:r>
            <a:endParaRPr i="0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22960" y="17007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Überlassung</a:t>
            </a:r>
            <a:endParaRPr i="0" sz="17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22960" y="2121408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mbria"/>
              <a:buChar char="•"/>
            </a:pPr>
            <a:r>
              <a:rPr i="0" lang="en-US" sz="16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Bad bleibt formal bei der Stadt; Haftung juristisch durch die Stadt zu bewerten</a:t>
            </a:r>
            <a:endParaRPr i="0" sz="1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245352" y="1325880"/>
            <a:ext cx="5394960" cy="1600200"/>
          </a:xfrm>
          <a:prstGeom prst="roundRect">
            <a:avLst>
              <a:gd fmla="val 5143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519672" y="146304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91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791B"/>
                </a:solidFill>
                <a:latin typeface="Cambria"/>
                <a:ea typeface="Cambria"/>
                <a:cs typeface="Cambria"/>
                <a:sym typeface="Cambria"/>
              </a:rPr>
              <a:t>STADT TENDIERT DAZU</a:t>
            </a:r>
            <a:endParaRPr i="0" sz="11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519672" y="17007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Pacht</a:t>
            </a:r>
            <a:endParaRPr i="0" sz="17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519675" y="2121400"/>
            <a:ext cx="4910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mbria"/>
              <a:buChar char="•"/>
            </a:pPr>
            <a:r>
              <a:rPr i="0" lang="en-US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Falls Pacht: reduzierter Zins (Gemeinbedarf, nicht Wohnbauland) + </a:t>
            </a:r>
            <a:r>
              <a:rPr lang="en-US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Zustand/Invest</a:t>
            </a:r>
            <a:r>
              <a:rPr i="0" lang="en-US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 pachtmindernd</a:t>
            </a:r>
            <a:endParaRPr i="0" u="none" cap="none" strike="noStrike">
              <a:solidFill>
                <a:srgbClr val="1B2A33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mbria"/>
              <a:buChar char="•"/>
            </a:pPr>
            <a:r>
              <a:rPr lang="en-US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Pacht muss Zustand und Gemeinnützigkeit berücksichtigen</a:t>
            </a:r>
            <a:endParaRPr>
              <a:solidFill>
                <a:srgbClr val="1B2A3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48640" y="3108960"/>
            <a:ext cx="11091672" cy="777240"/>
          </a:xfrm>
          <a:prstGeom prst="roundRect">
            <a:avLst>
              <a:gd fmla="val 10588" name="adj"/>
            </a:avLst>
          </a:prstGeom>
          <a:solidFill>
            <a:srgbClr val="E7F1EC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22960" y="320040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2E7D5B"/>
                </a:solidFill>
                <a:latin typeface="Cambria"/>
                <a:ea typeface="Cambria"/>
                <a:cs typeface="Cambria"/>
                <a:sym typeface="Cambria"/>
              </a:rPr>
              <a:t>Betreiberzeit (durch FB Bildung bestätigt):  </a:t>
            </a:r>
            <a:endParaRPr b="1" i="0" sz="1500" u="none" cap="none" strike="noStrike">
              <a:solidFill>
                <a:srgbClr val="2E7D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i="0" lang="en-US" sz="15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5 Jahre gesichert, danach 1 Jahr Ankündigungsfrist (Mensa</a:t>
            </a:r>
            <a:r>
              <a:rPr lang="en-US" sz="1500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 Neubau für die</a:t>
            </a:r>
            <a:r>
              <a:rPr i="0" lang="en-US" sz="1500" u="none" cap="none" strike="noStrik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 benachbarte Schule).</a:t>
            </a:r>
            <a:endParaRPr i="0" sz="15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48650" y="4069075"/>
            <a:ext cx="11091600" cy="2136000"/>
          </a:xfrm>
          <a:prstGeom prst="roundRect">
            <a:avLst>
              <a:gd fmla="val 4186" name="adj"/>
            </a:avLst>
          </a:prstGeom>
          <a:noFill/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822960" y="420624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93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KERNBEDINGUNG</a:t>
            </a:r>
            <a:endParaRPr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22960" y="452628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Die vertragliche Bindung erfolgt nur vorvertraglich — aufschiebend bedingt auf die erfolgreiche Vorfinanzierung des ersten Betriebsjahres.</a:t>
            </a:r>
            <a:endParaRPr i="0" sz="15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22960" y="516636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Char char="•"/>
            </a:pPr>
            <a:r>
              <a:rPr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Erstes Jahr wird vollständig vorfinanziert (Vereins-Commitments + Fundraising) — Kern des Konzepts</a:t>
            </a:r>
            <a:endParaRPr i="0" sz="145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177800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Char char="•"/>
            </a:pPr>
            <a:r>
              <a:rPr lang="en-US" sz="14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Austiegsklausel </a:t>
            </a:r>
            <a:r>
              <a:rPr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des Betreibers bei technischem Totalschaden</a:t>
            </a:r>
            <a:r>
              <a:rPr lang="en-US" sz="14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langer technisch bedingter Schließung z.B. wegen Schäden</a:t>
            </a:r>
            <a:r>
              <a:rPr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oder fehlender finanzieller Tragfähigkeit, auch in Folgejahren</a:t>
            </a:r>
            <a:r>
              <a:rPr lang="en-US" sz="145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in jedem Fall auch mit kurzfristiger Ankündigung (z.B. 3 Monate)</a:t>
            </a:r>
            <a:endParaRPr i="0" sz="145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C6B73"/>
                </a:solidFill>
                <a:latin typeface="Cambria"/>
                <a:ea typeface="Cambria"/>
                <a:cs typeface="Cambria"/>
                <a:sym typeface="Cambria"/>
              </a:rPr>
              <a:t>Hallenbad Seckenheim  ·  vertraulich  ·  August 2026</a:t>
            </a:r>
            <a:endParaRPr i="0" sz="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rgbClr val="5C6B73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i="0" sz="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/>
          <p:nvPr/>
        </p:nvSpPr>
        <p:spPr>
          <a:xfrm>
            <a:off x="548640" y="120279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Zeitplan (grob)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50165" y="851675"/>
            <a:ext cx="11091600" cy="822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778765" y="1116851"/>
            <a:ext cx="292500" cy="29250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235965" y="979691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Aug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2927605" y="970547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Bausubstanz-Prüfung startet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2927605" y="1272299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Abhangdecke, Flachdach, Ablaufrinne/Sprungturm, Technik — ~4–6 Wochen. Voraussetzung für alles Weitere.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50165" y="1784363"/>
            <a:ext cx="11091600" cy="822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778765" y="2049539"/>
            <a:ext cx="292500" cy="29250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1235965" y="1912379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Ende Aug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927605" y="190323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Anwaltstermin: Rechtsform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2927605" y="2204987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Verein vs. gGmbH klären (Tendenz Verein); Haftung und Betreiberperspektive.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50165" y="2717051"/>
            <a:ext cx="11091600" cy="822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778765" y="2982227"/>
            <a:ext cx="292500" cy="29250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1235965" y="2845067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Sep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2927605" y="2835923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Bewertung </a:t>
            </a:r>
            <a:r>
              <a:rPr b="1" i="0" lang="en-US" sz="135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Brandschutz</a:t>
            </a:r>
            <a:r>
              <a:rPr b="1" lang="en-US" sz="1350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, Bausubstanz, etc.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2927605" y="3137675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Befunde (inkl. Dach) bewerten. Bei grünem Licht: Gründung vorbereiten.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50165" y="3649739"/>
            <a:ext cx="11091600" cy="822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778765" y="3914915"/>
            <a:ext cx="292500" cy="29250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1235965" y="3777755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ab Okt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2927605" y="3768611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Gründung, Vorvertrag &amp; Fundraising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2927605" y="4070363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Träger gründen; Vorvertrag mit Stadt (vorbehaltlich Vorfinanzierung); Vereins-Commitments + Fundraising.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50165" y="4582427"/>
            <a:ext cx="11091600" cy="822900"/>
          </a:xfrm>
          <a:prstGeom prst="roundRect">
            <a:avLst>
              <a:gd fmla="val 10000" name="adj"/>
            </a:avLst>
          </a:prstGeom>
          <a:solidFill>
            <a:srgbClr val="E7F1EC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778765" y="4847603"/>
            <a:ext cx="292500" cy="29250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1235965" y="4710443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D8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Nov/Dez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2927605" y="4701299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Klarheit über Vorfinanzierung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2927605" y="5003051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Endgültiges Commitment nur, wenn das erste Jahr vollständig vorfinanziert 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August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11338560" y="6510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B7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50190" y="5546477"/>
            <a:ext cx="11091600" cy="822900"/>
          </a:xfrm>
          <a:prstGeom prst="roundRect">
            <a:avLst>
              <a:gd fmla="val 10000" name="adj"/>
            </a:avLst>
          </a:prstGeom>
          <a:solidFill>
            <a:srgbClr val="E7F1EC"/>
          </a:solidFill>
          <a:ln cap="flat" cmpd="sng" w="12700">
            <a:solidFill>
              <a:srgbClr val="DCE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9DB2BC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778790" y="5811653"/>
            <a:ext cx="292500" cy="292500"/>
          </a:xfrm>
          <a:prstGeom prst="ellipse">
            <a:avLst/>
          </a:prstGeom>
          <a:solidFill>
            <a:srgbClr val="0E6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1235990" y="5674493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200">
                <a:solidFill>
                  <a:srgbClr val="0E6D8F"/>
                </a:solidFill>
                <a:latin typeface="Calibri"/>
                <a:ea typeface="Calibri"/>
                <a:cs typeface="Calibri"/>
                <a:sym typeface="Calibri"/>
              </a:rPr>
              <a:t>Jan 2027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927605" y="5797874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C54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0B3C54"/>
                </a:solidFill>
                <a:latin typeface="Cambria"/>
                <a:ea typeface="Cambria"/>
                <a:cs typeface="Cambria"/>
                <a:sym typeface="Cambria"/>
              </a:rPr>
              <a:t>Aufnahme des Betriebes</a:t>
            </a:r>
            <a:endParaRPr b="1" sz="1350">
              <a:solidFill>
                <a:srgbClr val="0B3C5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2026-07-31T07:38:47Z</dcterms:created>
  <dc:creator>PptxGenJS</dc:creator>
</cp:coreProperties>
</file>