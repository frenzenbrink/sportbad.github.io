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" roundtripDataSignature="AMtx7mjKbDchRIa55qGUmsU7p6ViEkiC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365760" y="146304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2300"/>
              <a:buFont typeface="Calibri"/>
              <a:buNone/>
            </a:pPr>
            <a:r>
              <a:rPr b="1" i="0" lang="en-US" sz="230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Organigramm – Sportbad Mannheim (Arbeitstitel)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365760" y="512064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Namen in die hellen Felder eintragen · blaue Stundenangaben = grobe Schätzung des Aufwands im eingeschwungenen Zustand · Stand September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841248"/>
            <a:ext cx="8961120" cy="384048"/>
          </a:xfrm>
          <a:prstGeom prst="rect">
            <a:avLst/>
          </a:prstGeom>
          <a:solidFill>
            <a:srgbClr val="0A51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365760" y="841248"/>
            <a:ext cx="89611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Mitgliederversammlung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463930" y="621803"/>
            <a:ext cx="2240400" cy="502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rgbClr val="6B7A8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 txBox="1"/>
          <p:nvPr/>
        </p:nvSpPr>
        <p:spPr>
          <a:xfrm>
            <a:off x="9463925" y="283473"/>
            <a:ext cx="2240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100"/>
              <a:buFont typeface="Calibri"/>
              <a:buNone/>
            </a:pPr>
            <a:r>
              <a:t/>
            </a:r>
            <a:endParaRPr b="1" sz="1100">
              <a:solidFill>
                <a:srgbClr val="6B7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Kassenprüfer (2)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Kontrolle · ≈ 1 h/Woche (punktuell)</a:t>
            </a:r>
            <a:endParaRPr b="0" i="0" sz="900" u="none" cap="none" strike="noStrike">
              <a:solidFill>
                <a:srgbClr val="6B7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Monika &amp; Beate Nieß</a:t>
            </a:r>
            <a:endParaRPr sz="900">
              <a:solidFill>
                <a:srgbClr val="6B7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1371600"/>
            <a:ext cx="11430000" cy="1371600"/>
          </a:xfrm>
          <a:prstGeom prst="rect">
            <a:avLst/>
          </a:prstGeom>
          <a:solidFill>
            <a:srgbClr val="E6F2F7"/>
          </a:solidFill>
          <a:ln cap="flat" cmpd="sng" w="15875">
            <a:solidFill>
              <a:srgbClr val="0A5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502920" y="1408176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Geschäftsführender Vorstand (§ 26 BGB)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48640" y="1719072"/>
            <a:ext cx="3108960" cy="9144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A5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 txBox="1"/>
          <p:nvPr/>
        </p:nvSpPr>
        <p:spPr>
          <a:xfrm>
            <a:off x="548640" y="175564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1. Vorsitzende/r</a:t>
            </a:r>
            <a:br>
              <a:rPr b="1" i="0" lang="en-US" sz="110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700" u="none" cap="none" strike="noStrike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(Liaison, </a:t>
            </a:r>
            <a:r>
              <a:rPr b="1" lang="en-US" sz="7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Kooperationen, Förderung)</a:t>
            </a:r>
            <a:endParaRPr b="0" i="0" sz="700" u="none" cap="none" strike="noStrike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548640" y="2121408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≈ </a:t>
            </a:r>
            <a:r>
              <a:rPr b="1" i="1" lang="en-US" sz="1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1" i="1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h/Woche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685800" y="2295144"/>
            <a:ext cx="2834640" cy="283464"/>
          </a:xfrm>
          <a:prstGeom prst="rect">
            <a:avLst/>
          </a:prstGeom>
          <a:solidFill>
            <a:srgbClr val="F2F7FA"/>
          </a:solidFill>
          <a:ln cap="flat" cmpd="sng" w="9525">
            <a:solidFill>
              <a:srgbClr val="CBD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Name: Martin Kraus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526280" y="1719072"/>
            <a:ext cx="3108960" cy="9144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A5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 txBox="1"/>
          <p:nvPr/>
        </p:nvSpPr>
        <p:spPr>
          <a:xfrm>
            <a:off x="4526280" y="175564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2. Vorsitzende/r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4526280" y="2121408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≈ </a:t>
            </a:r>
            <a:r>
              <a:rPr b="1" i="1" lang="en-US" sz="1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1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h/Woche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4663440" y="2295144"/>
            <a:ext cx="2834640" cy="283464"/>
          </a:xfrm>
          <a:prstGeom prst="rect">
            <a:avLst/>
          </a:prstGeom>
          <a:solidFill>
            <a:srgbClr val="F2F7FA"/>
          </a:solidFill>
          <a:ln cap="flat" cmpd="sng" w="9525">
            <a:solidFill>
              <a:srgbClr val="CBD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Name: Christian Münch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8503920" y="1719072"/>
            <a:ext cx="3108960" cy="9144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A5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8503920" y="1755648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517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A5173"/>
                </a:solidFill>
                <a:latin typeface="Calibri"/>
                <a:ea typeface="Calibri"/>
                <a:cs typeface="Calibri"/>
                <a:sym typeface="Calibri"/>
              </a:rPr>
              <a:t>Schatzmeister/in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(Finanzen &amp; </a:t>
            </a:r>
            <a:r>
              <a:rPr i="1" lang="en-US" sz="850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Steuerung</a:t>
            </a:r>
            <a:r>
              <a:rPr b="0" i="1" lang="en-US" sz="8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8503920" y="2121408"/>
            <a:ext cx="3108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≈ </a:t>
            </a:r>
            <a:r>
              <a:rPr b="1" i="1" lang="en-US" sz="1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1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h/Woche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 txBox="1"/>
          <p:nvPr/>
        </p:nvSpPr>
        <p:spPr>
          <a:xfrm>
            <a:off x="8641080" y="2295144"/>
            <a:ext cx="2834640" cy="283464"/>
          </a:xfrm>
          <a:prstGeom prst="rect">
            <a:avLst/>
          </a:prstGeom>
          <a:solidFill>
            <a:srgbClr val="F2F7FA"/>
          </a:solidFill>
          <a:ln cap="flat" cmpd="sng" w="9525">
            <a:solidFill>
              <a:srgbClr val="CBD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Name: Eugen Scheinker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365760" y="2816352"/>
            <a:ext cx="2697480" cy="16276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A5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365760" y="2816352"/>
            <a:ext cx="2697480" cy="310896"/>
          </a:xfrm>
          <a:prstGeom prst="rect">
            <a:avLst/>
          </a:prstGeom>
          <a:solidFill>
            <a:srgbClr val="0A51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 txBox="1"/>
          <p:nvPr/>
        </p:nvSpPr>
        <p:spPr>
          <a:xfrm>
            <a:off x="420624" y="2816352"/>
            <a:ext cx="25877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Technik, Anlagen &amp; Bau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 txBox="1"/>
          <p:nvPr/>
        </p:nvSpPr>
        <p:spPr>
          <a:xfrm>
            <a:off x="365760" y="3154680"/>
            <a:ext cx="2697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≈ 5 h/Woche (Team gesamt)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 txBox="1"/>
          <p:nvPr/>
        </p:nvSpPr>
        <p:spPr>
          <a:xfrm>
            <a:off x="457200" y="3365018"/>
            <a:ext cx="2514600" cy="978300"/>
          </a:xfrm>
          <a:prstGeom prst="rect">
            <a:avLst/>
          </a:prstGeom>
          <a:solidFill>
            <a:srgbClr val="F2F7FA"/>
          </a:solidFill>
          <a:ln cap="flat" cmpd="sng" w="9525">
            <a:solidFill>
              <a:srgbClr val="CBD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r>
              <a:rPr b="1" i="0" lang="en-US" sz="10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b="1" i="0" sz="1050" u="none" cap="none" strike="noStrike">
              <a:solidFill>
                <a:srgbClr val="6B7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Jose Ramoz, </a:t>
            </a:r>
            <a:r>
              <a:rPr b="1" lang="en-US" sz="1050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Konrad Bruder, Javier Moviglia, Sven Knops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t/>
            </a:r>
            <a:endParaRPr b="1" sz="1050">
              <a:solidFill>
                <a:srgbClr val="6B7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3276600" y="2816352"/>
            <a:ext cx="2697480" cy="16276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A5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3276600" y="2816352"/>
            <a:ext cx="2697480" cy="310896"/>
          </a:xfrm>
          <a:prstGeom prst="rect">
            <a:avLst/>
          </a:prstGeom>
          <a:solidFill>
            <a:srgbClr val="0A51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 txBox="1"/>
          <p:nvPr/>
        </p:nvSpPr>
        <p:spPr>
          <a:xfrm>
            <a:off x="3331464" y="2816352"/>
            <a:ext cx="25877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Energie-Beschaffung &amp; Nachhaltigkeit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 txBox="1"/>
          <p:nvPr/>
        </p:nvSpPr>
        <p:spPr>
          <a:xfrm>
            <a:off x="3276600" y="3154680"/>
            <a:ext cx="2697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≈ 2 h/Woche (Team gesamt)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6187440" y="2816352"/>
            <a:ext cx="2697480" cy="16276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A5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6187440" y="2816352"/>
            <a:ext cx="2697480" cy="310896"/>
          </a:xfrm>
          <a:prstGeom prst="rect">
            <a:avLst/>
          </a:prstGeom>
          <a:solidFill>
            <a:srgbClr val="0A51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"/>
          <p:cNvSpPr txBox="1"/>
          <p:nvPr/>
        </p:nvSpPr>
        <p:spPr>
          <a:xfrm>
            <a:off x="6242304" y="2816352"/>
            <a:ext cx="25877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Personal / </a:t>
            </a: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Safety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6187440" y="3154680"/>
            <a:ext cx="2697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≈ 4 h/Woche (Team gesamt)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 txBox="1"/>
          <p:nvPr/>
        </p:nvSpPr>
        <p:spPr>
          <a:xfrm>
            <a:off x="6278880" y="3364992"/>
            <a:ext cx="2514600" cy="301752"/>
          </a:xfrm>
          <a:prstGeom prst="rect">
            <a:avLst/>
          </a:prstGeom>
          <a:solidFill>
            <a:srgbClr val="F2F7FA"/>
          </a:solidFill>
          <a:ln cap="flat" cmpd="sng" w="9525">
            <a:solidFill>
              <a:srgbClr val="CBD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Leitung: Martin Kraus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 txBox="1"/>
          <p:nvPr/>
        </p:nvSpPr>
        <p:spPr>
          <a:xfrm>
            <a:off x="6278875" y="3717363"/>
            <a:ext cx="2514600" cy="626100"/>
          </a:xfrm>
          <a:prstGeom prst="rect">
            <a:avLst/>
          </a:prstGeom>
          <a:solidFill>
            <a:srgbClr val="F2F7FA"/>
          </a:solidFill>
          <a:ln cap="flat" cmpd="sng" w="9525">
            <a:solidFill>
              <a:srgbClr val="CBD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Team: Frank Weingärtner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365760" y="4572000"/>
            <a:ext cx="2697480" cy="16276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A5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"/>
          <p:cNvSpPr/>
          <p:nvPr/>
        </p:nvSpPr>
        <p:spPr>
          <a:xfrm>
            <a:off x="365760" y="4572000"/>
            <a:ext cx="2697480" cy="310896"/>
          </a:xfrm>
          <a:prstGeom prst="rect">
            <a:avLst/>
          </a:prstGeom>
          <a:solidFill>
            <a:srgbClr val="0A51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"/>
          <p:cNvSpPr txBox="1"/>
          <p:nvPr/>
        </p:nvSpPr>
        <p:spPr>
          <a:xfrm>
            <a:off x="420624" y="4572000"/>
            <a:ext cx="25877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Mitglieder</a:t>
            </a: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Belegung, Preismodelle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365760" y="4910328"/>
            <a:ext cx="2697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≈ </a:t>
            </a:r>
            <a:r>
              <a:rPr b="1" i="1" lang="en-US" sz="1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1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h/Woche (Team gesamt)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 txBox="1"/>
          <p:nvPr/>
        </p:nvSpPr>
        <p:spPr>
          <a:xfrm>
            <a:off x="457200" y="5120640"/>
            <a:ext cx="2514600" cy="301800"/>
          </a:xfrm>
          <a:prstGeom prst="rect">
            <a:avLst/>
          </a:prstGeom>
          <a:solidFill>
            <a:srgbClr val="F2F7FA"/>
          </a:solidFill>
          <a:ln cap="flat" cmpd="sng" w="9525">
            <a:solidFill>
              <a:srgbClr val="CBD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Leitung: Alex Rittlinger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 txBox="1"/>
          <p:nvPr/>
        </p:nvSpPr>
        <p:spPr>
          <a:xfrm>
            <a:off x="457200" y="5458984"/>
            <a:ext cx="2514600" cy="661500"/>
          </a:xfrm>
          <a:prstGeom prst="rect">
            <a:avLst/>
          </a:prstGeom>
          <a:solidFill>
            <a:srgbClr val="F2F7FA"/>
          </a:solidFill>
          <a:ln cap="flat" cmpd="sng" w="9525">
            <a:solidFill>
              <a:srgbClr val="CBD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r>
              <a:rPr b="1" i="0" lang="en-US" sz="10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.: Elisabeth </a:t>
            </a:r>
            <a:r>
              <a:rPr b="1" lang="en-US" sz="1050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Barar, Benjamin Gauter-Fleckenstein</a:t>
            </a:r>
            <a:endParaRPr b="1" sz="1050">
              <a:solidFill>
                <a:srgbClr val="6B7A8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t/>
            </a:r>
            <a:endParaRPr b="1" sz="1050">
              <a:solidFill>
                <a:srgbClr val="6B7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1"/>
          <p:cNvSpPr/>
          <p:nvPr/>
        </p:nvSpPr>
        <p:spPr>
          <a:xfrm>
            <a:off x="3276600" y="4572000"/>
            <a:ext cx="2697480" cy="16276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A5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"/>
          <p:cNvSpPr/>
          <p:nvPr/>
        </p:nvSpPr>
        <p:spPr>
          <a:xfrm>
            <a:off x="3276600" y="4572000"/>
            <a:ext cx="2697480" cy="310896"/>
          </a:xfrm>
          <a:prstGeom prst="rect">
            <a:avLst/>
          </a:prstGeom>
          <a:solidFill>
            <a:srgbClr val="0A51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"/>
          <p:cNvSpPr txBox="1"/>
          <p:nvPr/>
        </p:nvSpPr>
        <p:spPr>
          <a:xfrm>
            <a:off x="3331464" y="4572000"/>
            <a:ext cx="25877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Marketing &amp; Sponsoring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3276600" y="4910328"/>
            <a:ext cx="2697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≈ 3 h/Woche (Team gesamt)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3368050" y="5120672"/>
            <a:ext cx="2514600" cy="978300"/>
          </a:xfrm>
          <a:prstGeom prst="rect">
            <a:avLst/>
          </a:prstGeom>
          <a:solidFill>
            <a:srgbClr val="F2F7FA"/>
          </a:solidFill>
          <a:ln cap="flat" cmpd="sng" w="9525">
            <a:solidFill>
              <a:srgbClr val="CBD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r>
              <a:rPr b="1" i="0" lang="en-US" sz="10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: Elli Höltge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6187440" y="4572000"/>
            <a:ext cx="2697480" cy="1627632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A5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"/>
          <p:cNvSpPr/>
          <p:nvPr/>
        </p:nvSpPr>
        <p:spPr>
          <a:xfrm>
            <a:off x="6187440" y="4572000"/>
            <a:ext cx="2697480" cy="310896"/>
          </a:xfrm>
          <a:prstGeom prst="rect">
            <a:avLst/>
          </a:prstGeom>
          <a:solidFill>
            <a:srgbClr val="0A51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"/>
          <p:cNvSpPr txBox="1"/>
          <p:nvPr/>
        </p:nvSpPr>
        <p:spPr>
          <a:xfrm>
            <a:off x="6242304" y="4572000"/>
            <a:ext cx="25877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"/>
          <p:cNvSpPr txBox="1"/>
          <p:nvPr/>
        </p:nvSpPr>
        <p:spPr>
          <a:xfrm>
            <a:off x="6187440" y="4910328"/>
            <a:ext cx="26974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≈ 2 h/Woche (Team gesamt)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6278875" y="5120673"/>
            <a:ext cx="2514600" cy="978300"/>
          </a:xfrm>
          <a:prstGeom prst="rect">
            <a:avLst/>
          </a:prstGeom>
          <a:solidFill>
            <a:srgbClr val="F2F7FA"/>
          </a:solidFill>
          <a:ln cap="flat" cmpd="sng" w="9525">
            <a:solidFill>
              <a:srgbClr val="CBD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r>
              <a:rPr b="1" i="0" lang="en-US" sz="10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lang="en-US" sz="1050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Finn Renzenbrink (noch nicht klar was in einem Jahr) 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/>
          <p:nvPr/>
        </p:nvSpPr>
        <p:spPr>
          <a:xfrm>
            <a:off x="9098305" y="2816350"/>
            <a:ext cx="2697600" cy="16275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A5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"/>
          <p:cNvSpPr/>
          <p:nvPr/>
        </p:nvSpPr>
        <p:spPr>
          <a:xfrm>
            <a:off x="9098305" y="2816350"/>
            <a:ext cx="2697600" cy="310800"/>
          </a:xfrm>
          <a:prstGeom prst="rect">
            <a:avLst/>
          </a:prstGeom>
          <a:solidFill>
            <a:srgbClr val="0A51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"/>
          <p:cNvSpPr txBox="1"/>
          <p:nvPr/>
        </p:nvSpPr>
        <p:spPr>
          <a:xfrm>
            <a:off x="9153169" y="2816350"/>
            <a:ext cx="258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Unterstützung Schatzmeister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"/>
          <p:cNvSpPr txBox="1"/>
          <p:nvPr/>
        </p:nvSpPr>
        <p:spPr>
          <a:xfrm>
            <a:off x="9098305" y="3154678"/>
            <a:ext cx="269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≈  </a:t>
            </a:r>
            <a:r>
              <a:rPr b="1" i="1" lang="en-US" sz="1000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1" i="1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 h/Woche (Team gesamt)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"/>
          <p:cNvSpPr txBox="1"/>
          <p:nvPr/>
        </p:nvSpPr>
        <p:spPr>
          <a:xfrm>
            <a:off x="9189750" y="3365023"/>
            <a:ext cx="2514600" cy="999900"/>
          </a:xfrm>
          <a:prstGeom prst="rect">
            <a:avLst/>
          </a:prstGeom>
          <a:solidFill>
            <a:srgbClr val="F2F7FA"/>
          </a:solidFill>
          <a:ln cap="flat" cmpd="sng" w="9525">
            <a:solidFill>
              <a:srgbClr val="CBD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Team</a:t>
            </a:r>
            <a:r>
              <a:rPr b="1" i="0" lang="en-US" sz="10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: Christoph Schneider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"/>
          <p:cNvSpPr txBox="1"/>
          <p:nvPr/>
        </p:nvSpPr>
        <p:spPr>
          <a:xfrm>
            <a:off x="3368050" y="3360468"/>
            <a:ext cx="2514600" cy="978300"/>
          </a:xfrm>
          <a:prstGeom prst="rect">
            <a:avLst/>
          </a:prstGeom>
          <a:solidFill>
            <a:srgbClr val="F2F7FA"/>
          </a:solidFill>
          <a:ln cap="flat" cmpd="sng" w="9525">
            <a:solidFill>
              <a:srgbClr val="CBD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rPr lang="en-US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Team: 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t/>
            </a:r>
            <a:endParaRPr b="1" sz="1050">
              <a:solidFill>
                <a:srgbClr val="6B7A8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"/>
          <p:cNvSpPr/>
          <p:nvPr/>
        </p:nvSpPr>
        <p:spPr>
          <a:xfrm>
            <a:off x="9098305" y="4567931"/>
            <a:ext cx="2697600" cy="1627500"/>
          </a:xfrm>
          <a:prstGeom prst="rect">
            <a:avLst/>
          </a:prstGeom>
          <a:solidFill>
            <a:srgbClr val="FFFFFF"/>
          </a:solidFill>
          <a:ln cap="flat" cmpd="sng" w="15225">
            <a:solidFill>
              <a:srgbClr val="0A51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9098305" y="4567931"/>
            <a:ext cx="2697600" cy="310800"/>
          </a:xfrm>
          <a:prstGeom prst="rect">
            <a:avLst/>
          </a:prstGeom>
          <a:solidFill>
            <a:srgbClr val="0A51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"/>
          <p:cNvSpPr txBox="1"/>
          <p:nvPr/>
        </p:nvSpPr>
        <p:spPr>
          <a:xfrm>
            <a:off x="9189750" y="5116598"/>
            <a:ext cx="2514600" cy="999900"/>
          </a:xfrm>
          <a:prstGeom prst="rect">
            <a:avLst/>
          </a:prstGeom>
          <a:solidFill>
            <a:srgbClr val="F2F7FA"/>
          </a:solidFill>
          <a:ln cap="flat" cmpd="sng" w="9525">
            <a:solidFill>
              <a:srgbClr val="CBD8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A82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6B7A82"/>
                </a:solidFill>
                <a:latin typeface="Calibri"/>
                <a:ea typeface="Calibri"/>
                <a:cs typeface="Calibri"/>
                <a:sym typeface="Calibri"/>
              </a:rPr>
              <a:t>Christian Münch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9098305" y="4906259"/>
            <a:ext cx="269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1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≈ 2 h/Woche (Team gesamt)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"/>
          <p:cNvSpPr txBox="1"/>
          <p:nvPr/>
        </p:nvSpPr>
        <p:spPr>
          <a:xfrm>
            <a:off x="9153169" y="4567931"/>
            <a:ext cx="2587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Recht, Verträge &amp; Compliance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2026-09-29T14:49:31Z</dcterms:created>
  <dc:creator>PptxGenJS</dc:creator>
</cp:coreProperties>
</file>